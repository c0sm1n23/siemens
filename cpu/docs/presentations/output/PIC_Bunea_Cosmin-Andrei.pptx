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520f9bb243489f" /><Relationship Type="http://schemas.openxmlformats.org/officeDocument/2006/relationships/extended-properties" Target="/docProps/app.xml" Id="R93da899d06ae4d77" /><Relationship Type="http://schemas.openxmlformats.org/officeDocument/2006/relationships/officeDocument" Target="/ppt/presentation.xml" Id="R84302394bb894240" /></Relationships>
</file>

<file path=ppt/presentation.xml><?xml version="1.0" encoding="utf-8"?>
<p:presentation xmlns:p="http://schemas.openxmlformats.org/presentationml/2006/main">
  <p:sldMasterIdLst>
    <p:sldMasterId xmlns:r="http://schemas.openxmlformats.org/officeDocument/2006/relationships" id="2147483648" r:id="R00199a562e264d81"/>
  </p:sldMasterIdLst>
  <p:notesMasterIdLst>
    <p:notesMasterId xmlns:r="http://schemas.openxmlformats.org/officeDocument/2006/relationships" r:id="Rb756b72e3d494f8f"/>
  </p:notesMasterIdLst>
  <p:sldIdLst>
    <p:sldId xmlns:r="http://schemas.openxmlformats.org/officeDocument/2006/relationships" id="256" r:id="R8cc4b67e66dc497d"/>
    <p:sldId xmlns:r="http://schemas.openxmlformats.org/officeDocument/2006/relationships" id="257" r:id="Rd32fc8646d354205"/>
    <p:sldId xmlns:r="http://schemas.openxmlformats.org/officeDocument/2006/relationships" id="258" r:id="Rbb222943c1ec4cd9"/>
    <p:sldId xmlns:r="http://schemas.openxmlformats.org/officeDocument/2006/relationships" id="259" r:id="Ra9fa8637e8b842ec"/>
    <p:sldId xmlns:r="http://schemas.openxmlformats.org/officeDocument/2006/relationships" id="260" r:id="Rc6e5614d0aa54f27"/>
    <p:sldId xmlns:r="http://schemas.openxmlformats.org/officeDocument/2006/relationships" id="261" r:id="R50791612d98140a0"/>
    <p:sldId xmlns:r="http://schemas.openxmlformats.org/officeDocument/2006/relationships" id="262" r:id="R47a667478f4b464c"/>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00199a562e264d81" /><Relationship Type="http://schemas.openxmlformats.org/officeDocument/2006/relationships/theme" Target="/ppt/theme/theme1.xml" Id="Raa6c0c195087493f" /><Relationship Type="http://schemas.openxmlformats.org/officeDocument/2006/relationships/notesMaster" Target="/ppt/notesMasters/notesMaster1.xml" Id="Rb756b72e3d494f8f" /><Relationship Type="http://schemas.openxmlformats.org/officeDocument/2006/relationships/presProps" Target="/ppt/presProps.xml" Id="Rd628e9f014e44e1d" /><Relationship Type="http://schemas.openxmlformats.org/officeDocument/2006/relationships/viewProps" Target="/ppt/viewProps.xml" Id="Ra6eee465fa6b494e" /><Relationship Type="http://schemas.openxmlformats.org/officeDocument/2006/relationships/tableStyles" Target="/ppt/tableStyles.xml" Id="Re433765d77c241f1" /><Relationship Type="http://schemas.openxmlformats.org/officeDocument/2006/relationships/slide" Target="/ppt/slides/slide1.xml" Id="R8cc4b67e66dc497d" /><Relationship Type="http://schemas.openxmlformats.org/officeDocument/2006/relationships/slide" Target="/ppt/slides/slide2.xml" Id="Rd32fc8646d354205" /><Relationship Type="http://schemas.openxmlformats.org/officeDocument/2006/relationships/slide" Target="/ppt/slides/slide3.xml" Id="Rbb222943c1ec4cd9" /><Relationship Type="http://schemas.openxmlformats.org/officeDocument/2006/relationships/slide" Target="/ppt/slides/slide4.xml" Id="Ra9fa8637e8b842ec" /><Relationship Type="http://schemas.openxmlformats.org/officeDocument/2006/relationships/slide" Target="/ppt/slides/slide5.xml" Id="Rc6e5614d0aa54f27" /><Relationship Type="http://schemas.openxmlformats.org/officeDocument/2006/relationships/slide" Target="/ppt/slides/slide6.xml" Id="R50791612d98140a0" /><Relationship Type="http://schemas.openxmlformats.org/officeDocument/2006/relationships/slide" Target="/ppt/slides/slide7.xml" Id="R47a667478f4b46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dd9ffd32a354c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cb65e8431b419f" /><Relationship Type="http://schemas.openxmlformats.org/officeDocument/2006/relationships/notesMaster" Target="/ppt/notesMasters/notesMaster1.xml" Id="R929efcfc1b3e46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7f71e013544314" /><Relationship Type="http://schemas.openxmlformats.org/officeDocument/2006/relationships/notesMaster" Target="/ppt/notesMasters/notesMaster1.xml" Id="Reb342d2b74e74e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714ffeb05c48fc" /><Relationship Type="http://schemas.openxmlformats.org/officeDocument/2006/relationships/notesMaster" Target="/ppt/notesMasters/notesMaster1.xml" Id="R26d635a80c9340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70aceddc76487a" /><Relationship Type="http://schemas.openxmlformats.org/officeDocument/2006/relationships/notesMaster" Target="/ppt/notesMasters/notesMaster1.xml" Id="R4e0dcc5a108741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52a16ee9904194" /><Relationship Type="http://schemas.openxmlformats.org/officeDocument/2006/relationships/notesMaster" Target="/ppt/notesMasters/notesMaster1.xml" Id="R5b034a100a6546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982922064f41c1" /><Relationship Type="http://schemas.openxmlformats.org/officeDocument/2006/relationships/notesMaster" Target="/ppt/notesMasters/notesMaster1.xml" Id="R3fdb8763d50848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804de3303f4dcd" /><Relationship Type="http://schemas.openxmlformats.org/officeDocument/2006/relationships/notesMaster" Target="/ppt/notesMasters/notesMaster1.xml" Id="R3a28338870be47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 Introduce the project and my own contribution: defining the behaviour, writing the RTL, integrating it and verifying it. Total planned time: 10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The requirement goes well beyond a priority encoder: it asks for grouping, nesting, spurious events, deadlines and software injection. Stress that 16 hardware plus 16 software means two origins for each of the 16 arbitration slots. The number of bands, the exact policy and the context-saving mechanism all had to be defined. Arbitration is a combinational comparison followed by a registered offer.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 Follow the request from the top left: level/edge plus software, enable, eligibility and the priority key. The 10-bit key compares band urgency, intra-band priority and the inverted ID. The offer is registered. A claim uses the saved ID and pushes that ID plus the current key onto the stack; an EOI pops the inner context. Show the feedback paths: top key, active mask and depth limit. Reconfiguring an active source does not change the key already saved. The registers control the policy, and pending is separate from the selected offer. The blocks are functional groups inside pic.v; the AXI front-end is axi_lite_slave. The PIC module has no Verilog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Follow configuration, enabling, claim and EOI. SRCn_CONFIG fixes the behaviour of each source; BAND_CONFIG and ESCALATION_CFG set the shared policy. NEST_MAX limits the active services, and the status registers expose the context. A software trigger writes 0xA5A50001 with the strobes for the key bytes and the set bit. The handler removes the cause before the EOI. RW1C clears the logged events; a hardware event arriving in the same cycle is kept. Every address in the table is an offset inside the 256-byte window; n is 0 to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 Follow the independent reference into the stimulus and the checks. The Python model computes the winner for 24 orderings of the bands, together with masks and ties. The directed tests add the temporal part: claim, EOI, a coincident edge, the stack limit, deadlines and reset. AXI is checked separately; the PULP comparison covers the decoder and a register profile with 96 WSTRB / AW-W / backpressure combinations, plus error and reset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 Walk through the four markers. Claim 8 saves the first context; claim 9 adds the more urgent one and active stays 0x300. The first EOI closes source 9 and restores the context of source 8. The second EOI empties the stack. Seeing two IRQ pulses is not enough: depth and active show whether the state was preserved correctly. State changes on the rising edge; the testbench stimulus is driven 1 ns after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The result is a PIC with a configurable policy and verified preemption, not just an isolated priority resolver. I learned to define the tie case, the simultaneous events and the lifetime of an active context explicitly. The independent model gave me a reference for arbitration, and the directed tests checked the event sequences. This is my contribution, from requirements through RTL to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8fcef402644f32"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c4c826ad01c4cbb" /><Relationship Type="http://schemas.openxmlformats.org/officeDocument/2006/relationships/slideLayout" Target="/ppt/slideLayouts/slideLayout2.xml" Id="R25bf6eeb2df648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bf6eeb2df648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1bbc224fefda49a9" /><Relationship Type="http://schemas.openxmlformats.org/officeDocument/2006/relationships/notesSlide" Target="/ppt/notesSlides/notesSlide1.xml" Id="R75ce482ae66d46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7e87d9f17944c82" /><Relationship Type="http://schemas.openxmlformats.org/officeDocument/2006/relationships/notesSlide" Target="/ppt/notesSlides/notesSlide2.xml" Id="Rc012e12c5fc248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573151f995b4b6a" /><Relationship Type="http://schemas.openxmlformats.org/officeDocument/2006/relationships/image" Target="/ppt/media/image.png" Id="R6369e4fb93ad445a" /><Relationship Type="http://schemas.openxmlformats.org/officeDocument/2006/relationships/image" Target="/ppt/media/image.svg" Id="R31be7e70c93a4eec" /><Relationship Type="http://schemas.openxmlformats.org/officeDocument/2006/relationships/notesSlide" Target="/ppt/notesSlides/notesSlide3.xml" Id="R961c569b8bc443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cb5a74d74ec4140" /><Relationship Type="http://schemas.openxmlformats.org/officeDocument/2006/relationships/image" Target="/ppt/media/image2.png" Id="Rbfc31c5d9bb849e1" /><Relationship Type="http://schemas.openxmlformats.org/officeDocument/2006/relationships/image" Target="/ppt/media/image2.svg" Id="R23cfbdb480f3402c" /><Relationship Type="http://schemas.openxmlformats.org/officeDocument/2006/relationships/notesSlide" Target="/ppt/notesSlides/notesSlide4.xml" Id="R51379faba4784e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1c4993c0ca04a1d" /><Relationship Type="http://schemas.openxmlformats.org/officeDocument/2006/relationships/image" Target="/ppt/media/image3.png" Id="Rc807ed92e9404a96" /><Relationship Type="http://schemas.openxmlformats.org/officeDocument/2006/relationships/image" Target="/ppt/media/image3.svg" Id="Rbb94c115a521473f" /><Relationship Type="http://schemas.openxmlformats.org/officeDocument/2006/relationships/notesSlide" Target="/ppt/notesSlides/notesSlide5.xml" Id="R7e5aa5c462a447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535aefa66e847f2" /><Relationship Type="http://schemas.openxmlformats.org/officeDocument/2006/relationships/image" Target="/ppt/media/image4.png" Id="R0935a1c42ede4977" /><Relationship Type="http://schemas.openxmlformats.org/officeDocument/2006/relationships/image" Target="/ppt/media/image4.svg" Id="R5b1b5666a8894955" /><Relationship Type="http://schemas.openxmlformats.org/officeDocument/2006/relationships/notesSlide" Target="/ppt/notesSlides/notesSlide6.xml" Id="R3d24fc686b8c47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6b6dc9dcfc24ba7" /><Relationship Type="http://schemas.openxmlformats.org/officeDocument/2006/relationships/notesSlide" Target="/ppt/notesSlides/notesSlide7.xml" Id="Rb659635f53cc411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text">
            <a:extLst xmlns:a="http://schemas.openxmlformats.org/drawingml/2006/main">
              <a:ext uri="{FF2B5EF4-FFF2-40B4-BE49-F238E27FC236}">
                <a16:creationId xmlns:a16="http://schemas.microsoft.com/office/drawing/2014/main" id="{38098678-F287-45BD-A589-56ADA9729462}"/>
              </a:ext>
            </a:extLst>
          </p:cNvPr>
          <p:cNvSpPr>
            <a:spLocks xmlns:a="http://schemas.openxmlformats.org/drawingml/2006/main" noGrp="1"/>
          </p:cNvSpPr>
          <p:nvPr/>
        </p:nvSpPr>
        <p:spPr>
          <a:xfrm xmlns:a="http://schemas.openxmlformats.org/drawingml/2006/main">
            <a:off x="952500" y="904875"/>
            <a:ext cx="16383000" cy="4286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526772"/>
                </a:solidFill>
              </a:defRPr>
            </a:pPr>
            <a:r>
              <a:rPr sz="1950" b="0">
                <a:solidFill>
                  <a:srgbClr val="526772"/>
                </a:solidFill>
              </a:rPr>
              <a:t>INTERNSHIP · SIEMENS · 2026</a:t>
            </a:r>
          </a:p>
        </p:txBody>
      </p:sp>
      <p:sp>
        <p:nvSpPr>
          <p:cNvPr id="2" name="">
            <a:extLst xmlns:a="http://schemas.openxmlformats.org/drawingml/2006/main">
              <a:ext uri="{FF2B5EF4-FFF2-40B4-BE49-F238E27FC236}">
                <a16:creationId xmlns:a16="http://schemas.microsoft.com/office/drawing/2014/main" id="{CE39DA55-E85D-4243-A258-5C645C0CE87E}"/>
              </a:ext>
            </a:extLst>
          </p:cNvPr>
          <p:cNvSpPr>
            <a:spLocks xmlns:a="http://schemas.openxmlformats.org/drawingml/2006/main" noGrp="1"/>
          </p:cNvSpPr>
          <p:nvPr/>
        </p:nvSpPr>
        <p:spPr>
          <a:xfrm xmlns:a="http://schemas.openxmlformats.org/drawingml/2006/main">
            <a:off x="952500" y="1543050"/>
            <a:ext cx="2095500" cy="47625"/>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text">
            <a:extLst xmlns:a="http://schemas.openxmlformats.org/drawingml/2006/main">
              <a:ext uri="{FF2B5EF4-FFF2-40B4-BE49-F238E27FC236}">
                <a16:creationId xmlns:a16="http://schemas.microsoft.com/office/drawing/2014/main" id="{5163D8F9-8CF2-437F-AA14-A7BCD846B1A7}"/>
              </a:ext>
            </a:extLst>
          </p:cNvPr>
          <p:cNvSpPr>
            <a:spLocks xmlns:a="http://schemas.openxmlformats.org/drawingml/2006/main" noGrp="1"/>
          </p:cNvSpPr>
          <p:nvPr/>
        </p:nvSpPr>
        <p:spPr>
          <a:xfrm xmlns:a="http://schemas.openxmlformats.org/drawingml/2006/main">
            <a:off x="952500" y="1800225"/>
            <a:ext cx="163830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850" b="1">
                <a:solidFill>
                  <a:srgbClr val="173442"/>
                </a:solidFill>
              </a:defRPr>
            </a:pPr>
            <a:r>
              <a:rPr sz="5850" b="1">
                <a:solidFill>
                  <a:srgbClr val="173442"/>
                </a:solidFill>
              </a:rPr>
              <a:t>Interrupt Controller</a:t>
            </a:r>
          </a:p>
        </p:txBody>
      </p:sp>
      <p:sp>
        <p:nvSpPr>
          <p:cNvPr id="4" name="text">
            <a:extLst xmlns:a="http://schemas.openxmlformats.org/drawingml/2006/main">
              <a:ext uri="{FF2B5EF4-FFF2-40B4-BE49-F238E27FC236}">
                <a16:creationId xmlns:a16="http://schemas.microsoft.com/office/drawing/2014/main" id="{94564196-CBC6-4FF5-92C2-FB988D9CF174}"/>
              </a:ext>
            </a:extLst>
          </p:cNvPr>
          <p:cNvSpPr>
            <a:spLocks xmlns:a="http://schemas.openxmlformats.org/drawingml/2006/main" noGrp="1"/>
          </p:cNvSpPr>
          <p:nvPr/>
        </p:nvSpPr>
        <p:spPr>
          <a:xfrm xmlns:a="http://schemas.openxmlformats.org/drawingml/2006/main">
            <a:off x="952500" y="3105150"/>
            <a:ext cx="16383000" cy="857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0">
                <a:solidFill>
                  <a:srgbClr val="006B75"/>
                </a:solidFill>
              </a:defRPr>
            </a:pPr>
            <a:r>
              <a:rPr sz="3600" b="0">
                <a:solidFill>
                  <a:srgbClr val="006B75"/>
                </a:solidFill>
              </a:rPr>
              <a:t>Programmable priority and preemption</a:t>
            </a:r>
          </a:p>
        </p:txBody>
      </p:sp>
      <p:sp>
        <p:nvSpPr>
          <p:cNvPr id="5" name="text">
            <a:extLst xmlns:a="http://schemas.openxmlformats.org/drawingml/2006/main">
              <a:ext uri="{FF2B5EF4-FFF2-40B4-BE49-F238E27FC236}">
                <a16:creationId xmlns:a16="http://schemas.microsoft.com/office/drawing/2014/main" id="{97A23A3B-9086-4060-96CB-2722710D5838}"/>
              </a:ext>
            </a:extLst>
          </p:cNvPr>
          <p:cNvSpPr>
            <a:spLocks xmlns:a="http://schemas.openxmlformats.org/drawingml/2006/main" noGrp="1"/>
          </p:cNvSpPr>
          <p:nvPr/>
        </p:nvSpPr>
        <p:spPr>
          <a:xfrm xmlns:a="http://schemas.openxmlformats.org/drawingml/2006/main">
            <a:off x="952500" y="4619625"/>
            <a:ext cx="361950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006B75"/>
                </a:solidFill>
              </a:defRPr>
            </a:pPr>
            <a:r>
              <a:rPr sz="2550" b="1">
                <a:solidFill>
                  <a:srgbClr val="006B75"/>
                </a:solidFill>
              </a:rPr>
              <a:t>REQUESTS</a:t>
            </a:r>
          </a:p>
        </p:txBody>
      </p:sp>
      <p:sp>
        <p:nvSpPr>
          <p:cNvPr id="6" name="text">
            <a:extLst xmlns:a="http://schemas.openxmlformats.org/drawingml/2006/main">
              <a:ext uri="{FF2B5EF4-FFF2-40B4-BE49-F238E27FC236}">
                <a16:creationId xmlns:a16="http://schemas.microsoft.com/office/drawing/2014/main" id="{4B55242A-A2E7-43FC-BA01-D5E432839B86}"/>
              </a:ext>
            </a:extLst>
          </p:cNvPr>
          <p:cNvSpPr>
            <a:spLocks xmlns:a="http://schemas.openxmlformats.org/drawingml/2006/main" noGrp="1"/>
          </p:cNvSpPr>
          <p:nvPr/>
        </p:nvSpPr>
        <p:spPr>
          <a:xfrm xmlns:a="http://schemas.openxmlformats.org/drawingml/2006/main">
            <a:off x="4800600" y="4619625"/>
            <a:ext cx="66675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0">
                <a:solidFill>
                  <a:srgbClr val="526772"/>
                </a:solidFill>
              </a:defRPr>
            </a:pPr>
            <a:r>
              <a:rPr sz="3750" b="0">
                <a:solidFill>
                  <a:srgbClr val="526772"/>
                </a:solidFill>
              </a:rPr>
              <a:t>→</a:t>
            </a:r>
          </a:p>
        </p:txBody>
      </p:sp>
      <p:sp>
        <p:nvSpPr>
          <p:cNvPr id="7" name="text">
            <a:extLst xmlns:a="http://schemas.openxmlformats.org/drawingml/2006/main">
              <a:ext uri="{FF2B5EF4-FFF2-40B4-BE49-F238E27FC236}">
                <a16:creationId xmlns:a16="http://schemas.microsoft.com/office/drawing/2014/main" id="{19B70C3E-9AAA-4DEF-BFFE-7080B7E90C3C}"/>
              </a:ext>
            </a:extLst>
          </p:cNvPr>
          <p:cNvSpPr>
            <a:spLocks xmlns:a="http://schemas.openxmlformats.org/drawingml/2006/main" noGrp="1"/>
          </p:cNvSpPr>
          <p:nvPr/>
        </p:nvSpPr>
        <p:spPr>
          <a:xfrm xmlns:a="http://schemas.openxmlformats.org/drawingml/2006/main">
            <a:off x="5695950" y="4619625"/>
            <a:ext cx="523875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006B75"/>
                </a:solidFill>
              </a:defRPr>
            </a:pPr>
            <a:r>
              <a:rPr sz="2550" b="1">
                <a:solidFill>
                  <a:srgbClr val="006B75"/>
                </a:solidFill>
              </a:rPr>
              <a:t>ARBITRATION</a:t>
            </a:r>
          </a:p>
        </p:txBody>
      </p:sp>
      <p:sp>
        <p:nvSpPr>
          <p:cNvPr id="8" name="text">
            <a:extLst xmlns:a="http://schemas.openxmlformats.org/drawingml/2006/main">
              <a:ext uri="{FF2B5EF4-FFF2-40B4-BE49-F238E27FC236}">
                <a16:creationId xmlns:a16="http://schemas.microsoft.com/office/drawing/2014/main" id="{34DC1663-E759-4191-864D-7F5CED474B2F}"/>
              </a:ext>
            </a:extLst>
          </p:cNvPr>
          <p:cNvSpPr>
            <a:spLocks xmlns:a="http://schemas.openxmlformats.org/drawingml/2006/main" noGrp="1"/>
          </p:cNvSpPr>
          <p:nvPr/>
        </p:nvSpPr>
        <p:spPr>
          <a:xfrm xmlns:a="http://schemas.openxmlformats.org/drawingml/2006/main">
            <a:off x="11163300" y="4619625"/>
            <a:ext cx="66675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0">
                <a:solidFill>
                  <a:srgbClr val="526772"/>
                </a:solidFill>
              </a:defRPr>
            </a:pPr>
            <a:r>
              <a:rPr sz="3750" b="0">
                <a:solidFill>
                  <a:srgbClr val="526772"/>
                </a:solidFill>
              </a:rPr>
              <a:t>→</a:t>
            </a:r>
          </a:p>
        </p:txBody>
      </p:sp>
      <p:sp>
        <p:nvSpPr>
          <p:cNvPr id="9" name="text">
            <a:extLst xmlns:a="http://schemas.openxmlformats.org/drawingml/2006/main">
              <a:ext uri="{FF2B5EF4-FFF2-40B4-BE49-F238E27FC236}">
                <a16:creationId xmlns:a16="http://schemas.microsoft.com/office/drawing/2014/main" id="{9B7F134E-AB76-4EBC-AD4D-7A40309C0875}"/>
              </a:ext>
            </a:extLst>
          </p:cNvPr>
          <p:cNvSpPr>
            <a:spLocks xmlns:a="http://schemas.openxmlformats.org/drawingml/2006/main" noGrp="1"/>
          </p:cNvSpPr>
          <p:nvPr/>
        </p:nvSpPr>
        <p:spPr>
          <a:xfrm xmlns:a="http://schemas.openxmlformats.org/drawingml/2006/main">
            <a:off x="12058650" y="4619625"/>
            <a:ext cx="361950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006B75"/>
                </a:solidFill>
              </a:defRPr>
            </a:pPr>
            <a:r>
              <a:rPr sz="2550" b="1">
                <a:solidFill>
                  <a:srgbClr val="006B75"/>
                </a:solidFill>
              </a:rPr>
              <a:t>SERVICE</a:t>
            </a:r>
          </a:p>
        </p:txBody>
      </p:sp>
      <p:sp>
        <p:nvSpPr>
          <p:cNvPr id="10" name="text">
            <a:extLst xmlns:a="http://schemas.openxmlformats.org/drawingml/2006/main">
              <a:ext uri="{FF2B5EF4-FFF2-40B4-BE49-F238E27FC236}">
                <a16:creationId xmlns:a16="http://schemas.microsoft.com/office/drawing/2014/main" id="{81556C51-3053-4953-8428-EEDDEAFF0872}"/>
              </a:ext>
            </a:extLst>
          </p:cNvPr>
          <p:cNvSpPr>
            <a:spLocks xmlns:a="http://schemas.openxmlformats.org/drawingml/2006/main" noGrp="1"/>
          </p:cNvSpPr>
          <p:nvPr/>
        </p:nvSpPr>
        <p:spPr>
          <a:xfrm xmlns:a="http://schemas.openxmlformats.org/drawingml/2006/main">
            <a:off x="952500" y="6372225"/>
            <a:ext cx="16383000" cy="1714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Bunea Cosmin-Andrei</a:t>
            </a:r>
          </a:p>
          <a:p xmlns:a="http://schemas.openxmlformats.org/drawingml/2006/main">
            <a:pPr>
              <a:defRPr sz="2550" b="0">
                <a:solidFill>
                  <a:srgbClr val="173442"/>
                </a:solidFill>
              </a:defRPr>
            </a:pPr>
            <a:r>
              <a:rPr sz="2550" b="0">
                <a:solidFill>
                  <a:srgbClr val="173442"/>
                </a:solidFill>
              </a:rPr>
              <a:t>Computer Engineering · year III · academic year 2025–2026</a:t>
            </a:r>
          </a:p>
          <a:p xmlns:a="http://schemas.openxmlformats.org/drawingml/2006/main">
            <a:pPr>
              <a:defRPr sz="2550" b="0">
                <a:solidFill>
                  <a:srgbClr val="173442"/>
                </a:solidFill>
              </a:defRPr>
            </a:pPr>
            <a:r>
              <a:rPr sz="2550" b="0">
                <a:solidFill>
                  <a:srgbClr val="173442"/>
                </a:solidFill>
              </a:rPr>
              <a:t>Transilvania University of Brașov</a:t>
            </a:r>
          </a:p>
        </p:txBody>
      </p:sp>
      <p:sp>
        <p:nvSpPr>
          <p:cNvPr id="11" name="text">
            <a:extLst xmlns:a="http://schemas.openxmlformats.org/drawingml/2006/main">
              <a:ext uri="{FF2B5EF4-FFF2-40B4-BE49-F238E27FC236}">
                <a16:creationId xmlns:a16="http://schemas.microsoft.com/office/drawing/2014/main" id="{75DA5FBA-F97B-40EF-9AB0-6651895AB419}"/>
              </a:ext>
            </a:extLst>
          </p:cNvPr>
          <p:cNvSpPr>
            <a:spLocks xmlns:a="http://schemas.openxmlformats.org/drawingml/2006/main" noGrp="1"/>
          </p:cNvSpPr>
          <p:nvPr/>
        </p:nvSpPr>
        <p:spPr>
          <a:xfrm xmlns:a="http://schemas.openxmlformats.org/drawingml/2006/main">
            <a:off x="952500" y="8296275"/>
            <a:ext cx="1638300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526772"/>
                </a:solidFill>
              </a:defRPr>
            </a:pPr>
            <a:r>
              <a:rPr sz="2100" b="0">
                <a:solidFill>
                  <a:srgbClr val="526772"/>
                </a:solidFill>
              </a:rPr>
              <a:t>RTL implementation · interfaces · verification</a:t>
            </a:r>
          </a:p>
        </p:txBody>
      </p:sp>
    </p:spTree>
    <p:extLst>
      <p:ext uri="{BB962C8B-B14F-4D97-AF65-F5344CB8AC3E}">
        <p14:creationId xmlns:p14="http://schemas.microsoft.com/office/powerpoint/2010/main" val="14803076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9805A624-5F23-4229-A87E-4667A4EDC1C1}"/>
              </a:ext>
            </a:extLst>
          </p:cNvPr>
          <p:cNvSpPr>
            <a:spLocks xmlns:a="http://schemas.openxmlformats.org/drawingml/2006/main" noGrp="1"/>
          </p:cNvSpPr>
          <p:nvPr/>
        </p:nvSpPr>
        <p:spPr>
          <a:xfrm xmlns:a="http://schemas.openxmlformats.org/drawingml/2006/main">
            <a:off x="571500" y="342900"/>
            <a:ext cx="171450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73442"/>
                </a:solidFill>
              </a:defRPr>
            </a:pPr>
            <a:r>
              <a:rPr sz="3900" b="1">
                <a:solidFill>
                  <a:srgbClr val="173442"/>
                </a:solidFill>
              </a:rPr>
              <a:t>The task: a PIC with priority bands, nesting and deadlines</a:t>
            </a:r>
          </a:p>
        </p:txBody>
      </p:sp>
      <p:sp>
        <p:nvSpPr>
          <p:cNvPr id="2" name="">
            <a:extLst xmlns:a="http://schemas.openxmlformats.org/drawingml/2006/main">
              <a:ext uri="{FF2B5EF4-FFF2-40B4-BE49-F238E27FC236}">
                <a16:creationId xmlns:a16="http://schemas.microsoft.com/office/drawing/2014/main" id="{5C69B6E5-7D17-48EE-8816-F83F5F547E29}"/>
              </a:ext>
            </a:extLst>
          </p:cNvPr>
          <p:cNvSpPr>
            <a:spLocks xmlns:a="http://schemas.openxmlformats.org/drawingml/2006/main" noGrp="1"/>
          </p:cNvSpPr>
          <p:nvPr/>
        </p:nvSpPr>
        <p:spPr>
          <a:xfrm xmlns:a="http://schemas.openxmlformats.org/drawingml/2006/main">
            <a:off x="571500" y="125730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text">
            <a:extLst xmlns:a="http://schemas.openxmlformats.org/drawingml/2006/main">
              <a:ext uri="{FF2B5EF4-FFF2-40B4-BE49-F238E27FC236}">
                <a16:creationId xmlns:a16="http://schemas.microsoft.com/office/drawing/2014/main" id="{5DE1B278-7BB3-415B-A9B4-041FF83B103C}"/>
              </a:ext>
            </a:extLst>
          </p:cNvPr>
          <p:cNvSpPr>
            <a:spLocks xmlns:a="http://schemas.openxmlformats.org/drawingml/2006/main" noGrp="1"/>
          </p:cNvSpPr>
          <p:nvPr/>
        </p:nvSpPr>
        <p:spPr>
          <a:xfrm xmlns:a="http://schemas.openxmlformats.org/drawingml/2006/main">
            <a:off x="571500" y="1428750"/>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01</a:t>
            </a:r>
          </a:p>
        </p:txBody>
      </p:sp>
      <p:sp>
        <p:nvSpPr>
          <p:cNvPr id="4" name="text">
            <a:extLst xmlns:a="http://schemas.openxmlformats.org/drawingml/2006/main">
              <a:ext uri="{FF2B5EF4-FFF2-40B4-BE49-F238E27FC236}">
                <a16:creationId xmlns:a16="http://schemas.microsoft.com/office/drawing/2014/main" id="{B0084CEE-8FD0-4539-AAD1-4ED147428417}"/>
              </a:ext>
            </a:extLst>
          </p:cNvPr>
          <p:cNvSpPr>
            <a:spLocks xmlns:a="http://schemas.openxmlformats.org/drawingml/2006/main" noGrp="1"/>
          </p:cNvSpPr>
          <p:nvPr/>
        </p:nvSpPr>
        <p:spPr>
          <a:xfrm xmlns:a="http://schemas.openxmlformats.org/drawingml/2006/main">
            <a:off x="1419225" y="1428750"/>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16 hardware sources + 16 software triggers</a:t>
            </a:r>
          </a:p>
        </p:txBody>
      </p:sp>
      <p:sp>
        <p:nvSpPr>
          <p:cNvPr id="5" name="text">
            <a:extLst xmlns:a="http://schemas.openxmlformats.org/drawingml/2006/main">
              <a:ext uri="{FF2B5EF4-FFF2-40B4-BE49-F238E27FC236}">
                <a16:creationId xmlns:a16="http://schemas.microsoft.com/office/drawing/2014/main" id="{98440826-69B3-4EEE-A781-416048F62667}"/>
              </a:ext>
            </a:extLst>
          </p:cNvPr>
          <p:cNvSpPr>
            <a:spLocks xmlns:a="http://schemas.openxmlformats.org/drawingml/2006/main" noGrp="1"/>
          </p:cNvSpPr>
          <p:nvPr/>
        </p:nvSpPr>
        <p:spPr>
          <a:xfrm xmlns:a="http://schemas.openxmlformats.org/drawingml/2006/main">
            <a:off x="571500" y="2657475"/>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02</a:t>
            </a:r>
          </a:p>
        </p:txBody>
      </p:sp>
      <p:sp>
        <p:nvSpPr>
          <p:cNvPr id="6" name="text">
            <a:extLst xmlns:a="http://schemas.openxmlformats.org/drawingml/2006/main">
              <a:ext uri="{FF2B5EF4-FFF2-40B4-BE49-F238E27FC236}">
                <a16:creationId xmlns:a16="http://schemas.microsoft.com/office/drawing/2014/main" id="{06D8CDD5-DC2B-48E8-993F-5F180303CE59}"/>
              </a:ext>
            </a:extLst>
          </p:cNvPr>
          <p:cNvSpPr>
            <a:spLocks xmlns:a="http://schemas.openxmlformats.org/drawingml/2006/main" noGrp="1"/>
          </p:cNvSpPr>
          <p:nvPr/>
        </p:nvSpPr>
        <p:spPr>
          <a:xfrm xmlns:a="http://schemas.openxmlformats.org/drawingml/2006/main">
            <a:off x="1419225" y="2657475"/>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Level / edge selection for every source</a:t>
            </a:r>
          </a:p>
        </p:txBody>
      </p:sp>
      <p:sp>
        <p:nvSpPr>
          <p:cNvPr id="7" name="text">
            <a:extLst xmlns:a="http://schemas.openxmlformats.org/drawingml/2006/main">
              <a:ext uri="{FF2B5EF4-FFF2-40B4-BE49-F238E27FC236}">
                <a16:creationId xmlns:a16="http://schemas.microsoft.com/office/drawing/2014/main" id="{6F0ED6F1-1EEF-433E-9F98-DF1B01704E09}"/>
              </a:ext>
            </a:extLst>
          </p:cNvPr>
          <p:cNvSpPr>
            <a:spLocks xmlns:a="http://schemas.openxmlformats.org/drawingml/2006/main" noGrp="1"/>
          </p:cNvSpPr>
          <p:nvPr/>
        </p:nvSpPr>
        <p:spPr>
          <a:xfrm xmlns:a="http://schemas.openxmlformats.org/drawingml/2006/main">
            <a:off x="571500" y="3886200"/>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03</a:t>
            </a:r>
          </a:p>
        </p:txBody>
      </p:sp>
      <p:sp>
        <p:nvSpPr>
          <p:cNvPr id="8" name="text">
            <a:extLst xmlns:a="http://schemas.openxmlformats.org/drawingml/2006/main">
              <a:ext uri="{FF2B5EF4-FFF2-40B4-BE49-F238E27FC236}">
                <a16:creationId xmlns:a16="http://schemas.microsoft.com/office/drawing/2014/main" id="{47FEB039-CCD0-46A2-9756-5EB13548CD8D}"/>
              </a:ext>
            </a:extLst>
          </p:cNvPr>
          <p:cNvSpPr>
            <a:spLocks xmlns:a="http://schemas.openxmlformats.org/drawingml/2006/main" noGrp="1"/>
          </p:cNvSpPr>
          <p:nvPr/>
        </p:nvSpPr>
        <p:spPr>
          <a:xfrm xmlns:a="http://schemas.openxmlformats.org/drawingml/2006/main">
            <a:off x="1419225" y="3886200"/>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Priority bands and intra-band arbitration</a:t>
            </a:r>
          </a:p>
        </p:txBody>
      </p:sp>
      <p:sp>
        <p:nvSpPr>
          <p:cNvPr id="9" name="text">
            <a:extLst xmlns:a="http://schemas.openxmlformats.org/drawingml/2006/main">
              <a:ext uri="{FF2B5EF4-FFF2-40B4-BE49-F238E27FC236}">
                <a16:creationId xmlns:a16="http://schemas.microsoft.com/office/drawing/2014/main" id="{A830E088-8CC3-42AC-AE9A-10F6BF61E228}"/>
              </a:ext>
            </a:extLst>
          </p:cNvPr>
          <p:cNvSpPr>
            <a:spLocks xmlns:a="http://schemas.openxmlformats.org/drawingml/2006/main" noGrp="1"/>
          </p:cNvSpPr>
          <p:nvPr/>
        </p:nvSpPr>
        <p:spPr>
          <a:xfrm xmlns:a="http://schemas.openxmlformats.org/drawingml/2006/main">
            <a:off x="571500" y="5114925"/>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04</a:t>
            </a:r>
          </a:p>
        </p:txBody>
      </p:sp>
      <p:sp>
        <p:nvSpPr>
          <p:cNvPr id="10" name="text">
            <a:extLst xmlns:a="http://schemas.openxmlformats.org/drawingml/2006/main">
              <a:ext uri="{FF2B5EF4-FFF2-40B4-BE49-F238E27FC236}">
                <a16:creationId xmlns:a16="http://schemas.microsoft.com/office/drawing/2014/main" id="{D9510F6F-9F31-4AE0-8440-DC9278FC858E}"/>
              </a:ext>
            </a:extLst>
          </p:cNvPr>
          <p:cNvSpPr>
            <a:spLocks xmlns:a="http://schemas.openxmlformats.org/drawingml/2006/main" noGrp="1"/>
          </p:cNvSpPr>
          <p:nvPr/>
        </p:nvSpPr>
        <p:spPr>
          <a:xfrm xmlns:a="http://schemas.openxmlformats.org/drawingml/2006/main">
            <a:off x="1419225" y="5114925"/>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Preemption that preserves the active contexts</a:t>
            </a:r>
          </a:p>
        </p:txBody>
      </p:sp>
      <p:sp>
        <p:nvSpPr>
          <p:cNvPr id="11" name="text">
            <a:extLst xmlns:a="http://schemas.openxmlformats.org/drawingml/2006/main">
              <a:ext uri="{FF2B5EF4-FFF2-40B4-BE49-F238E27FC236}">
                <a16:creationId xmlns:a16="http://schemas.microsoft.com/office/drawing/2014/main" id="{DB6DACCD-32B6-4E7F-B1B8-087B37CA4FEA}"/>
              </a:ext>
            </a:extLst>
          </p:cNvPr>
          <p:cNvSpPr>
            <a:spLocks xmlns:a="http://schemas.openxmlformats.org/drawingml/2006/main" noGrp="1"/>
          </p:cNvSpPr>
          <p:nvPr/>
        </p:nvSpPr>
        <p:spPr>
          <a:xfrm xmlns:a="http://schemas.openxmlformats.org/drawingml/2006/main">
            <a:off x="571500" y="6343650"/>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05</a:t>
            </a:r>
          </a:p>
        </p:txBody>
      </p:sp>
      <p:sp>
        <p:nvSpPr>
          <p:cNvPr id="12" name="text">
            <a:extLst xmlns:a="http://schemas.openxmlformats.org/drawingml/2006/main">
              <a:ext uri="{FF2B5EF4-FFF2-40B4-BE49-F238E27FC236}">
                <a16:creationId xmlns:a16="http://schemas.microsoft.com/office/drawing/2014/main" id="{06B04A57-1CB7-4E05-B0DF-97374B64EB3B}"/>
              </a:ext>
            </a:extLst>
          </p:cNvPr>
          <p:cNvSpPr>
            <a:spLocks xmlns:a="http://schemas.openxmlformats.org/drawingml/2006/main" noGrp="1"/>
          </p:cNvSpPr>
          <p:nvPr/>
        </p:nvSpPr>
        <p:spPr>
          <a:xfrm xmlns:a="http://schemas.openxmlformats.org/drawingml/2006/main">
            <a:off x="1419225" y="6343650"/>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Programmable limit for the nesting depth</a:t>
            </a:r>
          </a:p>
        </p:txBody>
      </p:sp>
      <p:sp>
        <p:nvSpPr>
          <p:cNvPr id="13" name="text">
            <a:extLst xmlns:a="http://schemas.openxmlformats.org/drawingml/2006/main">
              <a:ext uri="{FF2B5EF4-FFF2-40B4-BE49-F238E27FC236}">
                <a16:creationId xmlns:a16="http://schemas.microsoft.com/office/drawing/2014/main" id="{B28C8B7A-6455-434A-9DDA-30297ACE01BF}"/>
              </a:ext>
            </a:extLst>
          </p:cNvPr>
          <p:cNvSpPr>
            <a:spLocks xmlns:a="http://schemas.openxmlformats.org/drawingml/2006/main" noGrp="1"/>
          </p:cNvSpPr>
          <p:nvPr/>
        </p:nvSpPr>
        <p:spPr>
          <a:xfrm xmlns:a="http://schemas.openxmlformats.org/drawingml/2006/main">
            <a:off x="9477375" y="1428750"/>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06</a:t>
            </a:r>
          </a:p>
        </p:txBody>
      </p:sp>
      <p:sp>
        <p:nvSpPr>
          <p:cNvPr id="14" name="text">
            <a:extLst xmlns:a="http://schemas.openxmlformats.org/drawingml/2006/main">
              <a:ext uri="{FF2B5EF4-FFF2-40B4-BE49-F238E27FC236}">
                <a16:creationId xmlns:a16="http://schemas.microsoft.com/office/drawing/2014/main" id="{EAC5AE82-4FFB-4E98-B14D-E257E9B2CCC8}"/>
              </a:ext>
            </a:extLst>
          </p:cNvPr>
          <p:cNvSpPr>
            <a:spLocks xmlns:a="http://schemas.openxmlformats.org/drawingml/2006/main" noGrp="1"/>
          </p:cNvSpPr>
          <p:nvPr/>
        </p:nvSpPr>
        <p:spPr>
          <a:xfrm xmlns:a="http://schemas.openxmlformats.org/drawingml/2006/main">
            <a:off x="10325100" y="1428750"/>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Detection and reporting of spurious requests</a:t>
            </a:r>
          </a:p>
        </p:txBody>
      </p:sp>
      <p:sp>
        <p:nvSpPr>
          <p:cNvPr id="15" name="text">
            <a:extLst xmlns:a="http://schemas.openxmlformats.org/drawingml/2006/main">
              <a:ext uri="{FF2B5EF4-FFF2-40B4-BE49-F238E27FC236}">
                <a16:creationId xmlns:a16="http://schemas.microsoft.com/office/drawing/2014/main" id="{F58E9C6C-00A8-4441-9564-5D54F8AF083F}"/>
              </a:ext>
            </a:extLst>
          </p:cNvPr>
          <p:cNvSpPr>
            <a:spLocks xmlns:a="http://schemas.openxmlformats.org/drawingml/2006/main" noGrp="1"/>
          </p:cNvSpPr>
          <p:nvPr/>
        </p:nvSpPr>
        <p:spPr>
          <a:xfrm xmlns:a="http://schemas.openxmlformats.org/drawingml/2006/main">
            <a:off x="9477375" y="2657475"/>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07</a:t>
            </a:r>
          </a:p>
        </p:txBody>
      </p:sp>
      <p:sp>
        <p:nvSpPr>
          <p:cNvPr id="16" name="text">
            <a:extLst xmlns:a="http://schemas.openxmlformats.org/drawingml/2006/main">
              <a:ext uri="{FF2B5EF4-FFF2-40B4-BE49-F238E27FC236}">
                <a16:creationId xmlns:a16="http://schemas.microsoft.com/office/drawing/2014/main" id="{1138518D-C96D-4DD3-9FFC-FC5E66495BD3}"/>
              </a:ext>
            </a:extLst>
          </p:cNvPr>
          <p:cNvSpPr>
            <a:spLocks xmlns:a="http://schemas.openxmlformats.org/drawingml/2006/main" noGrp="1"/>
          </p:cNvSpPr>
          <p:nvPr/>
        </p:nvSpPr>
        <p:spPr>
          <a:xfrm xmlns:a="http://schemas.openxmlformats.org/drawingml/2006/main">
            <a:off x="10325100" y="2657475"/>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Per-source deadline and automatic escalation</a:t>
            </a:r>
          </a:p>
        </p:txBody>
      </p:sp>
      <p:sp>
        <p:nvSpPr>
          <p:cNvPr id="17" name="text">
            <a:extLst xmlns:a="http://schemas.openxmlformats.org/drawingml/2006/main">
              <a:ext uri="{FF2B5EF4-FFF2-40B4-BE49-F238E27FC236}">
                <a16:creationId xmlns:a16="http://schemas.microsoft.com/office/drawing/2014/main" id="{BFBC9175-A608-49A8-A02C-E96B9F803E09}"/>
              </a:ext>
            </a:extLst>
          </p:cNvPr>
          <p:cNvSpPr>
            <a:spLocks xmlns:a="http://schemas.openxmlformats.org/drawingml/2006/main" noGrp="1"/>
          </p:cNvSpPr>
          <p:nvPr/>
        </p:nvSpPr>
        <p:spPr>
          <a:xfrm xmlns:a="http://schemas.openxmlformats.org/drawingml/2006/main">
            <a:off x="9477375" y="3886200"/>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08</a:t>
            </a:r>
          </a:p>
        </p:txBody>
      </p:sp>
      <p:sp>
        <p:nvSpPr>
          <p:cNvPr id="18" name="text">
            <a:extLst xmlns:a="http://schemas.openxmlformats.org/drawingml/2006/main">
              <a:ext uri="{FF2B5EF4-FFF2-40B4-BE49-F238E27FC236}">
                <a16:creationId xmlns:a16="http://schemas.microsoft.com/office/drawing/2014/main" id="{55EB9308-D4B1-4C69-B2D2-036BA6BD856B}"/>
              </a:ext>
            </a:extLst>
          </p:cNvPr>
          <p:cNvSpPr>
            <a:spLocks xmlns:a="http://schemas.openxmlformats.org/drawingml/2006/main" noGrp="1"/>
          </p:cNvSpPr>
          <p:nvPr/>
        </p:nvSpPr>
        <p:spPr>
          <a:xfrm xmlns:a="http://schemas.openxmlformats.org/drawingml/2006/main">
            <a:off x="10325100" y="3886200"/>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Protected software trigger and a defined clear rule</a:t>
            </a:r>
          </a:p>
        </p:txBody>
      </p:sp>
      <p:sp>
        <p:nvSpPr>
          <p:cNvPr id="19" name="text">
            <a:extLst xmlns:a="http://schemas.openxmlformats.org/drawingml/2006/main">
              <a:ext uri="{FF2B5EF4-FFF2-40B4-BE49-F238E27FC236}">
                <a16:creationId xmlns:a16="http://schemas.microsoft.com/office/drawing/2014/main" id="{DA667FE4-A1D0-4F8E-9F09-6D5BF7BD7B2C}"/>
              </a:ext>
            </a:extLst>
          </p:cNvPr>
          <p:cNvSpPr>
            <a:spLocks xmlns:a="http://schemas.openxmlformats.org/drawingml/2006/main" noGrp="1"/>
          </p:cNvSpPr>
          <p:nvPr/>
        </p:nvSpPr>
        <p:spPr>
          <a:xfrm xmlns:a="http://schemas.openxmlformats.org/drawingml/2006/main">
            <a:off x="9477375" y="5114925"/>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09</a:t>
            </a:r>
          </a:p>
        </p:txBody>
      </p:sp>
      <p:sp>
        <p:nvSpPr>
          <p:cNvPr id="20" name="text">
            <a:extLst xmlns:a="http://schemas.openxmlformats.org/drawingml/2006/main">
              <a:ext uri="{FF2B5EF4-FFF2-40B4-BE49-F238E27FC236}">
                <a16:creationId xmlns:a16="http://schemas.microsoft.com/office/drawing/2014/main" id="{ADD85CF7-11D6-4EA1-9232-9690773BE382}"/>
              </a:ext>
            </a:extLst>
          </p:cNvPr>
          <p:cNvSpPr>
            <a:spLocks xmlns:a="http://schemas.openxmlformats.org/drawingml/2006/main" noGrp="1"/>
          </p:cNvSpPr>
          <p:nvPr/>
        </p:nvSpPr>
        <p:spPr>
          <a:xfrm xmlns:a="http://schemas.openxmlformats.org/drawingml/2006/main">
            <a:off x="10325100" y="5114925"/>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AXI4-Lite: configuration and status registers</a:t>
            </a:r>
          </a:p>
        </p:txBody>
      </p:sp>
      <p:sp>
        <p:nvSpPr>
          <p:cNvPr id="21" name="text">
            <a:extLst xmlns:a="http://schemas.openxmlformats.org/drawingml/2006/main">
              <a:ext uri="{FF2B5EF4-FFF2-40B4-BE49-F238E27FC236}">
                <a16:creationId xmlns:a16="http://schemas.microsoft.com/office/drawing/2014/main" id="{590E9D2A-2AA2-4A74-9C0A-68AD51F475B5}"/>
              </a:ext>
            </a:extLst>
          </p:cNvPr>
          <p:cNvSpPr>
            <a:spLocks xmlns:a="http://schemas.openxmlformats.org/drawingml/2006/main" noGrp="1"/>
          </p:cNvSpPr>
          <p:nvPr/>
        </p:nvSpPr>
        <p:spPr>
          <a:xfrm xmlns:a="http://schemas.openxmlformats.org/drawingml/2006/main">
            <a:off x="9477375" y="6343650"/>
            <a:ext cx="619125"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10</a:t>
            </a:r>
          </a:p>
        </p:txBody>
      </p:sp>
      <p:sp>
        <p:nvSpPr>
          <p:cNvPr id="22" name="text">
            <a:extLst xmlns:a="http://schemas.openxmlformats.org/drawingml/2006/main">
              <a:ext uri="{FF2B5EF4-FFF2-40B4-BE49-F238E27FC236}">
                <a16:creationId xmlns:a16="http://schemas.microsoft.com/office/drawing/2014/main" id="{201390C5-5C61-445E-916F-E063DCE8AEE5}"/>
              </a:ext>
            </a:extLst>
          </p:cNvPr>
          <p:cNvSpPr>
            <a:spLocks xmlns:a="http://schemas.openxmlformats.org/drawingml/2006/main" noGrp="1"/>
          </p:cNvSpPr>
          <p:nvPr/>
        </p:nvSpPr>
        <p:spPr>
          <a:xfrm xmlns:a="http://schemas.openxmlformats.org/drawingml/2006/main">
            <a:off x="10325100" y="6343650"/>
            <a:ext cx="7286625" cy="1000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SW interrupts identical to HW once they enter arbitration</a:t>
            </a:r>
          </a:p>
        </p:txBody>
      </p:sp>
      <p:sp>
        <p:nvSpPr>
          <p:cNvPr id="23" name="text">
            <a:extLst xmlns:a="http://schemas.openxmlformats.org/drawingml/2006/main">
              <a:ext uri="{FF2B5EF4-FFF2-40B4-BE49-F238E27FC236}">
                <a16:creationId xmlns:a16="http://schemas.microsoft.com/office/drawing/2014/main" id="{A6873B12-2BAC-4B04-A011-06C79D6DD8BB}"/>
              </a:ext>
            </a:extLst>
          </p:cNvPr>
          <p:cNvSpPr>
            <a:spLocks xmlns:a="http://schemas.openxmlformats.org/drawingml/2006/main" noGrp="1"/>
          </p:cNvSpPr>
          <p:nvPr/>
        </p:nvSpPr>
        <p:spPr>
          <a:xfrm xmlns:a="http://schemas.openxmlformats.org/drawingml/2006/main">
            <a:off x="571500" y="8096250"/>
            <a:ext cx="17145000"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526772"/>
                </a:solidFill>
              </a:defRPr>
            </a:pPr>
            <a:r>
              <a:rPr sz="2025" b="0">
                <a:solidFill>
                  <a:srgbClr val="526772"/>
                </a:solidFill>
              </a:rPr>
              <a:t>The 32 HW/SW inputs merge into 16 source identities.</a:t>
            </a:r>
          </a:p>
        </p:txBody>
      </p:sp>
      <p:sp>
        <p:nvSpPr>
          <p:cNvPr id="24" name="footer">
            <a:extLst xmlns:a="http://schemas.openxmlformats.org/drawingml/2006/main">
              <a:ext uri="{FF2B5EF4-FFF2-40B4-BE49-F238E27FC236}">
                <a16:creationId xmlns:a16="http://schemas.microsoft.com/office/drawing/2014/main" id="{B466C9A1-A466-4E38-8770-592C2EDC130D}"/>
              </a:ext>
            </a:extLst>
          </p:cNvPr>
          <p:cNvSpPr>
            <a:spLocks xmlns:a="http://schemas.openxmlformats.org/drawingml/2006/main" noGrp="1"/>
          </p:cNvSpPr>
          <p:nvPr/>
        </p:nvSpPr>
        <p:spPr>
          <a:xfrm xmlns:a="http://schemas.openxmlformats.org/drawingml/2006/main">
            <a:off x="571500" y="9086850"/>
            <a:ext cx="17145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02 / 07   ·   Requirements</a:t>
            </a:r>
          </a:p>
        </p:txBody>
      </p:sp>
    </p:spTree>
    <p:extLst>
      <p:ext uri="{BB962C8B-B14F-4D97-AF65-F5344CB8AC3E}">
        <p14:creationId xmlns:p14="http://schemas.microsoft.com/office/powerpoint/2010/main" val="47569472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text">
            <a:extLst xmlns:a="http://schemas.openxmlformats.org/drawingml/2006/main">
              <a:ext uri="{FF2B5EF4-FFF2-40B4-BE49-F238E27FC236}">
                <a16:creationId xmlns:a16="http://schemas.microsoft.com/office/drawing/2014/main" id="{F63D9828-8794-4E34-A8CE-7546B8B6A226}"/>
              </a:ext>
            </a:extLst>
          </p:cNvPr>
          <p:cNvSpPr>
            <a:spLocks xmlns:a="http://schemas.openxmlformats.org/drawingml/2006/main" noGrp="1"/>
          </p:cNvSpPr>
          <p:nvPr/>
        </p:nvSpPr>
        <p:spPr>
          <a:xfrm xmlns:a="http://schemas.openxmlformats.org/drawingml/2006/main">
            <a:off x="171450" y="114300"/>
            <a:ext cx="17945100" cy="590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The selected request becomes an active context only at claim</a:t>
            </a:r>
          </a:p>
        </p:txBody>
      </p:sp>
      <p:pic>
        <p:nvPicPr>
          <p:cNvPr id="2" name="asset-figures/pic_essential"/>
          <p:cNvPicPr>
            <a:picLocks xmlns:a="http://schemas.openxmlformats.org/drawingml/2006/main" noChangeAspect="1"/>
          </p:cNvPicPr>
          <p:nvPr/>
        </p:nvPicPr>
        <p:blipFill>
          <a:blip xmlns:r="http://schemas.openxmlformats.org/officeDocument/2006/relationships" xmlns:a="http://schemas.openxmlformats.org/drawingml/2006/main" r:embed="R6369e4fb93ad445a">
            <a:extLst>
              <a:ext uri="{96DAC541-7B7A-43D3-8B79-37D633B846F1}">
                <asvg:svgBlip xmlns:asvg="http://schemas.microsoft.com/office/drawing/2016/SVG/main" r:embed="R31be7e70c93a4eec"/>
              </a:ext>
            </a:extLst>
          </a:blip>
          <a:stretch xmlns:a="http://schemas.openxmlformats.org/drawingml/2006/main"/>
        </p:blipFill>
        <p:spPr>
          <a:xfrm xmlns:a="http://schemas.openxmlformats.org/drawingml/2006/main">
            <a:off x="1045932" y="742950"/>
            <a:ext cx="16196135" cy="9429750"/>
          </a:xfrm>
          <a:prstGeom xmlns:a="http://schemas.openxmlformats.org/drawingml/2006/main" prst="rect">
            <a:avLst/>
          </a:prstGeom>
        </p:spPr>
      </p:pic>
    </p:spTree>
    <p:extLst>
      <p:ext uri="{BB962C8B-B14F-4D97-AF65-F5344CB8AC3E}">
        <p14:creationId xmlns:p14="http://schemas.microsoft.com/office/powerpoint/2010/main" val="5876459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C59AFACB-467E-4287-83A6-22ADEAD06C4C}"/>
              </a:ext>
            </a:extLst>
          </p:cNvPr>
          <p:cNvSpPr>
            <a:spLocks xmlns:a="http://schemas.openxmlformats.org/drawingml/2006/main" noGrp="1"/>
          </p:cNvSpPr>
          <p:nvPr/>
        </p:nvSpPr>
        <p:spPr>
          <a:xfrm xmlns:a="http://schemas.openxmlformats.org/drawingml/2006/main">
            <a:off x="571500" y="342900"/>
            <a:ext cx="171450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73442"/>
                </a:solidFill>
              </a:defRPr>
            </a:pPr>
            <a:r>
              <a:rPr sz="3900" b="1">
                <a:solidFill>
                  <a:srgbClr val="173442"/>
                </a:solidFill>
              </a:rPr>
              <a:t>The registers set the policy and make the state observable</a:t>
            </a:r>
          </a:p>
        </p:txBody>
      </p:sp>
      <p:sp>
        <p:nvSpPr>
          <p:cNvPr id="2" name="">
            <a:extLst xmlns:a="http://schemas.openxmlformats.org/drawingml/2006/main">
              <a:ext uri="{FF2B5EF4-FFF2-40B4-BE49-F238E27FC236}">
                <a16:creationId xmlns:a16="http://schemas.microsoft.com/office/drawing/2014/main" id="{5A14C01A-FC29-4196-9AAB-C0B7D0D14EDB}"/>
              </a:ext>
            </a:extLst>
          </p:cNvPr>
          <p:cNvSpPr>
            <a:spLocks xmlns:a="http://schemas.openxmlformats.org/drawingml/2006/main" noGrp="1"/>
          </p:cNvSpPr>
          <p:nvPr/>
        </p:nvSpPr>
        <p:spPr>
          <a:xfrm xmlns:a="http://schemas.openxmlformats.org/drawingml/2006/main">
            <a:off x="571500" y="125730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text">
            <a:extLst xmlns:a="http://schemas.openxmlformats.org/drawingml/2006/main">
              <a:ext uri="{FF2B5EF4-FFF2-40B4-BE49-F238E27FC236}">
                <a16:creationId xmlns:a16="http://schemas.microsoft.com/office/drawing/2014/main" id="{50831587-21C6-4DE8-9020-1381E7894BA6}"/>
              </a:ext>
            </a:extLst>
          </p:cNvPr>
          <p:cNvSpPr>
            <a:spLocks xmlns:a="http://schemas.openxmlformats.org/drawingml/2006/main" noGrp="1"/>
          </p:cNvSpPr>
          <p:nvPr/>
        </p:nvSpPr>
        <p:spPr>
          <a:xfrm xmlns:a="http://schemas.openxmlformats.org/drawingml/2006/main">
            <a:off x="571500" y="1428750"/>
            <a:ext cx="1905000" cy="4286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73442"/>
                </a:solidFill>
              </a:defRPr>
            </a:pPr>
            <a:r>
              <a:rPr sz="1875" b="1">
                <a:solidFill>
                  <a:srgbClr val="173442"/>
                </a:solidFill>
              </a:rPr>
              <a:t>Address</a:t>
            </a:r>
          </a:p>
        </p:txBody>
      </p:sp>
      <p:sp>
        <p:nvSpPr>
          <p:cNvPr id="4" name="text">
            <a:extLst xmlns:a="http://schemas.openxmlformats.org/drawingml/2006/main">
              <a:ext uri="{FF2B5EF4-FFF2-40B4-BE49-F238E27FC236}">
                <a16:creationId xmlns:a16="http://schemas.microsoft.com/office/drawing/2014/main" id="{16511CCA-D4F1-4DC8-B9C1-62310E321E98}"/>
              </a:ext>
            </a:extLst>
          </p:cNvPr>
          <p:cNvSpPr>
            <a:spLocks xmlns:a="http://schemas.openxmlformats.org/drawingml/2006/main" noGrp="1"/>
          </p:cNvSpPr>
          <p:nvPr/>
        </p:nvSpPr>
        <p:spPr>
          <a:xfrm xmlns:a="http://schemas.openxmlformats.org/drawingml/2006/main">
            <a:off x="2714625" y="1428750"/>
            <a:ext cx="3476625" cy="4286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73442"/>
                </a:solidFill>
              </a:defRPr>
            </a:pPr>
            <a:r>
              <a:rPr sz="1875" b="1">
                <a:solidFill>
                  <a:srgbClr val="173442"/>
                </a:solidFill>
              </a:rPr>
              <a:t>Register / group</a:t>
            </a:r>
          </a:p>
        </p:txBody>
      </p:sp>
      <p:sp>
        <p:nvSpPr>
          <p:cNvPr id="5" name="text">
            <a:extLst xmlns:a="http://schemas.openxmlformats.org/drawingml/2006/main">
              <a:ext uri="{FF2B5EF4-FFF2-40B4-BE49-F238E27FC236}">
                <a16:creationId xmlns:a16="http://schemas.microsoft.com/office/drawing/2014/main" id="{8899A299-0183-4F3F-9E3C-9F5C8733F58E}"/>
              </a:ext>
            </a:extLst>
          </p:cNvPr>
          <p:cNvSpPr>
            <a:spLocks xmlns:a="http://schemas.openxmlformats.org/drawingml/2006/main" noGrp="1"/>
          </p:cNvSpPr>
          <p:nvPr/>
        </p:nvSpPr>
        <p:spPr>
          <a:xfrm xmlns:a="http://schemas.openxmlformats.org/drawingml/2006/main">
            <a:off x="6429375" y="1428750"/>
            <a:ext cx="4333875" cy="4286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73442"/>
                </a:solidFill>
              </a:defRPr>
            </a:pPr>
            <a:r>
              <a:rPr sz="1875" b="1">
                <a:solidFill>
                  <a:srgbClr val="173442"/>
                </a:solidFill>
              </a:rPr>
              <a:t>Role in use</a:t>
            </a:r>
          </a:p>
        </p:txBody>
      </p:sp>
      <p:sp>
        <p:nvSpPr>
          <p:cNvPr id="6" name="">
            <a:extLst xmlns:a="http://schemas.openxmlformats.org/drawingml/2006/main">
              <a:ext uri="{FF2B5EF4-FFF2-40B4-BE49-F238E27FC236}">
                <a16:creationId xmlns:a16="http://schemas.microsoft.com/office/drawing/2014/main" id="{207AB711-1AAA-4E0E-BDE5-9DD0A38FA283}"/>
              </a:ext>
            </a:extLst>
          </p:cNvPr>
          <p:cNvSpPr>
            <a:spLocks xmlns:a="http://schemas.openxmlformats.org/drawingml/2006/main" noGrp="1"/>
          </p:cNvSpPr>
          <p:nvPr/>
        </p:nvSpPr>
        <p:spPr>
          <a:xfrm xmlns:a="http://schemas.openxmlformats.org/drawingml/2006/main">
            <a:off x="571500" y="1895475"/>
            <a:ext cx="10477500" cy="1905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7" name="text">
            <a:extLst xmlns:a="http://schemas.openxmlformats.org/drawingml/2006/main">
              <a:ext uri="{FF2B5EF4-FFF2-40B4-BE49-F238E27FC236}">
                <a16:creationId xmlns:a16="http://schemas.microsoft.com/office/drawing/2014/main" id="{6313AE85-BC10-4946-8A09-1AD6DDEE7FC3}"/>
              </a:ext>
            </a:extLst>
          </p:cNvPr>
          <p:cNvSpPr>
            <a:spLocks xmlns:a="http://schemas.openxmlformats.org/drawingml/2006/main" noGrp="1"/>
          </p:cNvSpPr>
          <p:nvPr/>
        </p:nvSpPr>
        <p:spPr>
          <a:xfrm xmlns:a="http://schemas.openxmlformats.org/drawingml/2006/main">
            <a:off x="571500" y="1952625"/>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0x00 + 4n</a:t>
            </a:r>
          </a:p>
        </p:txBody>
      </p:sp>
      <p:sp>
        <p:nvSpPr>
          <p:cNvPr id="8" name="text">
            <a:extLst xmlns:a="http://schemas.openxmlformats.org/drawingml/2006/main">
              <a:ext uri="{FF2B5EF4-FFF2-40B4-BE49-F238E27FC236}">
                <a16:creationId xmlns:a16="http://schemas.microsoft.com/office/drawing/2014/main" id="{88BB14B0-BE08-4856-AC54-EDFEEC76DCC9}"/>
              </a:ext>
            </a:extLst>
          </p:cNvPr>
          <p:cNvSpPr>
            <a:spLocks xmlns:a="http://schemas.openxmlformats.org/drawingml/2006/main" noGrp="1"/>
          </p:cNvSpPr>
          <p:nvPr/>
        </p:nvSpPr>
        <p:spPr>
          <a:xfrm xmlns:a="http://schemas.openxmlformats.org/drawingml/2006/main">
            <a:off x="2714625" y="1952625"/>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SRCn_CONFIG</a:t>
            </a:r>
          </a:p>
        </p:txBody>
      </p:sp>
      <p:sp>
        <p:nvSpPr>
          <p:cNvPr id="9" name="text">
            <a:extLst xmlns:a="http://schemas.openxmlformats.org/drawingml/2006/main">
              <a:ext uri="{FF2B5EF4-FFF2-40B4-BE49-F238E27FC236}">
                <a16:creationId xmlns:a16="http://schemas.microsoft.com/office/drawing/2014/main" id="{A303DFBF-1DAB-421D-AAF8-9A8AB40AC44C}"/>
              </a:ext>
            </a:extLst>
          </p:cNvPr>
          <p:cNvSpPr>
            <a:spLocks xmlns:a="http://schemas.openxmlformats.org/drawingml/2006/main" noGrp="1"/>
          </p:cNvSpPr>
          <p:nvPr/>
        </p:nvSpPr>
        <p:spPr>
          <a:xfrm xmlns:a="http://schemas.openxmlformats.org/drawingml/2006/main">
            <a:off x="6429375" y="1952625"/>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Trigger, band, priority, deadline</a:t>
            </a:r>
          </a:p>
        </p:txBody>
      </p:sp>
      <p:sp>
        <p:nvSpPr>
          <p:cNvPr id="10" name="">
            <a:extLst xmlns:a="http://schemas.openxmlformats.org/drawingml/2006/main">
              <a:ext uri="{FF2B5EF4-FFF2-40B4-BE49-F238E27FC236}">
                <a16:creationId xmlns:a16="http://schemas.microsoft.com/office/drawing/2014/main" id="{A22FCCBA-5522-4ACD-9405-3CF3793A5FF6}"/>
              </a:ext>
            </a:extLst>
          </p:cNvPr>
          <p:cNvSpPr>
            <a:spLocks xmlns:a="http://schemas.openxmlformats.org/drawingml/2006/main" noGrp="1"/>
          </p:cNvSpPr>
          <p:nvPr/>
        </p:nvSpPr>
        <p:spPr>
          <a:xfrm xmlns:a="http://schemas.openxmlformats.org/drawingml/2006/main">
            <a:off x="571500" y="2809875"/>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11" name="text">
            <a:extLst xmlns:a="http://schemas.openxmlformats.org/drawingml/2006/main">
              <a:ext uri="{FF2B5EF4-FFF2-40B4-BE49-F238E27FC236}">
                <a16:creationId xmlns:a16="http://schemas.microsoft.com/office/drawing/2014/main" id="{B086437C-781E-4C0E-A76B-0DC001DEB291}"/>
              </a:ext>
            </a:extLst>
          </p:cNvPr>
          <p:cNvSpPr>
            <a:spLocks xmlns:a="http://schemas.openxmlformats.org/drawingml/2006/main" noGrp="1"/>
          </p:cNvSpPr>
          <p:nvPr/>
        </p:nvSpPr>
        <p:spPr>
          <a:xfrm xmlns:a="http://schemas.openxmlformats.org/drawingml/2006/main">
            <a:off x="571500" y="2857500"/>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0x40 + 4n</a:t>
            </a:r>
          </a:p>
        </p:txBody>
      </p:sp>
      <p:sp>
        <p:nvSpPr>
          <p:cNvPr id="12" name="text">
            <a:extLst xmlns:a="http://schemas.openxmlformats.org/drawingml/2006/main">
              <a:ext uri="{FF2B5EF4-FFF2-40B4-BE49-F238E27FC236}">
                <a16:creationId xmlns:a16="http://schemas.microsoft.com/office/drawing/2014/main" id="{AC69E5A8-D8C2-4494-B1A4-D028104B06C9}"/>
              </a:ext>
            </a:extLst>
          </p:cNvPr>
          <p:cNvSpPr>
            <a:spLocks xmlns:a="http://schemas.openxmlformats.org/drawingml/2006/main" noGrp="1"/>
          </p:cNvSpPr>
          <p:nvPr/>
        </p:nvSpPr>
        <p:spPr>
          <a:xfrm xmlns:a="http://schemas.openxmlformats.org/drawingml/2006/main">
            <a:off x="2714625" y="2857500"/>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SRCn_SW_TRIG</a:t>
            </a:r>
          </a:p>
        </p:txBody>
      </p:sp>
      <p:sp>
        <p:nvSpPr>
          <p:cNvPr id="13" name="text">
            <a:extLst xmlns:a="http://schemas.openxmlformats.org/drawingml/2006/main">
              <a:ext uri="{FF2B5EF4-FFF2-40B4-BE49-F238E27FC236}">
                <a16:creationId xmlns:a16="http://schemas.microsoft.com/office/drawing/2014/main" id="{17E6963D-EB5D-4671-9E69-570627D5EA9E}"/>
              </a:ext>
            </a:extLst>
          </p:cNvPr>
          <p:cNvSpPr>
            <a:spLocks xmlns:a="http://schemas.openxmlformats.org/drawingml/2006/main" noGrp="1"/>
          </p:cNvSpPr>
          <p:nvPr/>
        </p:nvSpPr>
        <p:spPr>
          <a:xfrm xmlns:a="http://schemas.openxmlformats.org/drawingml/2006/main">
            <a:off x="6429375" y="2857500"/>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Injection with key 0xA5A5; clear</a:t>
            </a:r>
          </a:p>
        </p:txBody>
      </p:sp>
      <p:sp>
        <p:nvSpPr>
          <p:cNvPr id="14" name="">
            <a:extLst xmlns:a="http://schemas.openxmlformats.org/drawingml/2006/main">
              <a:ext uri="{FF2B5EF4-FFF2-40B4-BE49-F238E27FC236}">
                <a16:creationId xmlns:a16="http://schemas.microsoft.com/office/drawing/2014/main" id="{288ECC33-E288-470C-A5A4-BA928CB8F629}"/>
              </a:ext>
            </a:extLst>
          </p:cNvPr>
          <p:cNvSpPr>
            <a:spLocks xmlns:a="http://schemas.openxmlformats.org/drawingml/2006/main" noGrp="1"/>
          </p:cNvSpPr>
          <p:nvPr/>
        </p:nvSpPr>
        <p:spPr>
          <a:xfrm xmlns:a="http://schemas.openxmlformats.org/drawingml/2006/main">
            <a:off x="571500" y="3714750"/>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15" name="text">
            <a:extLst xmlns:a="http://schemas.openxmlformats.org/drawingml/2006/main">
              <a:ext uri="{FF2B5EF4-FFF2-40B4-BE49-F238E27FC236}">
                <a16:creationId xmlns:a16="http://schemas.microsoft.com/office/drawing/2014/main" id="{2B58B2EB-ADFD-49C5-8034-4C51A8DB437E}"/>
              </a:ext>
            </a:extLst>
          </p:cNvPr>
          <p:cNvSpPr>
            <a:spLocks xmlns:a="http://schemas.openxmlformats.org/drawingml/2006/main" noGrp="1"/>
          </p:cNvSpPr>
          <p:nvPr/>
        </p:nvSpPr>
        <p:spPr>
          <a:xfrm xmlns:a="http://schemas.openxmlformats.org/drawingml/2006/main">
            <a:off x="571500" y="3762375"/>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0x80 + 4n</a:t>
            </a:r>
          </a:p>
        </p:txBody>
      </p:sp>
      <p:sp>
        <p:nvSpPr>
          <p:cNvPr id="16" name="text">
            <a:extLst xmlns:a="http://schemas.openxmlformats.org/drawingml/2006/main">
              <a:ext uri="{FF2B5EF4-FFF2-40B4-BE49-F238E27FC236}">
                <a16:creationId xmlns:a16="http://schemas.microsoft.com/office/drawing/2014/main" id="{16A2D925-8EFD-428A-85C4-7A5C1E1BA2DA}"/>
              </a:ext>
            </a:extLst>
          </p:cNvPr>
          <p:cNvSpPr>
            <a:spLocks xmlns:a="http://schemas.openxmlformats.org/drawingml/2006/main" noGrp="1"/>
          </p:cNvSpPr>
          <p:nvPr/>
        </p:nvSpPr>
        <p:spPr>
          <a:xfrm xmlns:a="http://schemas.openxmlformats.org/drawingml/2006/main">
            <a:off x="2714625" y="3762375"/>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SRCn_STATUS</a:t>
            </a:r>
          </a:p>
        </p:txBody>
      </p:sp>
      <p:sp>
        <p:nvSpPr>
          <p:cNvPr id="17" name="text">
            <a:extLst xmlns:a="http://schemas.openxmlformats.org/drawingml/2006/main">
              <a:ext uri="{FF2B5EF4-FFF2-40B4-BE49-F238E27FC236}">
                <a16:creationId xmlns:a16="http://schemas.microsoft.com/office/drawing/2014/main" id="{BFB1EF9C-538E-4027-BBB4-09D732DEE7FB}"/>
              </a:ext>
            </a:extLst>
          </p:cNvPr>
          <p:cNvSpPr>
            <a:spLocks xmlns:a="http://schemas.openxmlformats.org/drawingml/2006/main" noGrp="1"/>
          </p:cNvSpPr>
          <p:nvPr/>
        </p:nvSpPr>
        <p:spPr>
          <a:xfrm xmlns:a="http://schemas.openxmlformats.org/drawingml/2006/main">
            <a:off x="6429375" y="3762375"/>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Pending, active, escalated, spurious</a:t>
            </a:r>
          </a:p>
        </p:txBody>
      </p:sp>
      <p:sp>
        <p:nvSpPr>
          <p:cNvPr id="18" name="">
            <a:extLst xmlns:a="http://schemas.openxmlformats.org/drawingml/2006/main">
              <a:ext uri="{FF2B5EF4-FFF2-40B4-BE49-F238E27FC236}">
                <a16:creationId xmlns:a16="http://schemas.microsoft.com/office/drawing/2014/main" id="{CC4D9497-3972-4CE1-B59D-566CD2854985}"/>
              </a:ext>
            </a:extLst>
          </p:cNvPr>
          <p:cNvSpPr>
            <a:spLocks xmlns:a="http://schemas.openxmlformats.org/drawingml/2006/main" noGrp="1"/>
          </p:cNvSpPr>
          <p:nvPr/>
        </p:nvSpPr>
        <p:spPr>
          <a:xfrm xmlns:a="http://schemas.openxmlformats.org/drawingml/2006/main">
            <a:off x="571500" y="4619625"/>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19" name="text">
            <a:extLst xmlns:a="http://schemas.openxmlformats.org/drawingml/2006/main">
              <a:ext uri="{FF2B5EF4-FFF2-40B4-BE49-F238E27FC236}">
                <a16:creationId xmlns:a16="http://schemas.microsoft.com/office/drawing/2014/main" id="{E2437FE8-CE0A-4089-A3E3-B1C08DCD4465}"/>
              </a:ext>
            </a:extLst>
          </p:cNvPr>
          <p:cNvSpPr>
            <a:spLocks xmlns:a="http://schemas.openxmlformats.org/drawingml/2006/main" noGrp="1"/>
          </p:cNvSpPr>
          <p:nvPr/>
        </p:nvSpPr>
        <p:spPr>
          <a:xfrm xmlns:a="http://schemas.openxmlformats.org/drawingml/2006/main">
            <a:off x="571500" y="4667250"/>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0xC0 / D4</a:t>
            </a:r>
          </a:p>
        </p:txBody>
      </p:sp>
      <p:sp>
        <p:nvSpPr>
          <p:cNvPr id="20" name="text">
            <a:extLst xmlns:a="http://schemas.openxmlformats.org/drawingml/2006/main">
              <a:ext uri="{FF2B5EF4-FFF2-40B4-BE49-F238E27FC236}">
                <a16:creationId xmlns:a16="http://schemas.microsoft.com/office/drawing/2014/main" id="{57B4A030-11BA-4F41-B6C2-BD7AAA64726A}"/>
              </a:ext>
            </a:extLst>
          </p:cNvPr>
          <p:cNvSpPr>
            <a:spLocks xmlns:a="http://schemas.openxmlformats.org/drawingml/2006/main" noGrp="1"/>
          </p:cNvSpPr>
          <p:nvPr/>
        </p:nvSpPr>
        <p:spPr>
          <a:xfrm xmlns:a="http://schemas.openxmlformats.org/drawingml/2006/main">
            <a:off x="2714625" y="4667250"/>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BAND_CONFIG / ESCALATION_CFG</a:t>
            </a:r>
          </a:p>
        </p:txBody>
      </p:sp>
      <p:sp>
        <p:nvSpPr>
          <p:cNvPr id="21" name="text">
            <a:extLst xmlns:a="http://schemas.openxmlformats.org/drawingml/2006/main">
              <a:ext uri="{FF2B5EF4-FFF2-40B4-BE49-F238E27FC236}">
                <a16:creationId xmlns:a16="http://schemas.microsoft.com/office/drawing/2014/main" id="{19DBE548-0119-4945-AFC5-73A3BAE34CED}"/>
              </a:ext>
            </a:extLst>
          </p:cNvPr>
          <p:cNvSpPr>
            <a:spLocks xmlns:a="http://schemas.openxmlformats.org/drawingml/2006/main" noGrp="1"/>
          </p:cNvSpPr>
          <p:nvPr/>
        </p:nvSpPr>
        <p:spPr>
          <a:xfrm xmlns:a="http://schemas.openxmlformats.org/drawingml/2006/main">
            <a:off x="6429375" y="4667250"/>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Band urgencies and escalation policy</a:t>
            </a:r>
          </a:p>
        </p:txBody>
      </p:sp>
      <p:sp>
        <p:nvSpPr>
          <p:cNvPr id="22" name="">
            <a:extLst xmlns:a="http://schemas.openxmlformats.org/drawingml/2006/main">
              <a:ext uri="{FF2B5EF4-FFF2-40B4-BE49-F238E27FC236}">
                <a16:creationId xmlns:a16="http://schemas.microsoft.com/office/drawing/2014/main" id="{9BF519EF-4D98-438C-8A49-0E21773937F9}"/>
              </a:ext>
            </a:extLst>
          </p:cNvPr>
          <p:cNvSpPr>
            <a:spLocks xmlns:a="http://schemas.openxmlformats.org/drawingml/2006/main" noGrp="1"/>
          </p:cNvSpPr>
          <p:nvPr/>
        </p:nvSpPr>
        <p:spPr>
          <a:xfrm xmlns:a="http://schemas.openxmlformats.org/drawingml/2006/main">
            <a:off x="571500" y="5524500"/>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23" name="text">
            <a:extLst xmlns:a="http://schemas.openxmlformats.org/drawingml/2006/main">
              <a:ext uri="{FF2B5EF4-FFF2-40B4-BE49-F238E27FC236}">
                <a16:creationId xmlns:a16="http://schemas.microsoft.com/office/drawing/2014/main" id="{67C5B531-C5B3-4EBB-AE43-1DB55371CA46}"/>
              </a:ext>
            </a:extLst>
          </p:cNvPr>
          <p:cNvSpPr>
            <a:spLocks xmlns:a="http://schemas.openxmlformats.org/drawingml/2006/main" noGrp="1"/>
          </p:cNvSpPr>
          <p:nvPr/>
        </p:nvSpPr>
        <p:spPr>
          <a:xfrm xmlns:a="http://schemas.openxmlformats.org/drawingml/2006/main">
            <a:off x="571500" y="5572125"/>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0xC4 / C8 / CC</a:t>
            </a:r>
          </a:p>
        </p:txBody>
      </p:sp>
      <p:sp>
        <p:nvSpPr>
          <p:cNvPr id="24" name="text">
            <a:extLst xmlns:a="http://schemas.openxmlformats.org/drawingml/2006/main">
              <a:ext uri="{FF2B5EF4-FFF2-40B4-BE49-F238E27FC236}">
                <a16:creationId xmlns:a16="http://schemas.microsoft.com/office/drawing/2014/main" id="{2DFE3F7C-0097-463D-B110-FC3EE37E0E5E}"/>
              </a:ext>
            </a:extLst>
          </p:cNvPr>
          <p:cNvSpPr>
            <a:spLocks xmlns:a="http://schemas.openxmlformats.org/drawingml/2006/main" noGrp="1"/>
          </p:cNvSpPr>
          <p:nvPr/>
        </p:nvSpPr>
        <p:spPr>
          <a:xfrm xmlns:a="http://schemas.openxmlformats.org/drawingml/2006/main">
            <a:off x="2714625" y="5572125"/>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NEST_STATUS / NEST_MAX / ACTIVE_VEC</a:t>
            </a:r>
          </a:p>
        </p:txBody>
      </p:sp>
      <p:sp>
        <p:nvSpPr>
          <p:cNvPr id="25" name="text">
            <a:extLst xmlns:a="http://schemas.openxmlformats.org/drawingml/2006/main">
              <a:ext uri="{FF2B5EF4-FFF2-40B4-BE49-F238E27FC236}">
                <a16:creationId xmlns:a16="http://schemas.microsoft.com/office/drawing/2014/main" id="{6A05D949-8C77-44A0-A497-8F695F724019}"/>
              </a:ext>
            </a:extLst>
          </p:cNvPr>
          <p:cNvSpPr>
            <a:spLocks xmlns:a="http://schemas.openxmlformats.org/drawingml/2006/main" noGrp="1"/>
          </p:cNvSpPr>
          <p:nvPr/>
        </p:nvSpPr>
        <p:spPr>
          <a:xfrm xmlns:a="http://schemas.openxmlformats.org/drawingml/2006/main">
            <a:off x="6429375" y="5572125"/>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Active context and nesting limit</a:t>
            </a:r>
          </a:p>
        </p:txBody>
      </p:sp>
      <p:sp>
        <p:nvSpPr>
          <p:cNvPr id="26" name="">
            <a:extLst xmlns:a="http://schemas.openxmlformats.org/drawingml/2006/main">
              <a:ext uri="{FF2B5EF4-FFF2-40B4-BE49-F238E27FC236}">
                <a16:creationId xmlns:a16="http://schemas.microsoft.com/office/drawing/2014/main" id="{74030AB3-4E64-4D8A-A712-95F5E4F737FD}"/>
              </a:ext>
            </a:extLst>
          </p:cNvPr>
          <p:cNvSpPr>
            <a:spLocks xmlns:a="http://schemas.openxmlformats.org/drawingml/2006/main" noGrp="1"/>
          </p:cNvSpPr>
          <p:nvPr/>
        </p:nvSpPr>
        <p:spPr>
          <a:xfrm xmlns:a="http://schemas.openxmlformats.org/drawingml/2006/main">
            <a:off x="571500" y="6429375"/>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27" name="text">
            <a:extLst xmlns:a="http://schemas.openxmlformats.org/drawingml/2006/main">
              <a:ext uri="{FF2B5EF4-FFF2-40B4-BE49-F238E27FC236}">
                <a16:creationId xmlns:a16="http://schemas.microsoft.com/office/drawing/2014/main" id="{8DE72B15-0439-4782-83F3-FE9A124E9E0F}"/>
              </a:ext>
            </a:extLst>
          </p:cNvPr>
          <p:cNvSpPr>
            <a:spLocks xmlns:a="http://schemas.openxmlformats.org/drawingml/2006/main" noGrp="1"/>
          </p:cNvSpPr>
          <p:nvPr/>
        </p:nvSpPr>
        <p:spPr>
          <a:xfrm xmlns:a="http://schemas.openxmlformats.org/drawingml/2006/main">
            <a:off x="571500" y="6477000"/>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0xD8</a:t>
            </a:r>
          </a:p>
        </p:txBody>
      </p:sp>
      <p:sp>
        <p:nvSpPr>
          <p:cNvPr id="28" name="text">
            <a:extLst xmlns:a="http://schemas.openxmlformats.org/drawingml/2006/main">
              <a:ext uri="{FF2B5EF4-FFF2-40B4-BE49-F238E27FC236}">
                <a16:creationId xmlns:a16="http://schemas.microsoft.com/office/drawing/2014/main" id="{9512BEB4-3DDA-47F7-A350-A95486910F35}"/>
              </a:ext>
            </a:extLst>
          </p:cNvPr>
          <p:cNvSpPr>
            <a:spLocks xmlns:a="http://schemas.openxmlformats.org/drawingml/2006/main" noGrp="1"/>
          </p:cNvSpPr>
          <p:nvPr/>
        </p:nvSpPr>
        <p:spPr>
          <a:xfrm xmlns:a="http://schemas.openxmlformats.org/drawingml/2006/main">
            <a:off x="2714625" y="6477000"/>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INT_ENABLE</a:t>
            </a:r>
          </a:p>
        </p:txBody>
      </p:sp>
      <p:sp>
        <p:nvSpPr>
          <p:cNvPr id="29" name="text">
            <a:extLst xmlns:a="http://schemas.openxmlformats.org/drawingml/2006/main">
              <a:ext uri="{FF2B5EF4-FFF2-40B4-BE49-F238E27FC236}">
                <a16:creationId xmlns:a16="http://schemas.microsoft.com/office/drawing/2014/main" id="{F7B9B3C9-ADBE-439F-854D-5D7F11F5C476}"/>
              </a:ext>
            </a:extLst>
          </p:cNvPr>
          <p:cNvSpPr>
            <a:spLocks xmlns:a="http://schemas.openxmlformats.org/drawingml/2006/main" noGrp="1"/>
          </p:cNvSpPr>
          <p:nvPr/>
        </p:nvSpPr>
        <p:spPr>
          <a:xfrm xmlns:a="http://schemas.openxmlformats.org/drawingml/2006/main">
            <a:off x="6429375" y="6477000"/>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Per-source enable</a:t>
            </a:r>
          </a:p>
        </p:txBody>
      </p:sp>
      <p:sp>
        <p:nvSpPr>
          <p:cNvPr id="30" name="">
            <a:extLst xmlns:a="http://schemas.openxmlformats.org/drawingml/2006/main">
              <a:ext uri="{FF2B5EF4-FFF2-40B4-BE49-F238E27FC236}">
                <a16:creationId xmlns:a16="http://schemas.microsoft.com/office/drawing/2014/main" id="{3BF4958F-E7A6-4247-9B9D-FBEE389D0595}"/>
              </a:ext>
            </a:extLst>
          </p:cNvPr>
          <p:cNvSpPr>
            <a:spLocks xmlns:a="http://schemas.openxmlformats.org/drawingml/2006/main" noGrp="1"/>
          </p:cNvSpPr>
          <p:nvPr/>
        </p:nvSpPr>
        <p:spPr>
          <a:xfrm xmlns:a="http://schemas.openxmlformats.org/drawingml/2006/main">
            <a:off x="571500" y="7334250"/>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31" name="text">
            <a:extLst xmlns:a="http://schemas.openxmlformats.org/drawingml/2006/main">
              <a:ext uri="{FF2B5EF4-FFF2-40B4-BE49-F238E27FC236}">
                <a16:creationId xmlns:a16="http://schemas.microsoft.com/office/drawing/2014/main" id="{B79E21CA-5014-4732-AE80-100B1F37CA78}"/>
              </a:ext>
            </a:extLst>
          </p:cNvPr>
          <p:cNvSpPr>
            <a:spLocks xmlns:a="http://schemas.openxmlformats.org/drawingml/2006/main" noGrp="1"/>
          </p:cNvSpPr>
          <p:nvPr/>
        </p:nvSpPr>
        <p:spPr>
          <a:xfrm xmlns:a="http://schemas.openxmlformats.org/drawingml/2006/main">
            <a:off x="571500" y="7381875"/>
            <a:ext cx="190500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0xD0 / DC</a:t>
            </a:r>
          </a:p>
        </p:txBody>
      </p:sp>
      <p:sp>
        <p:nvSpPr>
          <p:cNvPr id="32" name="text">
            <a:extLst xmlns:a="http://schemas.openxmlformats.org/drawingml/2006/main">
              <a:ext uri="{FF2B5EF4-FFF2-40B4-BE49-F238E27FC236}">
                <a16:creationId xmlns:a16="http://schemas.microsoft.com/office/drawing/2014/main" id="{AF0F8D58-56F3-4123-8A1B-E5661B98108B}"/>
              </a:ext>
            </a:extLst>
          </p:cNvPr>
          <p:cNvSpPr>
            <a:spLocks xmlns:a="http://schemas.openxmlformats.org/drawingml/2006/main" noGrp="1"/>
          </p:cNvSpPr>
          <p:nvPr/>
        </p:nvSpPr>
        <p:spPr>
          <a:xfrm xmlns:a="http://schemas.openxmlformats.org/drawingml/2006/main">
            <a:off x="2714625" y="7381875"/>
            <a:ext cx="347662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SPURIOUS_LOG / INT_STATUS</a:t>
            </a:r>
          </a:p>
        </p:txBody>
      </p:sp>
      <p:sp>
        <p:nvSpPr>
          <p:cNvPr id="33" name="text">
            <a:extLst xmlns:a="http://schemas.openxmlformats.org/drawingml/2006/main">
              <a:ext uri="{FF2B5EF4-FFF2-40B4-BE49-F238E27FC236}">
                <a16:creationId xmlns:a16="http://schemas.microsoft.com/office/drawing/2014/main" id="{041F4AA0-A309-4E06-B382-D9B9DD3F2EC5}"/>
              </a:ext>
            </a:extLst>
          </p:cNvPr>
          <p:cNvSpPr>
            <a:spLocks xmlns:a="http://schemas.openxmlformats.org/drawingml/2006/main" noGrp="1"/>
          </p:cNvSpPr>
          <p:nvPr/>
        </p:nvSpPr>
        <p:spPr>
          <a:xfrm xmlns:a="http://schemas.openxmlformats.org/drawingml/2006/main">
            <a:off x="6429375" y="7381875"/>
            <a:ext cx="4333875"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Logged events; cleared by RW1C</a:t>
            </a:r>
          </a:p>
        </p:txBody>
      </p:sp>
      <p:sp>
        <p:nvSpPr>
          <p:cNvPr id="34" name="">
            <a:extLst xmlns:a="http://schemas.openxmlformats.org/drawingml/2006/main">
              <a:ext uri="{FF2B5EF4-FFF2-40B4-BE49-F238E27FC236}">
                <a16:creationId xmlns:a16="http://schemas.microsoft.com/office/drawing/2014/main" id="{28A2A9D3-60DF-466B-B21E-EF78A8114BEC}"/>
              </a:ext>
            </a:extLst>
          </p:cNvPr>
          <p:cNvSpPr>
            <a:spLocks xmlns:a="http://schemas.openxmlformats.org/drawingml/2006/main" noGrp="1"/>
          </p:cNvSpPr>
          <p:nvPr/>
        </p:nvSpPr>
        <p:spPr>
          <a:xfrm xmlns:a="http://schemas.openxmlformats.org/drawingml/2006/main">
            <a:off x="571500" y="8239125"/>
            <a:ext cx="10477500" cy="9525"/>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pic>
        <p:nvPicPr>
          <p:cNvPr id="35" name="asset-figures/pic_software"/>
          <p:cNvPicPr>
            <a:picLocks xmlns:a="http://schemas.openxmlformats.org/drawingml/2006/main" noChangeAspect="1"/>
          </p:cNvPicPr>
          <p:nvPr/>
        </p:nvPicPr>
        <p:blipFill>
          <a:blip xmlns:r="http://schemas.openxmlformats.org/officeDocument/2006/relationships" xmlns:a="http://schemas.openxmlformats.org/drawingml/2006/main" r:embed="Rbfc31c5d9bb849e1">
            <a:extLst>
              <a:ext uri="{96DAC541-7B7A-43D3-8B79-37D633B846F1}">
                <asvg:svgBlip xmlns:asvg="http://schemas.microsoft.com/office/drawing/2016/SVG/main" r:embed="R23cfbdb480f3402c"/>
              </a:ext>
            </a:extLst>
          </a:blip>
          <a:stretch xmlns:a="http://schemas.openxmlformats.org/drawingml/2006/main"/>
        </p:blipFill>
        <p:spPr>
          <a:xfrm xmlns:a="http://schemas.openxmlformats.org/drawingml/2006/main">
            <a:off x="12023760" y="1428750"/>
            <a:ext cx="5479981" cy="7524750"/>
          </a:xfrm>
          <a:prstGeom xmlns:a="http://schemas.openxmlformats.org/drawingml/2006/main" prst="rect">
            <a:avLst/>
          </a:prstGeom>
        </p:spPr>
      </p:pic>
      <p:sp>
        <p:nvSpPr>
          <p:cNvPr id="36" name="footer">
            <a:extLst xmlns:a="http://schemas.openxmlformats.org/drawingml/2006/main">
              <a:ext uri="{FF2B5EF4-FFF2-40B4-BE49-F238E27FC236}">
                <a16:creationId xmlns:a16="http://schemas.microsoft.com/office/drawing/2014/main" id="{1E4B1716-1116-40C3-B1F5-7B3D78BEBDAC}"/>
              </a:ext>
            </a:extLst>
          </p:cNvPr>
          <p:cNvSpPr>
            <a:spLocks xmlns:a="http://schemas.openxmlformats.org/drawingml/2006/main" noGrp="1"/>
          </p:cNvSpPr>
          <p:nvPr/>
        </p:nvSpPr>
        <p:spPr>
          <a:xfrm xmlns:a="http://schemas.openxmlformats.org/drawingml/2006/main">
            <a:off x="571500" y="9086850"/>
            <a:ext cx="17145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04 / 07   ·   Software interface</a:t>
            </a:r>
          </a:p>
        </p:txBody>
      </p:sp>
    </p:spTree>
    <p:extLst>
      <p:ext uri="{BB962C8B-B14F-4D97-AF65-F5344CB8AC3E}">
        <p14:creationId xmlns:p14="http://schemas.microsoft.com/office/powerpoint/2010/main" val="1045965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5C2A309F-C8EE-430C-8518-4F1ACEE028E8}"/>
              </a:ext>
            </a:extLst>
          </p:cNvPr>
          <p:cNvSpPr>
            <a:spLocks xmlns:a="http://schemas.openxmlformats.org/drawingml/2006/main" noGrp="1"/>
          </p:cNvSpPr>
          <p:nvPr/>
        </p:nvSpPr>
        <p:spPr>
          <a:xfrm xmlns:a="http://schemas.openxmlformats.org/drawingml/2006/main">
            <a:off x="571500" y="342900"/>
            <a:ext cx="171450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73442"/>
                </a:solidFill>
              </a:defRPr>
            </a:pPr>
            <a:r>
              <a:rPr sz="3900" b="1">
                <a:solidFill>
                  <a:srgbClr val="173442"/>
                </a:solidFill>
              </a:rPr>
              <a:t>The functional result and the bus protocol are checked separately</a:t>
            </a:r>
          </a:p>
        </p:txBody>
      </p:sp>
      <p:sp>
        <p:nvSpPr>
          <p:cNvPr id="2" name="">
            <a:extLst xmlns:a="http://schemas.openxmlformats.org/drawingml/2006/main">
              <a:ext uri="{FF2B5EF4-FFF2-40B4-BE49-F238E27FC236}">
                <a16:creationId xmlns:a16="http://schemas.microsoft.com/office/drawing/2014/main" id="{17134F64-926D-4550-9AFC-C1657E8BC666}"/>
              </a:ext>
            </a:extLst>
          </p:cNvPr>
          <p:cNvSpPr>
            <a:spLocks xmlns:a="http://schemas.openxmlformats.org/drawingml/2006/main" noGrp="1"/>
          </p:cNvSpPr>
          <p:nvPr/>
        </p:nvSpPr>
        <p:spPr>
          <a:xfrm xmlns:a="http://schemas.openxmlformats.org/drawingml/2006/main">
            <a:off x="571500" y="125730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pic>
        <p:nvPicPr>
          <p:cNvPr id="3" name="asset-figures/pic_verification"/>
          <p:cNvPicPr>
            <a:picLocks xmlns:a="http://schemas.openxmlformats.org/drawingml/2006/main" noChangeAspect="1"/>
          </p:cNvPicPr>
          <p:nvPr/>
        </p:nvPicPr>
        <p:blipFill>
          <a:blip xmlns:r="http://schemas.openxmlformats.org/officeDocument/2006/relationships" xmlns:a="http://schemas.openxmlformats.org/drawingml/2006/main" r:embed="Rc807ed92e9404a96">
            <a:extLst>
              <a:ext uri="{96DAC541-7B7A-43D3-8B79-37D633B846F1}">
                <asvg:svgBlip xmlns:asvg="http://schemas.microsoft.com/office/drawing/2016/SVG/main" r:embed="Rbb94c115a521473f"/>
              </a:ext>
            </a:extLst>
          </a:blip>
          <a:stretch xmlns:a="http://schemas.openxmlformats.org/drawingml/2006/main"/>
        </p:blipFill>
        <p:spPr>
          <a:xfrm xmlns:a="http://schemas.openxmlformats.org/drawingml/2006/main">
            <a:off x="3082636" y="1428750"/>
            <a:ext cx="12122727" cy="5000625"/>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B928C1E1-B8CB-4871-9786-41AD99BEBF8C}"/>
              </a:ext>
            </a:extLst>
          </p:cNvPr>
          <p:cNvSpPr>
            <a:spLocks xmlns:a="http://schemas.openxmlformats.org/drawingml/2006/main" noGrp="1"/>
          </p:cNvSpPr>
          <p:nvPr/>
        </p:nvSpPr>
        <p:spPr>
          <a:xfrm xmlns:a="http://schemas.openxmlformats.org/drawingml/2006/main">
            <a:off x="571500" y="6543675"/>
            <a:ext cx="5362575"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006B75"/>
                </a:solidFill>
              </a:defRPr>
            </a:pPr>
            <a:r>
              <a:rPr sz="2625" b="1">
                <a:solidFill>
                  <a:srgbClr val="006B75"/>
                </a:solidFill>
              </a:rPr>
              <a:t>Independent model</a:t>
            </a:r>
          </a:p>
        </p:txBody>
      </p:sp>
      <p:sp>
        <p:nvSpPr>
          <p:cNvPr id="5" name="text">
            <a:extLst xmlns:a="http://schemas.openxmlformats.org/drawingml/2006/main">
              <a:ext uri="{FF2B5EF4-FFF2-40B4-BE49-F238E27FC236}">
                <a16:creationId xmlns:a16="http://schemas.microsoft.com/office/drawing/2014/main" id="{81A391CA-DD8F-4E47-9894-9364B736B2B3}"/>
              </a:ext>
            </a:extLst>
          </p:cNvPr>
          <p:cNvSpPr>
            <a:spLocks xmlns:a="http://schemas.openxmlformats.org/drawingml/2006/main" noGrp="1"/>
          </p:cNvSpPr>
          <p:nvPr/>
        </p:nvSpPr>
        <p:spPr>
          <a:xfrm xmlns:a="http://schemas.openxmlformats.org/drawingml/2006/main">
            <a:off x="571500" y="7219950"/>
            <a:ext cx="5362575"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24 urgency permutations + masks + ties</a:t>
            </a:r>
          </a:p>
        </p:txBody>
      </p:sp>
      <p:sp>
        <p:nvSpPr>
          <p:cNvPr id="6" name="text">
            <a:extLst xmlns:a="http://schemas.openxmlformats.org/drawingml/2006/main">
              <a:ext uri="{FF2B5EF4-FFF2-40B4-BE49-F238E27FC236}">
                <a16:creationId xmlns:a16="http://schemas.microsoft.com/office/drawing/2014/main" id="{99B4C632-E442-4230-BB06-AB9A23F22715}"/>
              </a:ext>
            </a:extLst>
          </p:cNvPr>
          <p:cNvSpPr>
            <a:spLocks xmlns:a="http://schemas.openxmlformats.org/drawingml/2006/main" noGrp="1"/>
          </p:cNvSpPr>
          <p:nvPr/>
        </p:nvSpPr>
        <p:spPr>
          <a:xfrm xmlns:a="http://schemas.openxmlformats.org/drawingml/2006/main">
            <a:off x="6457950" y="6543675"/>
            <a:ext cx="5362575"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006B75"/>
                </a:solidFill>
              </a:defRPr>
            </a:pPr>
            <a:r>
              <a:rPr sz="2625" b="1">
                <a:solidFill>
                  <a:srgbClr val="006B75"/>
                </a:solidFill>
              </a:rPr>
              <a:t>Protocol + state</a:t>
            </a:r>
          </a:p>
        </p:txBody>
      </p:sp>
      <p:sp>
        <p:nvSpPr>
          <p:cNvPr id="7" name="text">
            <a:extLst xmlns:a="http://schemas.openxmlformats.org/drawingml/2006/main">
              <a:ext uri="{FF2B5EF4-FFF2-40B4-BE49-F238E27FC236}">
                <a16:creationId xmlns:a16="http://schemas.microsoft.com/office/drawing/2014/main" id="{67809EA5-A8A1-48F9-8ABF-7450733B04DD}"/>
              </a:ext>
            </a:extLst>
          </p:cNvPr>
          <p:cNvSpPr>
            <a:spLocks xmlns:a="http://schemas.openxmlformats.org/drawingml/2006/main" noGrp="1"/>
          </p:cNvSpPr>
          <p:nvPr/>
        </p:nvSpPr>
        <p:spPr>
          <a:xfrm xmlns:a="http://schemas.openxmlformats.org/drawingml/2006/main">
            <a:off x="6457950" y="7219950"/>
            <a:ext cx="5362575"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AXI monitors, registers, stack and SVA through bind</a:t>
            </a:r>
          </a:p>
        </p:txBody>
      </p:sp>
      <p:sp>
        <p:nvSpPr>
          <p:cNvPr id="8" name="text">
            <a:extLst xmlns:a="http://schemas.openxmlformats.org/drawingml/2006/main">
              <a:ext uri="{FF2B5EF4-FFF2-40B4-BE49-F238E27FC236}">
                <a16:creationId xmlns:a16="http://schemas.microsoft.com/office/drawing/2014/main" id="{B7BDE303-B808-49E3-B1FC-3D26F8154EBA}"/>
              </a:ext>
            </a:extLst>
          </p:cNvPr>
          <p:cNvSpPr>
            <a:spLocks xmlns:a="http://schemas.openxmlformats.org/drawingml/2006/main" noGrp="1"/>
          </p:cNvSpPr>
          <p:nvPr/>
        </p:nvSpPr>
        <p:spPr>
          <a:xfrm xmlns:a="http://schemas.openxmlformats.org/drawingml/2006/main">
            <a:off x="12344400" y="6543675"/>
            <a:ext cx="5362575"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006B75"/>
                </a:solidFill>
              </a:defRPr>
            </a:pPr>
            <a:r>
              <a:rPr sz="2625" b="1">
                <a:solidFill>
                  <a:srgbClr val="006B75"/>
                </a:solidFill>
              </a:rPr>
              <a:t>Critical cases</a:t>
            </a:r>
          </a:p>
        </p:txBody>
      </p:sp>
      <p:sp>
        <p:nvSpPr>
          <p:cNvPr id="9" name="text">
            <a:extLst xmlns:a="http://schemas.openxmlformats.org/drawingml/2006/main">
              <a:ext uri="{FF2B5EF4-FFF2-40B4-BE49-F238E27FC236}">
                <a16:creationId xmlns:a16="http://schemas.microsoft.com/office/drawing/2014/main" id="{6AF673A1-EA8C-412A-BEFC-47B7CF4501EF}"/>
              </a:ext>
            </a:extLst>
          </p:cNvPr>
          <p:cNvSpPr>
            <a:spLocks xmlns:a="http://schemas.openxmlformats.org/drawingml/2006/main" noGrp="1"/>
          </p:cNvSpPr>
          <p:nvPr/>
        </p:nvSpPr>
        <p:spPr>
          <a:xfrm xmlns:a="http://schemas.openxmlformats.org/drawingml/2006/main">
            <a:off x="12344400" y="7219950"/>
            <a:ext cx="5362575"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edge + claim · nesting · deadline · async reset</a:t>
            </a:r>
          </a:p>
        </p:txBody>
      </p:sp>
      <p:sp>
        <p:nvSpPr>
          <p:cNvPr id="10" name="text">
            <a:extLst xmlns:a="http://schemas.openxmlformats.org/drawingml/2006/main">
              <a:ext uri="{FF2B5EF4-FFF2-40B4-BE49-F238E27FC236}">
                <a16:creationId xmlns:a16="http://schemas.microsoft.com/office/drawing/2014/main" id="{0E8A856B-AE6D-42B8-AE3C-C47D3DC252C8}"/>
              </a:ext>
            </a:extLst>
          </p:cNvPr>
          <p:cNvSpPr>
            <a:spLocks xmlns:a="http://schemas.openxmlformats.org/drawingml/2006/main" noGrp="1"/>
          </p:cNvSpPr>
          <p:nvPr/>
        </p:nvSpPr>
        <p:spPr>
          <a:xfrm xmlns:a="http://schemas.openxmlformats.org/drawingml/2006/main">
            <a:off x="571500" y="8562975"/>
            <a:ext cx="17145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526772"/>
                </a:solidFill>
              </a:defRPr>
            </a:pPr>
            <a:r>
              <a:rPr sz="1800" b="0">
                <a:solidFill>
                  <a:srgbClr val="526772"/>
                </a:solidFill>
              </a:rPr>
              <a:t>ModelSim: 39 CPU/PIC runs   ·   Verilator: 17 benches, 53 runs with assertions</a:t>
            </a:r>
          </a:p>
        </p:txBody>
      </p:sp>
      <p:sp>
        <p:nvSpPr>
          <p:cNvPr id="11" name="footer">
            <a:extLst xmlns:a="http://schemas.openxmlformats.org/drawingml/2006/main">
              <a:ext uri="{FF2B5EF4-FFF2-40B4-BE49-F238E27FC236}">
                <a16:creationId xmlns:a16="http://schemas.microsoft.com/office/drawing/2014/main" id="{B16960EF-F958-4C91-8A5A-2683B81378C9}"/>
              </a:ext>
            </a:extLst>
          </p:cNvPr>
          <p:cNvSpPr>
            <a:spLocks xmlns:a="http://schemas.openxmlformats.org/drawingml/2006/main" noGrp="1"/>
          </p:cNvSpPr>
          <p:nvPr/>
        </p:nvSpPr>
        <p:spPr>
          <a:xfrm xmlns:a="http://schemas.openxmlformats.org/drawingml/2006/main">
            <a:off x="571500" y="9086850"/>
            <a:ext cx="17145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05 / 07   ·   Verification</a:t>
            </a:r>
          </a:p>
        </p:txBody>
      </p:sp>
    </p:spTree>
    <p:extLst>
      <p:ext uri="{BB962C8B-B14F-4D97-AF65-F5344CB8AC3E}">
        <p14:creationId xmlns:p14="http://schemas.microsoft.com/office/powerpoint/2010/main" val="120540973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61B8433E-5981-4E36-8157-B1782B3DD457}"/>
              </a:ext>
            </a:extLst>
          </p:cNvPr>
          <p:cNvSpPr>
            <a:spLocks xmlns:a="http://schemas.openxmlformats.org/drawingml/2006/main" noGrp="1"/>
          </p:cNvSpPr>
          <p:nvPr/>
        </p:nvSpPr>
        <p:spPr>
          <a:xfrm xmlns:a="http://schemas.openxmlformats.org/drawingml/2006/main">
            <a:off x="571500" y="342900"/>
            <a:ext cx="171450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73442"/>
                </a:solidFill>
              </a:defRPr>
            </a:pPr>
            <a:r>
              <a:rPr sz="3900" b="1">
                <a:solidFill>
                  <a:srgbClr val="173442"/>
                </a:solidFill>
              </a:rPr>
              <a:t>Preemption keeps the context; two EOIs close it in order</a:t>
            </a:r>
          </a:p>
        </p:txBody>
      </p:sp>
      <p:sp>
        <p:nvSpPr>
          <p:cNvPr id="2" name="">
            <a:extLst xmlns:a="http://schemas.openxmlformats.org/drawingml/2006/main">
              <a:ext uri="{FF2B5EF4-FFF2-40B4-BE49-F238E27FC236}">
                <a16:creationId xmlns:a16="http://schemas.microsoft.com/office/drawing/2014/main" id="{0BACF396-908F-475B-9510-A01C3D958E94}"/>
              </a:ext>
            </a:extLst>
          </p:cNvPr>
          <p:cNvSpPr>
            <a:spLocks xmlns:a="http://schemas.openxmlformats.org/drawingml/2006/main" noGrp="1"/>
          </p:cNvSpPr>
          <p:nvPr/>
        </p:nvSpPr>
        <p:spPr>
          <a:xfrm xmlns:a="http://schemas.openxmlformats.org/drawingml/2006/main">
            <a:off x="571500" y="125730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pic>
        <p:nvPicPr>
          <p:cNvPr id="3" name="asset-waves/pic_nesting"/>
          <p:cNvPicPr>
            <a:picLocks xmlns:a="http://schemas.openxmlformats.org/drawingml/2006/main" noChangeAspect="1"/>
          </p:cNvPicPr>
          <p:nvPr/>
        </p:nvPicPr>
        <p:blipFill>
          <a:blip xmlns:r="http://schemas.openxmlformats.org/officeDocument/2006/relationships" xmlns:a="http://schemas.openxmlformats.org/drawingml/2006/main" r:embed="R0935a1c42ede4977">
            <a:extLst>
              <a:ext uri="{96DAC541-7B7A-43D3-8B79-37D633B846F1}">
                <asvg:svgBlip xmlns:asvg="http://schemas.microsoft.com/office/drawing/2016/SVG/main" r:embed="R5b1b5666a8894955"/>
              </a:ext>
            </a:extLst>
          </a:blip>
          <a:stretch xmlns:a="http://schemas.openxmlformats.org/drawingml/2006/main"/>
        </p:blipFill>
        <p:spPr>
          <a:xfrm xmlns:a="http://schemas.openxmlformats.org/drawingml/2006/main">
            <a:off x="1863006" y="1428750"/>
            <a:ext cx="14561988" cy="567690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09913977-80B3-4A29-A48D-4E560FAC7DF4}"/>
              </a:ext>
            </a:extLst>
          </p:cNvPr>
          <p:cNvSpPr>
            <a:spLocks xmlns:a="http://schemas.openxmlformats.org/drawingml/2006/main" noGrp="1"/>
          </p:cNvSpPr>
          <p:nvPr/>
        </p:nvSpPr>
        <p:spPr>
          <a:xfrm xmlns:a="http://schemas.openxmlformats.org/drawingml/2006/main">
            <a:off x="571500" y="7172325"/>
            <a:ext cx="411480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A35B17"/>
                </a:solidFill>
              </a:defRPr>
            </a:pPr>
            <a:r>
              <a:rPr sz="2325" b="1">
                <a:solidFill>
                  <a:srgbClr val="A35B17"/>
                </a:solidFill>
              </a:rPr>
              <a:t>1 · Claim 8</a:t>
            </a:r>
          </a:p>
        </p:txBody>
      </p:sp>
      <p:sp>
        <p:nvSpPr>
          <p:cNvPr id="5" name="text">
            <a:extLst xmlns:a="http://schemas.openxmlformats.org/drawingml/2006/main">
              <a:ext uri="{FF2B5EF4-FFF2-40B4-BE49-F238E27FC236}">
                <a16:creationId xmlns:a16="http://schemas.microsoft.com/office/drawing/2014/main" id="{88C22037-E420-468F-9B0B-DAFFF31394F1}"/>
              </a:ext>
            </a:extLst>
          </p:cNvPr>
          <p:cNvSpPr>
            <a:spLocks xmlns:a="http://schemas.openxmlformats.org/drawingml/2006/main" noGrp="1"/>
          </p:cNvSpPr>
          <p:nvPr/>
        </p:nvSpPr>
        <p:spPr>
          <a:xfrm xmlns:a="http://schemas.openxmlformats.org/drawingml/2006/main">
            <a:off x="571500" y="7743825"/>
            <a:ext cx="41148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depth 1 · active 0x100</a:t>
            </a:r>
          </a:p>
        </p:txBody>
      </p:sp>
      <p:sp>
        <p:nvSpPr>
          <p:cNvPr id="6" name="text">
            <a:extLst xmlns:a="http://schemas.openxmlformats.org/drawingml/2006/main">
              <a:ext uri="{FF2B5EF4-FFF2-40B4-BE49-F238E27FC236}">
                <a16:creationId xmlns:a16="http://schemas.microsoft.com/office/drawing/2014/main" id="{7541F69F-DE6F-47C9-B40A-42F8A19B33AA}"/>
              </a:ext>
            </a:extLst>
          </p:cNvPr>
          <p:cNvSpPr>
            <a:spLocks xmlns:a="http://schemas.openxmlformats.org/drawingml/2006/main" noGrp="1"/>
          </p:cNvSpPr>
          <p:nvPr/>
        </p:nvSpPr>
        <p:spPr>
          <a:xfrm xmlns:a="http://schemas.openxmlformats.org/drawingml/2006/main">
            <a:off x="4914900" y="7172325"/>
            <a:ext cx="411480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A35B17"/>
                </a:solidFill>
              </a:defRPr>
            </a:pPr>
            <a:r>
              <a:rPr sz="2325" b="1">
                <a:solidFill>
                  <a:srgbClr val="A35B17"/>
                </a:solidFill>
              </a:rPr>
              <a:t>2 · Claim 9</a:t>
            </a:r>
          </a:p>
        </p:txBody>
      </p:sp>
      <p:sp>
        <p:nvSpPr>
          <p:cNvPr id="7" name="text">
            <a:extLst xmlns:a="http://schemas.openxmlformats.org/drawingml/2006/main">
              <a:ext uri="{FF2B5EF4-FFF2-40B4-BE49-F238E27FC236}">
                <a16:creationId xmlns:a16="http://schemas.microsoft.com/office/drawing/2014/main" id="{D04EF5BE-B21C-42E6-AEE0-F7807951ECDD}"/>
              </a:ext>
            </a:extLst>
          </p:cNvPr>
          <p:cNvSpPr>
            <a:spLocks xmlns:a="http://schemas.openxmlformats.org/drawingml/2006/main" noGrp="1"/>
          </p:cNvSpPr>
          <p:nvPr/>
        </p:nvSpPr>
        <p:spPr>
          <a:xfrm xmlns:a="http://schemas.openxmlformats.org/drawingml/2006/main">
            <a:off x="4914900" y="7743825"/>
            <a:ext cx="41148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depth 2 · active 0x300</a:t>
            </a:r>
          </a:p>
        </p:txBody>
      </p:sp>
      <p:sp>
        <p:nvSpPr>
          <p:cNvPr id="8" name="text">
            <a:extLst xmlns:a="http://schemas.openxmlformats.org/drawingml/2006/main">
              <a:ext uri="{FF2B5EF4-FFF2-40B4-BE49-F238E27FC236}">
                <a16:creationId xmlns:a16="http://schemas.microsoft.com/office/drawing/2014/main" id="{6C6AA723-551F-4236-B089-38C39253F682}"/>
              </a:ext>
            </a:extLst>
          </p:cNvPr>
          <p:cNvSpPr>
            <a:spLocks xmlns:a="http://schemas.openxmlformats.org/drawingml/2006/main" noGrp="1"/>
          </p:cNvSpPr>
          <p:nvPr/>
        </p:nvSpPr>
        <p:spPr>
          <a:xfrm xmlns:a="http://schemas.openxmlformats.org/drawingml/2006/main">
            <a:off x="9258300" y="7172325"/>
            <a:ext cx="411480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A35B17"/>
                </a:solidFill>
              </a:defRPr>
            </a:pPr>
            <a:r>
              <a:rPr sz="2325" b="1">
                <a:solidFill>
                  <a:srgbClr val="A35B17"/>
                </a:solidFill>
              </a:rPr>
              <a:t>3 · Inner EOI</a:t>
            </a:r>
          </a:p>
        </p:txBody>
      </p:sp>
      <p:sp>
        <p:nvSpPr>
          <p:cNvPr id="9" name="text">
            <a:extLst xmlns:a="http://schemas.openxmlformats.org/drawingml/2006/main">
              <a:ext uri="{FF2B5EF4-FFF2-40B4-BE49-F238E27FC236}">
                <a16:creationId xmlns:a16="http://schemas.microsoft.com/office/drawing/2014/main" id="{15DFD754-001C-4224-AA89-6D3B7E889432}"/>
              </a:ext>
            </a:extLst>
          </p:cNvPr>
          <p:cNvSpPr>
            <a:spLocks xmlns:a="http://schemas.openxmlformats.org/drawingml/2006/main" noGrp="1"/>
          </p:cNvSpPr>
          <p:nvPr/>
        </p:nvSpPr>
        <p:spPr>
          <a:xfrm xmlns:a="http://schemas.openxmlformats.org/drawingml/2006/main">
            <a:off x="9258300" y="7743825"/>
            <a:ext cx="41148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depth 1 · source 8 stays active</a:t>
            </a:r>
          </a:p>
        </p:txBody>
      </p:sp>
      <p:sp>
        <p:nvSpPr>
          <p:cNvPr id="10" name="text">
            <a:extLst xmlns:a="http://schemas.openxmlformats.org/drawingml/2006/main">
              <a:ext uri="{FF2B5EF4-FFF2-40B4-BE49-F238E27FC236}">
                <a16:creationId xmlns:a16="http://schemas.microsoft.com/office/drawing/2014/main" id="{C3CB6EFC-8F96-40B4-B7C6-4297871CB070}"/>
              </a:ext>
            </a:extLst>
          </p:cNvPr>
          <p:cNvSpPr>
            <a:spLocks xmlns:a="http://schemas.openxmlformats.org/drawingml/2006/main" noGrp="1"/>
          </p:cNvSpPr>
          <p:nvPr/>
        </p:nvSpPr>
        <p:spPr>
          <a:xfrm xmlns:a="http://schemas.openxmlformats.org/drawingml/2006/main">
            <a:off x="13601700" y="7172325"/>
            <a:ext cx="411480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A35B17"/>
                </a:solidFill>
              </a:defRPr>
            </a:pPr>
            <a:r>
              <a:rPr sz="2325" b="1">
                <a:solidFill>
                  <a:srgbClr val="A35B17"/>
                </a:solidFill>
              </a:rPr>
              <a:t>4 · Outer EOI</a:t>
            </a:r>
          </a:p>
        </p:txBody>
      </p:sp>
      <p:sp>
        <p:nvSpPr>
          <p:cNvPr id="11" name="text">
            <a:extLst xmlns:a="http://schemas.openxmlformats.org/drawingml/2006/main">
              <a:ext uri="{FF2B5EF4-FFF2-40B4-BE49-F238E27FC236}">
                <a16:creationId xmlns:a16="http://schemas.microsoft.com/office/drawing/2014/main" id="{3A812575-CD80-4A9B-A8B5-0FD97FA8EBF3}"/>
              </a:ext>
            </a:extLst>
          </p:cNvPr>
          <p:cNvSpPr>
            <a:spLocks xmlns:a="http://schemas.openxmlformats.org/drawingml/2006/main" noGrp="1"/>
          </p:cNvSpPr>
          <p:nvPr/>
        </p:nvSpPr>
        <p:spPr>
          <a:xfrm xmlns:a="http://schemas.openxmlformats.org/drawingml/2006/main">
            <a:off x="13601700" y="7743825"/>
            <a:ext cx="411480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depth 0 · active 0</a:t>
            </a:r>
          </a:p>
        </p:txBody>
      </p:sp>
      <p:sp>
        <p:nvSpPr>
          <p:cNvPr id="12" name="text">
            <a:extLst xmlns:a="http://schemas.openxmlformats.org/drawingml/2006/main">
              <a:ext uri="{FF2B5EF4-FFF2-40B4-BE49-F238E27FC236}">
                <a16:creationId xmlns:a16="http://schemas.microsoft.com/office/drawing/2014/main" id="{74AEFD99-A2E7-4CC2-A28F-ACB88ED63C2D}"/>
              </a:ext>
            </a:extLst>
          </p:cNvPr>
          <p:cNvSpPr>
            <a:spLocks xmlns:a="http://schemas.openxmlformats.org/drawingml/2006/main" noGrp="1"/>
          </p:cNvSpPr>
          <p:nvPr/>
        </p:nvSpPr>
        <p:spPr>
          <a:xfrm xmlns:a="http://schemas.openxmlformats.org/drawingml/2006/main">
            <a:off x="571500" y="8572500"/>
            <a:ext cx="171450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526772"/>
                </a:solidFill>
              </a:defRPr>
            </a:pPr>
            <a:r>
              <a:rPr sz="1725" b="0">
                <a:solidFill>
                  <a:srgbClr val="526772"/>
                </a:solidFill>
              </a:rPr>
              <a:t>Bus values are hexadecimal; the offered vector is valid while IRQ = 1.</a:t>
            </a:r>
          </a:p>
        </p:txBody>
      </p:sp>
      <p:sp>
        <p:nvSpPr>
          <p:cNvPr id="13" name="footer">
            <a:extLst xmlns:a="http://schemas.openxmlformats.org/drawingml/2006/main">
              <a:ext uri="{FF2B5EF4-FFF2-40B4-BE49-F238E27FC236}">
                <a16:creationId xmlns:a16="http://schemas.microsoft.com/office/drawing/2014/main" id="{A041C404-9003-4F9E-B292-4646F3454383}"/>
              </a:ext>
            </a:extLst>
          </p:cNvPr>
          <p:cNvSpPr>
            <a:spLocks xmlns:a="http://schemas.openxmlformats.org/drawingml/2006/main" noGrp="1"/>
          </p:cNvSpPr>
          <p:nvPr/>
        </p:nvSpPr>
        <p:spPr>
          <a:xfrm xmlns:a="http://schemas.openxmlformats.org/drawingml/2006/main">
            <a:off x="571500" y="9086850"/>
            <a:ext cx="17145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06 / 07   ·   Critical scenario</a:t>
            </a:r>
          </a:p>
        </p:txBody>
      </p:sp>
    </p:spTree>
    <p:extLst>
      <p:ext uri="{BB962C8B-B14F-4D97-AF65-F5344CB8AC3E}">
        <p14:creationId xmlns:p14="http://schemas.microsoft.com/office/powerpoint/2010/main" val="56135494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2644DCBA-5E77-4154-A492-5B1E2EEC3A94}"/>
              </a:ext>
            </a:extLst>
          </p:cNvPr>
          <p:cNvSpPr>
            <a:spLocks xmlns:a="http://schemas.openxmlformats.org/drawingml/2006/main" noGrp="1"/>
          </p:cNvSpPr>
          <p:nvPr/>
        </p:nvSpPr>
        <p:spPr>
          <a:xfrm xmlns:a="http://schemas.openxmlformats.org/drawingml/2006/main">
            <a:off x="571500" y="342900"/>
            <a:ext cx="171450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73442"/>
                </a:solidFill>
              </a:defRPr>
            </a:pPr>
            <a:r>
              <a:rPr sz="3900" b="1">
                <a:solidFill>
                  <a:srgbClr val="173442"/>
                </a:solidFill>
              </a:rPr>
              <a:t>Result: configurable arbitration with verified preemption</a:t>
            </a:r>
          </a:p>
        </p:txBody>
      </p:sp>
      <p:sp>
        <p:nvSpPr>
          <p:cNvPr id="2" name="">
            <a:extLst xmlns:a="http://schemas.openxmlformats.org/drawingml/2006/main">
              <a:ext uri="{FF2B5EF4-FFF2-40B4-BE49-F238E27FC236}">
                <a16:creationId xmlns:a16="http://schemas.microsoft.com/office/drawing/2014/main" id="{72F9B693-19B7-4FC0-A144-8BE0A2DB35EF}"/>
              </a:ext>
            </a:extLst>
          </p:cNvPr>
          <p:cNvSpPr>
            <a:spLocks xmlns:a="http://schemas.openxmlformats.org/drawingml/2006/main" noGrp="1"/>
          </p:cNvSpPr>
          <p:nvPr/>
        </p:nvSpPr>
        <p:spPr>
          <a:xfrm xmlns:a="http://schemas.openxmlformats.org/drawingml/2006/main">
            <a:off x="571500" y="125730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text">
            <a:extLst xmlns:a="http://schemas.openxmlformats.org/drawingml/2006/main">
              <a:ext uri="{FF2B5EF4-FFF2-40B4-BE49-F238E27FC236}">
                <a16:creationId xmlns:a16="http://schemas.microsoft.com/office/drawing/2014/main" id="{4DA93F08-33C5-4D35-94E0-CF5DACA3A912}"/>
              </a:ext>
            </a:extLst>
          </p:cNvPr>
          <p:cNvSpPr>
            <a:spLocks xmlns:a="http://schemas.openxmlformats.org/drawingml/2006/main" noGrp="1"/>
          </p:cNvSpPr>
          <p:nvPr/>
        </p:nvSpPr>
        <p:spPr>
          <a:xfrm xmlns:a="http://schemas.openxmlformats.org/drawingml/2006/main">
            <a:off x="571500" y="1428750"/>
            <a:ext cx="809625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006B75"/>
                </a:solidFill>
              </a:defRPr>
            </a:pPr>
            <a:r>
              <a:rPr sz="2250" b="1">
                <a:solidFill>
                  <a:srgbClr val="006B75"/>
                </a:solidFill>
              </a:rPr>
              <a:t>WHAT I BUILT</a:t>
            </a:r>
          </a:p>
        </p:txBody>
      </p:sp>
      <p:sp>
        <p:nvSpPr>
          <p:cNvPr id="4" name="text">
            <a:extLst xmlns:a="http://schemas.openxmlformats.org/drawingml/2006/main">
              <a:ext uri="{FF2B5EF4-FFF2-40B4-BE49-F238E27FC236}">
                <a16:creationId xmlns:a16="http://schemas.microsoft.com/office/drawing/2014/main" id="{286A5236-FF4D-4B36-8ED3-95379F18AEF1}"/>
              </a:ext>
            </a:extLst>
          </p:cNvPr>
          <p:cNvSpPr>
            <a:spLocks xmlns:a="http://schemas.openxmlformats.org/drawingml/2006/main" noGrp="1"/>
          </p:cNvSpPr>
          <p:nvPr/>
        </p:nvSpPr>
        <p:spPr>
          <a:xfrm xmlns:a="http://schemas.openxmlformats.org/drawingml/2006/main">
            <a:off x="571500" y="2276475"/>
            <a:ext cx="8096250" cy="1381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1.  Banded priority, nesting and deadlines, all configurable</a:t>
            </a:r>
          </a:p>
        </p:txBody>
      </p:sp>
      <p:sp>
        <p:nvSpPr>
          <p:cNvPr id="5" name="text">
            <a:extLst xmlns:a="http://schemas.openxmlformats.org/drawingml/2006/main">
              <a:ext uri="{FF2B5EF4-FFF2-40B4-BE49-F238E27FC236}">
                <a16:creationId xmlns:a16="http://schemas.microsoft.com/office/drawing/2014/main" id="{7CC4C0A2-0620-4572-8BB1-872753E43F77}"/>
              </a:ext>
            </a:extLst>
          </p:cNvPr>
          <p:cNvSpPr>
            <a:spLocks xmlns:a="http://schemas.openxmlformats.org/drawingml/2006/main" noGrp="1"/>
          </p:cNvSpPr>
          <p:nvPr/>
        </p:nvSpPr>
        <p:spPr>
          <a:xfrm xmlns:a="http://schemas.openxmlformats.org/drawingml/2006/main">
            <a:off x="571500" y="3790950"/>
            <a:ext cx="8096250" cy="1381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2.  Registers and CPU handshake integrated with arbitration</a:t>
            </a:r>
          </a:p>
        </p:txBody>
      </p:sp>
      <p:sp>
        <p:nvSpPr>
          <p:cNvPr id="6" name="text">
            <a:extLst xmlns:a="http://schemas.openxmlformats.org/drawingml/2006/main">
              <a:ext uri="{FF2B5EF4-FFF2-40B4-BE49-F238E27FC236}">
                <a16:creationId xmlns:a16="http://schemas.microsoft.com/office/drawing/2014/main" id="{CA0B70B0-19B4-4DE8-9DF2-4CB59B536BB4}"/>
              </a:ext>
            </a:extLst>
          </p:cNvPr>
          <p:cNvSpPr>
            <a:spLocks xmlns:a="http://schemas.openxmlformats.org/drawingml/2006/main" noGrp="1"/>
          </p:cNvSpPr>
          <p:nvPr/>
        </p:nvSpPr>
        <p:spPr>
          <a:xfrm xmlns:a="http://schemas.openxmlformats.org/drawingml/2006/main">
            <a:off x="571500" y="5305425"/>
            <a:ext cx="8096250" cy="1381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3.  Policy checked independently and in concurrent tests</a:t>
            </a:r>
          </a:p>
        </p:txBody>
      </p:sp>
      <p:sp>
        <p:nvSpPr>
          <p:cNvPr id="7" name="text">
            <a:extLst xmlns:a="http://schemas.openxmlformats.org/drawingml/2006/main">
              <a:ext uri="{FF2B5EF4-FFF2-40B4-BE49-F238E27FC236}">
                <a16:creationId xmlns:a16="http://schemas.microsoft.com/office/drawing/2014/main" id="{0006ED13-D715-498E-965E-6EF473A47D5A}"/>
              </a:ext>
            </a:extLst>
          </p:cNvPr>
          <p:cNvSpPr>
            <a:spLocks xmlns:a="http://schemas.openxmlformats.org/drawingml/2006/main" noGrp="1"/>
          </p:cNvSpPr>
          <p:nvPr/>
        </p:nvSpPr>
        <p:spPr>
          <a:xfrm xmlns:a="http://schemas.openxmlformats.org/drawingml/2006/main">
            <a:off x="9620250" y="1428750"/>
            <a:ext cx="809625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006B75"/>
                </a:solidFill>
              </a:defRPr>
            </a:pPr>
            <a:r>
              <a:rPr sz="2250" b="1">
                <a:solidFill>
                  <a:srgbClr val="006B75"/>
                </a:solidFill>
              </a:rPr>
              <a:t>WHAT I LEARNED</a:t>
            </a:r>
          </a:p>
        </p:txBody>
      </p:sp>
      <p:sp>
        <p:nvSpPr>
          <p:cNvPr id="8" name="text">
            <a:extLst xmlns:a="http://schemas.openxmlformats.org/drawingml/2006/main">
              <a:ext uri="{FF2B5EF4-FFF2-40B4-BE49-F238E27FC236}">
                <a16:creationId xmlns:a16="http://schemas.microsoft.com/office/drawing/2014/main" id="{490ACA76-5A8F-4AA1-B44F-EBF19DB27B19}"/>
              </a:ext>
            </a:extLst>
          </p:cNvPr>
          <p:cNvSpPr>
            <a:spLocks xmlns:a="http://schemas.openxmlformats.org/drawingml/2006/main" noGrp="1"/>
          </p:cNvSpPr>
          <p:nvPr/>
        </p:nvSpPr>
        <p:spPr>
          <a:xfrm xmlns:a="http://schemas.openxmlformats.org/drawingml/2006/main">
            <a:off x="9620250" y="2276475"/>
            <a:ext cx="8096250" cy="1381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I defined tie cases and the priority of simultaneous events.</a:t>
            </a:r>
          </a:p>
        </p:txBody>
      </p:sp>
      <p:sp>
        <p:nvSpPr>
          <p:cNvPr id="9" name="text">
            <a:extLst xmlns:a="http://schemas.openxmlformats.org/drawingml/2006/main">
              <a:ext uri="{FF2B5EF4-FFF2-40B4-BE49-F238E27FC236}">
                <a16:creationId xmlns:a16="http://schemas.microsoft.com/office/drawing/2014/main" id="{7D85BB14-B835-4B64-88FD-EF92938EFA7C}"/>
              </a:ext>
            </a:extLst>
          </p:cNvPr>
          <p:cNvSpPr>
            <a:spLocks xmlns:a="http://schemas.openxmlformats.org/drawingml/2006/main" noGrp="1"/>
          </p:cNvSpPr>
          <p:nvPr/>
        </p:nvSpPr>
        <p:spPr>
          <a:xfrm xmlns:a="http://schemas.openxmlformats.org/drawingml/2006/main">
            <a:off x="9620250" y="3790950"/>
            <a:ext cx="8096250" cy="1381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I tracked the saved context, not only the winning vector.</a:t>
            </a:r>
          </a:p>
        </p:txBody>
      </p:sp>
      <p:sp>
        <p:nvSpPr>
          <p:cNvPr id="10" name="text">
            <a:extLst xmlns:a="http://schemas.openxmlformats.org/drawingml/2006/main">
              <a:ext uri="{FF2B5EF4-FFF2-40B4-BE49-F238E27FC236}">
                <a16:creationId xmlns:a16="http://schemas.microsoft.com/office/drawing/2014/main" id="{B91B4D19-AD24-4AEC-919F-119420895391}"/>
              </a:ext>
            </a:extLst>
          </p:cNvPr>
          <p:cNvSpPr>
            <a:spLocks xmlns:a="http://schemas.openxmlformats.org/drawingml/2006/main" noGrp="1"/>
          </p:cNvSpPr>
          <p:nvPr/>
        </p:nvSpPr>
        <p:spPr>
          <a:xfrm xmlns:a="http://schemas.openxmlformats.org/drawingml/2006/main">
            <a:off x="9620250" y="5305425"/>
            <a:ext cx="8096250" cy="1381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0">
                <a:solidFill>
                  <a:srgbClr val="173442"/>
                </a:solidFill>
              </a:defRPr>
            </a:pPr>
            <a:r>
              <a:rPr sz="2475" b="0">
                <a:solidFill>
                  <a:srgbClr val="173442"/>
                </a:solidFill>
              </a:rPr>
              <a:t>I checked arbitration against a model independent of the RTL.</a:t>
            </a:r>
          </a:p>
        </p:txBody>
      </p:sp>
      <p:sp>
        <p:nvSpPr>
          <p:cNvPr id="11" name="">
            <a:extLst xmlns:a="http://schemas.openxmlformats.org/drawingml/2006/main">
              <a:ext uri="{FF2B5EF4-FFF2-40B4-BE49-F238E27FC236}">
                <a16:creationId xmlns:a16="http://schemas.microsoft.com/office/drawing/2014/main" id="{3B1D235D-A0DF-4321-A250-0ABE474F82F4}"/>
              </a:ext>
            </a:extLst>
          </p:cNvPr>
          <p:cNvSpPr>
            <a:spLocks xmlns:a="http://schemas.openxmlformats.org/drawingml/2006/main" noGrp="1"/>
          </p:cNvSpPr>
          <p:nvPr/>
        </p:nvSpPr>
        <p:spPr>
          <a:xfrm xmlns:a="http://schemas.openxmlformats.org/drawingml/2006/main">
            <a:off x="571500" y="7477125"/>
            <a:ext cx="17145000" cy="19050"/>
          </a:xfrm>
          <a:prstGeom xmlns:a="http://schemas.openxmlformats.org/drawingml/2006/main" prst="rect">
            <a:avLst/>
          </a:prstGeom>
          <a:solidFill xmlns:a="http://schemas.openxmlformats.org/drawingml/2006/main">
            <a:srgbClr val="D7E1E4"/>
          </a:solidFill>
          <a:ln xmlns:a="http://schemas.openxmlformats.org/drawingml/2006/main" w="0">
            <a:solidFill>
              <a:srgbClr val="D7E1E4"/>
            </a:solidFill>
            <a:prstDash val="solid"/>
          </a:ln>
        </p:spPr>
      </p:sp>
      <p:sp>
        <p:nvSpPr>
          <p:cNvPr id="12" name="text">
            <a:extLst xmlns:a="http://schemas.openxmlformats.org/drawingml/2006/main">
              <a:ext uri="{FF2B5EF4-FFF2-40B4-BE49-F238E27FC236}">
                <a16:creationId xmlns:a16="http://schemas.microsoft.com/office/drawing/2014/main" id="{0C820901-AD20-4847-AD1E-B9386E39D392}"/>
              </a:ext>
            </a:extLst>
          </p:cNvPr>
          <p:cNvSpPr>
            <a:spLocks xmlns:a="http://schemas.openxmlformats.org/drawingml/2006/main" noGrp="1"/>
          </p:cNvSpPr>
          <p:nvPr/>
        </p:nvSpPr>
        <p:spPr>
          <a:xfrm xmlns:a="http://schemas.openxmlformats.org/drawingml/2006/main">
            <a:off x="571500" y="7734300"/>
            <a:ext cx="17145000" cy="857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006B75"/>
                </a:solidFill>
              </a:defRPr>
            </a:pPr>
            <a:r>
              <a:rPr sz="2325" b="1">
                <a:solidFill>
                  <a:srgbClr val="006B75"/>
                </a:solidFill>
              </a:rPr>
              <a:t>My contribution: design decisions → RTL → integration → verification</a:t>
            </a:r>
          </a:p>
        </p:txBody>
      </p:sp>
      <p:sp>
        <p:nvSpPr>
          <p:cNvPr id="13" name="footer">
            <a:extLst xmlns:a="http://schemas.openxmlformats.org/drawingml/2006/main">
              <a:ext uri="{FF2B5EF4-FFF2-40B4-BE49-F238E27FC236}">
                <a16:creationId xmlns:a16="http://schemas.microsoft.com/office/drawing/2014/main" id="{7949385D-2C42-469F-B5E5-138AE976DEB3}"/>
              </a:ext>
            </a:extLst>
          </p:cNvPr>
          <p:cNvSpPr>
            <a:spLocks xmlns:a="http://schemas.openxmlformats.org/drawingml/2006/main" noGrp="1"/>
          </p:cNvSpPr>
          <p:nvPr/>
        </p:nvSpPr>
        <p:spPr>
          <a:xfrm xmlns:a="http://schemas.openxmlformats.org/drawingml/2006/main">
            <a:off x="571500" y="9086850"/>
            <a:ext cx="17145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07 / 07   ·   Conclusions</a:t>
            </a:r>
          </a:p>
        </p:txBody>
      </p:sp>
    </p:spTree>
    <p:extLst>
      <p:ext uri="{BB962C8B-B14F-4D97-AF65-F5344CB8AC3E}">
        <p14:creationId xmlns:p14="http://schemas.microsoft.com/office/powerpoint/2010/main" val="5922530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2026-09-23T19:42:21.9790000Z</dcterms:created>
  <dcterms:modified xsi:type="dcterms:W3CDTF">2026-09-23T19:42:21.9790000Z</dcterms:modified>
</coreProperties>
</file>