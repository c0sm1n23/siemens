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c211708701e4d0f" /><Relationship Type="http://schemas.openxmlformats.org/officeDocument/2006/relationships/extended-properties" Target="/docProps/app.xml" Id="R2a31b1b5d01a493b" /><Relationship Type="http://schemas.openxmlformats.org/officeDocument/2006/relationships/officeDocument" Target="/ppt/presentation.xml" Id="R0f5530e3d37f4397" /></Relationships>
</file>

<file path=ppt/presentation.xml><?xml version="1.0" encoding="utf-8"?>
<p:presentation xmlns:p="http://schemas.openxmlformats.org/presentationml/2006/main">
  <p:sldMasterIdLst>
    <p:sldMasterId xmlns:r="http://schemas.openxmlformats.org/officeDocument/2006/relationships" id="2147483648" r:id="R525060b27a964379"/>
  </p:sldMasterIdLst>
  <p:notesMasterIdLst>
    <p:notesMasterId xmlns:r="http://schemas.openxmlformats.org/officeDocument/2006/relationships" r:id="R9abe9b31cd894398"/>
  </p:notesMasterIdLst>
  <p:sldIdLst>
    <p:sldId xmlns:r="http://schemas.openxmlformats.org/officeDocument/2006/relationships" id="256" r:id="R052b45bf4d694f3c"/>
    <p:sldId xmlns:r="http://schemas.openxmlformats.org/officeDocument/2006/relationships" id="257" r:id="R92799a93d2504e51"/>
    <p:sldId xmlns:r="http://schemas.openxmlformats.org/officeDocument/2006/relationships" id="258" r:id="R828d14db293d4c9d"/>
    <p:sldId xmlns:r="http://schemas.openxmlformats.org/officeDocument/2006/relationships" id="259" r:id="R9ed133a6037446de"/>
    <p:sldId xmlns:r="http://schemas.openxmlformats.org/officeDocument/2006/relationships" id="260" r:id="R60e765a5d33a4239"/>
    <p:sldId xmlns:r="http://schemas.openxmlformats.org/officeDocument/2006/relationships" id="261" r:id="R41fb708e671b400b"/>
    <p:sldId xmlns:r="http://schemas.openxmlformats.org/officeDocument/2006/relationships" id="262" r:id="R8318b1c915914773"/>
    <p:sldId xmlns:r="http://schemas.openxmlformats.org/officeDocument/2006/relationships" id="263" r:id="R21405051fa55426e"/>
  </p:sldIdLst>
  <p:sldSz cx="18288000" cy="10287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525060b27a964379" /><Relationship Type="http://schemas.openxmlformats.org/officeDocument/2006/relationships/theme" Target="/ppt/theme/theme1.xml" Id="R4078ef9f8df84b4e" /><Relationship Type="http://schemas.openxmlformats.org/officeDocument/2006/relationships/notesMaster" Target="/ppt/notesMasters/notesMaster1.xml" Id="R9abe9b31cd894398" /><Relationship Type="http://schemas.openxmlformats.org/officeDocument/2006/relationships/presProps" Target="/ppt/presProps.xml" Id="Rb5e441296dbe4fe4" /><Relationship Type="http://schemas.openxmlformats.org/officeDocument/2006/relationships/viewProps" Target="/ppt/viewProps.xml" Id="R18a742f314f84394" /><Relationship Type="http://schemas.openxmlformats.org/officeDocument/2006/relationships/tableStyles" Target="/ppt/tableStyles.xml" Id="R5698de33eb7e4f21" /><Relationship Type="http://schemas.openxmlformats.org/officeDocument/2006/relationships/slide" Target="/ppt/slides/slide1.xml" Id="R052b45bf4d694f3c" /><Relationship Type="http://schemas.openxmlformats.org/officeDocument/2006/relationships/slide" Target="/ppt/slides/slide2.xml" Id="R92799a93d2504e51" /><Relationship Type="http://schemas.openxmlformats.org/officeDocument/2006/relationships/slide" Target="/ppt/slides/slide3.xml" Id="R828d14db293d4c9d" /><Relationship Type="http://schemas.openxmlformats.org/officeDocument/2006/relationships/slide" Target="/ppt/slides/slide4.xml" Id="R9ed133a6037446de" /><Relationship Type="http://schemas.openxmlformats.org/officeDocument/2006/relationships/slide" Target="/ppt/slides/slide5.xml" Id="R60e765a5d33a4239" /><Relationship Type="http://schemas.openxmlformats.org/officeDocument/2006/relationships/slide" Target="/ppt/slides/slide6.xml" Id="R41fb708e671b400b" /><Relationship Type="http://schemas.openxmlformats.org/officeDocument/2006/relationships/slide" Target="/ppt/slides/slide7.xml" Id="R8318b1c915914773" /><Relationship Type="http://schemas.openxmlformats.org/officeDocument/2006/relationships/slide" Target="/ppt/slides/slide8.xml" Id="R21405051fa55426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efd9d5c35ba0434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9579e653bf418b" /><Relationship Type="http://schemas.openxmlformats.org/officeDocument/2006/relationships/notesMaster" Target="/ppt/notesMasters/notesMaster1.xml" Id="Re4b04444280d45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e9170f9fc645448a" /><Relationship Type="http://schemas.openxmlformats.org/officeDocument/2006/relationships/notesMaster" Target="/ppt/notesMasters/notesMaster1.xml" Id="Rf9207506483343a5"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62bee06d484092" /><Relationship Type="http://schemas.openxmlformats.org/officeDocument/2006/relationships/notesMaster" Target="/ppt/notesMasters/notesMaster1.xml" Id="R9c966906cbc6424f" /></Relationships>
</file>

<file path=ppt/notesSlides/_rels/notesSlide4.xml.rels>&#65279;<?xml version="1.0" encoding="utf-8"?><Relationships xmlns="http://schemas.openxmlformats.org/package/2006/relationships"><Relationship Type="http://schemas.openxmlformats.org/officeDocument/2006/relationships/slide" Target="/ppt/slides/slide4.xml" Id="R1cac37a70eed43fd" /><Relationship Type="http://schemas.openxmlformats.org/officeDocument/2006/relationships/notesMaster" Target="/ppt/notesMasters/notesMaster1.xml" Id="R6c4059c65286407b" /></Relationships>
</file>

<file path=ppt/notesSlides/_rels/notesSlide5.xml.rels>&#65279;<?xml version="1.0" encoding="utf-8"?><Relationships xmlns="http://schemas.openxmlformats.org/package/2006/relationships"><Relationship Type="http://schemas.openxmlformats.org/officeDocument/2006/relationships/slide" Target="/ppt/slides/slide5.xml" Id="R2833e722ead740bd" /><Relationship Type="http://schemas.openxmlformats.org/officeDocument/2006/relationships/notesMaster" Target="/ppt/notesMasters/notesMaster1.xml" Id="R8acde53627c04df8" /></Relationships>
</file>

<file path=ppt/notesSlides/_rels/notesSlide6.xml.rels>&#65279;<?xml version="1.0" encoding="utf-8"?><Relationships xmlns="http://schemas.openxmlformats.org/package/2006/relationships"><Relationship Type="http://schemas.openxmlformats.org/officeDocument/2006/relationships/slide" Target="/ppt/slides/slide6.xml" Id="R0d4e7bfc71eb4b75" /><Relationship Type="http://schemas.openxmlformats.org/officeDocument/2006/relationships/notesMaster" Target="/ppt/notesMasters/notesMaster1.xml" Id="Rec2073b8a9424682" /></Relationships>
</file>

<file path=ppt/notesSlides/_rels/notesSlide7.xml.rels>&#65279;<?xml version="1.0" encoding="utf-8"?><Relationships xmlns="http://schemas.openxmlformats.org/package/2006/relationships"><Relationship Type="http://schemas.openxmlformats.org/officeDocument/2006/relationships/slide" Target="/ppt/slides/slide7.xml" Id="R356fcb7349bd4c8b" /><Relationship Type="http://schemas.openxmlformats.org/officeDocument/2006/relationships/notesMaster" Target="/ppt/notesMasters/notesMaster1.xml" Id="Rfcd6157daa8745ad" /></Relationships>
</file>

<file path=ppt/notesSlides/_rels/notesSlide8.xml.rels>&#65279;<?xml version="1.0" encoding="utf-8"?><Relationships xmlns="http://schemas.openxmlformats.org/package/2006/relationships"><Relationship Type="http://schemas.openxmlformats.org/officeDocument/2006/relationships/slide" Target="/ppt/slides/slide8.xml" Id="Rf027faac427c4413" /><Relationship Type="http://schemas.openxmlformats.org/officeDocument/2006/relationships/notesMaster" Target="/ppt/notesMasters/notesMaster1.xml" Id="Rdfdab634b94b4d1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 The project is the interrupt controller of the SoC, which I specified, wrote in RTL, integrated with the CPU and verified. In the figure, the PIC has a register port on the interconnect and a direct link to the CPU; its sources are the DMA, the SRAM and the timer. Total time: 10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These come from the PIC brief. It asks for more than a priority encoder: bands, nesting, spurious detection, deadlines and software triggers, all configured through AXI4-Lite registers. The 16 hardware and 16 software inputs share the same 16 arbitration slots.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1:40. The brief asked 21 questions and left the answers to me; these five shaped the design most. How bands and ties work; what happens to an active source that is reconfigured; what the nesting limit does; when a request counts as spurious; and what escalation means in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1:50. Follow a request from the top left: conditioning, then eligibility and the priority key, then the registered offer; claim pushes the context and EOI pops it. The decisions from the previous slide sit in these blocks: the priority block builds the key and applies escalation; the resolver stops offering at the nesting limit; the nesting block keeps the saved key and marks spurious claims. The module has no Verilog parameters.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 Every register here is defined by the project. SRCn_CONFIG sets trigger, band, priority and deadline for each source; BAND_CONFIG and ESCALATION_CFG set the shared policy; NEST_MAX limits the depth. A software trigger needs the key 0xA5A5 written with both upper byte strobes, so a partial write cannot arm a channel. RW1C clears logged events, and a hardware event in the same cycle is kept. Addresses are offsets in a 256-byte window; n is 0 to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The Python model computes the expected winner and pending set for all 24 orders of band urgency, with enable masks, CPU masks and ties. Directed tests cover the timing cases the model cannot: a new edge in the claim cycle, a masked source next to lower-priority ones, a key written with partial strobes, nesting, deadlines and reset. The AXI4-Lite front-end is compared with the PULP axi_lite_regs module on 96 strobe, order and stall cases. The three PIC cases of the mutation suite are all rejected.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The test reorders the bands so band 0 is the least urgent. Sources 1 and 2 are both in band 0 and requested together; source 1 wins the tie. At marker 2, source 2 reaches its 10-cycle deadline and escalates. It moves to the next more urgent band in the programmed order, band 3, not to band 0 minus one. At marker 3 the registered offer changes to source 2 on the next edge. This is decision 5 in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0:40. The result is a PIC with a configurable policy and verified preemption. What I keep from the project: ties and same-cycle events need a written rule; the key saved at claim keeps the stack correct when software reconfigures a source; and the CPU mask has to act inside the PIC. The internship followed the path of a real block, from brief to verification, with reviews in between.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dc7e71b0ebb4b85"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5a37251572c44a1e" /><Relationship Type="http://schemas.openxmlformats.org/officeDocument/2006/relationships/slideLayout" Target="/ppt/slideLayouts/slideLayout2.xml" Id="Re187ac34ba384a1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87ac34ba384a1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e6f33de3337e4c3f" /><Relationship Type="http://schemas.openxmlformats.org/officeDocument/2006/relationships/image" Target="/ppt/media/image.png" Id="Rf9a3cebcae6b415b" /><Relationship Type="http://schemas.openxmlformats.org/officeDocument/2006/relationships/image" Target="/ppt/media/image.svg" Id="R671a4116408c44e0" /><Relationship Type="http://schemas.openxmlformats.org/officeDocument/2006/relationships/notesSlide" Target="/ppt/notesSlides/notesSlide1.xml" Id="Rc0b65467fa0a416c"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1da3102100ba4ba9" /><Relationship Type="http://schemas.openxmlformats.org/officeDocument/2006/relationships/notesSlide" Target="/ppt/notesSlides/notesSlide2.xml" Id="R11ccdfa191474463"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e4f9492795a84290" /><Relationship Type="http://schemas.openxmlformats.org/officeDocument/2006/relationships/notesSlide" Target="/ppt/notesSlides/notesSlide3.xml" Id="Rf663350f021b488c"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c95c1651d6814a40" /><Relationship Type="http://schemas.openxmlformats.org/officeDocument/2006/relationships/image" Target="/ppt/media/image2.png" Id="R72903080de644c72" /><Relationship Type="http://schemas.openxmlformats.org/officeDocument/2006/relationships/image" Target="/ppt/media/image2.svg" Id="Rc65f106cf4ce4fa4" /><Relationship Type="http://schemas.openxmlformats.org/officeDocument/2006/relationships/notesSlide" Target="/ppt/notesSlides/notesSlide4.xml" Id="Rbb9f02f4bc604361"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7bfed16557c44ade" /><Relationship Type="http://schemas.openxmlformats.org/officeDocument/2006/relationships/image" Target="/ppt/media/image3.png" Id="R2979157c86f34aaf" /><Relationship Type="http://schemas.openxmlformats.org/officeDocument/2006/relationships/image" Target="/ppt/media/image3.svg" Id="Rff35bf2d3dfa4a08" /><Relationship Type="http://schemas.openxmlformats.org/officeDocument/2006/relationships/notesSlide" Target="/ppt/notesSlides/notesSlide5.xml" Id="R98d2eb5d12514c69"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249e15a2f60a4ce7" /><Relationship Type="http://schemas.openxmlformats.org/officeDocument/2006/relationships/image" Target="/ppt/media/image4.png" Id="Rec295725d2b74001" /><Relationship Type="http://schemas.openxmlformats.org/officeDocument/2006/relationships/image" Target="/ppt/media/image4.svg" Id="R011b216e93c04761" /><Relationship Type="http://schemas.openxmlformats.org/officeDocument/2006/relationships/notesSlide" Target="/ppt/notesSlides/notesSlide6.xml" Id="Ref67cd678d8b4be7"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7d603efaca514752" /><Relationship Type="http://schemas.openxmlformats.org/officeDocument/2006/relationships/image" Target="/ppt/media/image5.png" Id="R1a4de114dc794242" /><Relationship Type="http://schemas.openxmlformats.org/officeDocument/2006/relationships/image" Target="/ppt/media/image5.svg" Id="R355cc125cac246da" /><Relationship Type="http://schemas.openxmlformats.org/officeDocument/2006/relationships/notesSlide" Target="/ppt/notesSlides/notesSlide7.xml" Id="R1487db86ec3b4941"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306788893a204f49" /><Relationship Type="http://schemas.openxmlformats.org/officeDocument/2006/relationships/notesSlide" Target="/ppt/notesSlides/notesSlide8.xml" Id="R77e3722ee4b246e8"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FD996AC-0BC9-45F6-838E-A0365B36E603}"/>
              </a:ext>
            </a:extLst>
          </p:cNvPr>
          <p:cNvSpPr>
            <a:spLocks xmlns:a="http://schemas.openxmlformats.org/drawingml/2006/main" noGrp="1"/>
          </p:cNvSpPr>
          <p:nvPr/>
        </p:nvSpPr>
        <p:spPr>
          <a:xfrm xmlns:a="http://schemas.openxmlformats.org/drawingml/2006/main">
            <a:off x="1047750" y="2390775"/>
            <a:ext cx="73533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0">
                <a:solidFill>
                  <a:srgbClr val="526772"/>
                </a:solidFill>
              </a:defRPr>
            </a:pPr>
            <a:r>
              <a:rPr sz="1950" b="0">
                <a:solidFill>
                  <a:srgbClr val="526772"/>
                </a:solidFill>
              </a:rPr>
              <a:t>INTERNSHIP · SIEMENS · 2026</a:t>
            </a:r>
          </a:p>
        </p:txBody>
      </p:sp>
      <p:sp>
        <p:nvSpPr>
          <p:cNvPr id="2" name="">
            <a:extLst xmlns:a="http://schemas.openxmlformats.org/drawingml/2006/main">
              <a:ext uri="{FF2B5EF4-FFF2-40B4-BE49-F238E27FC236}">
                <a16:creationId xmlns:a16="http://schemas.microsoft.com/office/drawing/2014/main" id="{ACBBD86C-C26B-410A-AB7F-02A10790FDF5}"/>
              </a:ext>
            </a:extLst>
          </p:cNvPr>
          <p:cNvSpPr>
            <a:spLocks xmlns:a="http://schemas.openxmlformats.org/drawingml/2006/main" noGrp="1"/>
          </p:cNvSpPr>
          <p:nvPr/>
        </p:nvSpPr>
        <p:spPr>
          <a:xfrm xmlns:a="http://schemas.openxmlformats.org/drawingml/2006/main">
            <a:off x="1047750" y="2838450"/>
            <a:ext cx="2095500" cy="47625"/>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sp>
        <p:nvSpPr>
          <p:cNvPr id="3" name="">
            <a:extLst xmlns:a="http://schemas.openxmlformats.org/drawingml/2006/main">
              <a:ext uri="{FF2B5EF4-FFF2-40B4-BE49-F238E27FC236}">
                <a16:creationId xmlns:a16="http://schemas.microsoft.com/office/drawing/2014/main" id="{EC790369-2E2F-4A2D-9A0A-41237BA131B8}"/>
              </a:ext>
            </a:extLst>
          </p:cNvPr>
          <p:cNvSpPr>
            <a:spLocks xmlns:a="http://schemas.openxmlformats.org/drawingml/2006/main" noGrp="1"/>
          </p:cNvSpPr>
          <p:nvPr/>
        </p:nvSpPr>
        <p:spPr>
          <a:xfrm xmlns:a="http://schemas.openxmlformats.org/drawingml/2006/main">
            <a:off x="1047750" y="3228975"/>
            <a:ext cx="7353300" cy="9620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6300" b="1">
                <a:solidFill>
                  <a:srgbClr val="173442"/>
                </a:solidFill>
              </a:defRPr>
            </a:pPr>
            <a:r>
              <a:rPr sz="6300" b="1">
                <a:solidFill>
                  <a:srgbClr val="173442"/>
                </a:solidFill>
              </a:rPr>
              <a:t>Interrupt Controller</a:t>
            </a:r>
          </a:p>
        </p:txBody>
      </p:sp>
      <p:sp>
        <p:nvSpPr>
          <p:cNvPr id="4" name="">
            <a:extLst xmlns:a="http://schemas.openxmlformats.org/drawingml/2006/main">
              <a:ext uri="{FF2B5EF4-FFF2-40B4-BE49-F238E27FC236}">
                <a16:creationId xmlns:a16="http://schemas.microsoft.com/office/drawing/2014/main" id="{85CF017E-DD20-4C3C-B396-83D424151A8A}"/>
              </a:ext>
            </a:extLst>
          </p:cNvPr>
          <p:cNvSpPr>
            <a:spLocks xmlns:a="http://schemas.openxmlformats.org/drawingml/2006/main" noGrp="1"/>
          </p:cNvSpPr>
          <p:nvPr/>
        </p:nvSpPr>
        <p:spPr>
          <a:xfrm xmlns:a="http://schemas.openxmlformats.org/drawingml/2006/main">
            <a:off x="1047750" y="4286250"/>
            <a:ext cx="7353300" cy="5048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300" b="0">
                <a:solidFill>
                  <a:srgbClr val="006B75"/>
                </a:solidFill>
              </a:defRPr>
            </a:pPr>
            <a:r>
              <a:rPr sz="3300" b="0">
                <a:solidFill>
                  <a:srgbClr val="006B75"/>
                </a:solidFill>
              </a:rPr>
              <a:t>Programmable priority and preemption</a:t>
            </a:r>
          </a:p>
        </p:txBody>
      </p:sp>
      <p:sp>
        <p:nvSpPr>
          <p:cNvPr id="5" name="">
            <a:extLst xmlns:a="http://schemas.openxmlformats.org/drawingml/2006/main">
              <a:ext uri="{FF2B5EF4-FFF2-40B4-BE49-F238E27FC236}">
                <a16:creationId xmlns:a16="http://schemas.microsoft.com/office/drawing/2014/main" id="{E6723F0C-9ACD-4FDC-8FC8-D450A001FB48}"/>
              </a:ext>
            </a:extLst>
          </p:cNvPr>
          <p:cNvSpPr>
            <a:spLocks xmlns:a="http://schemas.openxmlformats.org/drawingml/2006/main" noGrp="1"/>
          </p:cNvSpPr>
          <p:nvPr/>
        </p:nvSpPr>
        <p:spPr>
          <a:xfrm xmlns:a="http://schemas.openxmlformats.org/drawingml/2006/main">
            <a:off x="1047750" y="5457825"/>
            <a:ext cx="7353300" cy="419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1">
                <a:solidFill>
                  <a:srgbClr val="173442"/>
                </a:solidFill>
              </a:defRPr>
            </a:pPr>
            <a:r>
              <a:rPr sz="2700" b="1">
                <a:solidFill>
                  <a:srgbClr val="173442"/>
                </a:solidFill>
              </a:rPr>
              <a:t>Bunea Cosmin-Andrei</a:t>
            </a:r>
          </a:p>
        </p:txBody>
      </p:sp>
      <p:sp>
        <p:nvSpPr>
          <p:cNvPr id="6" name="">
            <a:extLst xmlns:a="http://schemas.openxmlformats.org/drawingml/2006/main">
              <a:ext uri="{FF2B5EF4-FFF2-40B4-BE49-F238E27FC236}">
                <a16:creationId xmlns:a16="http://schemas.microsoft.com/office/drawing/2014/main" id="{C0994692-772B-4E36-AF38-A7C271CACDC3}"/>
              </a:ext>
            </a:extLst>
          </p:cNvPr>
          <p:cNvSpPr>
            <a:spLocks xmlns:a="http://schemas.openxmlformats.org/drawingml/2006/main" noGrp="1"/>
          </p:cNvSpPr>
          <p:nvPr/>
        </p:nvSpPr>
        <p:spPr>
          <a:xfrm xmlns:a="http://schemas.openxmlformats.org/drawingml/2006/main">
            <a:off x="1047750" y="5943600"/>
            <a:ext cx="7353300" cy="1104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0">
                <a:solidFill>
                  <a:srgbClr val="173442"/>
                </a:solidFill>
              </a:defRPr>
            </a:pPr>
            <a:r>
              <a:rPr sz="2400" b="0">
                <a:solidFill>
                  <a:srgbClr val="173442"/>
                </a:solidFill>
              </a:rPr>
              <a:t>Computer Engineering, year III</a:t>
            </a:r>
          </a:p>
          <a:p xmlns:a="http://schemas.openxmlformats.org/drawingml/2006/main">
            <a:pPr>
              <a:defRPr sz="2400" b="0">
                <a:solidFill>
                  <a:srgbClr val="173442"/>
                </a:solidFill>
              </a:defRPr>
            </a:pPr>
            <a:r>
              <a:rPr sz="2400" b="0">
                <a:solidFill>
                  <a:srgbClr val="173442"/>
                </a:solidFill>
              </a:rPr>
              <a:t>Academic year 2025–2026</a:t>
            </a:r>
          </a:p>
          <a:p xmlns:a="http://schemas.openxmlformats.org/drawingml/2006/main">
            <a:pPr>
              <a:defRPr sz="2400" b="0">
                <a:solidFill>
                  <a:srgbClr val="173442"/>
                </a:solidFill>
              </a:defRPr>
            </a:pPr>
            <a:r>
              <a:rPr sz="2400" b="0">
                <a:solidFill>
                  <a:srgbClr val="173442"/>
                </a:solidFill>
              </a:rPr>
              <a:t>Transilvania University of Brașov</a:t>
            </a:r>
          </a:p>
        </p:txBody>
      </p:sp>
      <p:sp>
        <p:nvSpPr>
          <p:cNvPr id="7" name="">
            <a:extLst xmlns:a="http://schemas.openxmlformats.org/drawingml/2006/main">
              <a:ext uri="{FF2B5EF4-FFF2-40B4-BE49-F238E27FC236}">
                <a16:creationId xmlns:a16="http://schemas.microsoft.com/office/drawing/2014/main" id="{CB3D506A-218C-4916-A100-5F990C208C7C}"/>
              </a:ext>
            </a:extLst>
          </p:cNvPr>
          <p:cNvSpPr>
            <a:spLocks xmlns:a="http://schemas.openxmlformats.org/drawingml/2006/main" noGrp="1"/>
          </p:cNvSpPr>
          <p:nvPr/>
        </p:nvSpPr>
        <p:spPr>
          <a:xfrm xmlns:a="http://schemas.openxmlformats.org/drawingml/2006/main">
            <a:off x="1047750" y="7572375"/>
            <a:ext cx="735330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0">
                <a:solidFill>
                  <a:srgbClr val="526772"/>
                </a:solidFill>
              </a:defRPr>
            </a:pPr>
            <a:r>
              <a:rPr sz="2100" b="0">
                <a:solidFill>
                  <a:srgbClr val="526772"/>
                </a:solidFill>
              </a:rPr>
              <a:t>RTL implementation · interfaces · verification</a:t>
            </a:r>
          </a:p>
        </p:txBody>
      </p:sp>
      <p:pic>
        <p:nvPicPr>
          <p:cNvPr id="8" name="asset-presentations/assets/soc_context_pic"/>
          <p:cNvPicPr>
            <a:picLocks xmlns:a="http://schemas.openxmlformats.org/drawingml/2006/main" noChangeAspect="1"/>
          </p:cNvPicPr>
          <p:nvPr/>
        </p:nvPicPr>
        <p:blipFill>
          <a:blip xmlns:r="http://schemas.openxmlformats.org/officeDocument/2006/relationships" xmlns:a="http://schemas.openxmlformats.org/drawingml/2006/main" r:embed="Rf9a3cebcae6b415b">
            <a:extLst>
              <a:ext uri="{96DAC541-7B7A-43D3-8B79-37D633B846F1}">
                <asvg:svgBlip xmlns:asvg="http://schemas.microsoft.com/office/drawing/2016/SVG/main" r:embed="R671a4116408c44e0"/>
              </a:ext>
            </a:extLst>
          </a:blip>
          <a:stretch xmlns:a="http://schemas.openxmlformats.org/drawingml/2006/main"/>
        </p:blipFill>
        <p:spPr>
          <a:xfrm xmlns:a="http://schemas.openxmlformats.org/drawingml/2006/main">
            <a:off x="9068686" y="2457450"/>
            <a:ext cx="8382000" cy="5378450"/>
          </a:xfrm>
          <a:prstGeom xmlns:a="http://schemas.openxmlformats.org/drawingml/2006/main" prst="rect">
            <a:avLst/>
          </a:prstGeom>
        </p:spPr>
      </p:pic>
    </p:spTree>
    <p:extLst>
      <p:ext uri="{BB962C8B-B14F-4D97-AF65-F5344CB8AC3E}">
        <p14:creationId xmlns:p14="http://schemas.microsoft.com/office/powerpoint/2010/main" val="115852162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4888F73B-3B68-4512-8DDF-B7056C87A68C}"/>
              </a:ext>
            </a:extLst>
          </p:cNvPr>
          <p:cNvSpPr>
            <a:spLocks xmlns:a="http://schemas.openxmlformats.org/drawingml/2006/main" noGrp="1"/>
          </p:cNvSpPr>
          <p:nvPr/>
        </p:nvSpPr>
        <p:spPr>
          <a:xfrm xmlns:a="http://schemas.openxmlformats.org/drawingml/2006/main">
            <a:off x="666750" y="419100"/>
            <a:ext cx="16954500" cy="571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750" b="1">
                <a:solidFill>
                  <a:srgbClr val="173442"/>
                </a:solidFill>
              </a:defRPr>
            </a:pPr>
            <a:r>
              <a:rPr sz="3750" b="1">
                <a:solidFill>
                  <a:srgbClr val="173442"/>
                </a:solidFill>
              </a:rPr>
              <a:t>The task: a PIC with priority bands, nesting and deadlines</a:t>
            </a:r>
          </a:p>
        </p:txBody>
      </p:sp>
      <p:sp>
        <p:nvSpPr>
          <p:cNvPr id="2" name="">
            <a:extLst xmlns:a="http://schemas.openxmlformats.org/drawingml/2006/main">
              <a:ext uri="{FF2B5EF4-FFF2-40B4-BE49-F238E27FC236}">
                <a16:creationId xmlns:a16="http://schemas.microsoft.com/office/drawing/2014/main" id="{3F9CD0D6-288E-47FB-9FEF-9CEB321994F0}"/>
              </a:ext>
            </a:extLst>
          </p:cNvPr>
          <p:cNvSpPr>
            <a:spLocks xmlns:a="http://schemas.openxmlformats.org/drawingml/2006/main" noGrp="1"/>
          </p:cNvSpPr>
          <p:nvPr/>
        </p:nvSpPr>
        <p:spPr>
          <a:xfrm xmlns:a="http://schemas.openxmlformats.org/drawingml/2006/main">
            <a:off x="666750" y="1123950"/>
            <a:ext cx="1619250" cy="38100"/>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sp>
        <p:nvSpPr>
          <p:cNvPr id="3" name="">
            <a:extLst xmlns:a="http://schemas.openxmlformats.org/drawingml/2006/main">
              <a:ext uri="{FF2B5EF4-FFF2-40B4-BE49-F238E27FC236}">
                <a16:creationId xmlns:a16="http://schemas.microsoft.com/office/drawing/2014/main" id="{C3B0E3FC-C48F-41DD-965E-296367ECC007}"/>
              </a:ext>
            </a:extLst>
          </p:cNvPr>
          <p:cNvSpPr>
            <a:spLocks xmlns:a="http://schemas.openxmlformats.org/drawingml/2006/main" noGrp="1"/>
          </p:cNvSpPr>
          <p:nvPr/>
        </p:nvSpPr>
        <p:spPr>
          <a:xfrm xmlns:a="http://schemas.openxmlformats.org/drawingml/2006/main">
            <a:off x="666750" y="1428750"/>
            <a:ext cx="8343900" cy="1407414"/>
          </a:xfrm>
          <a:prstGeom xmlns:a="http://schemas.openxmlformats.org/drawingml/2006/main" prst="roundRect">
            <a:avLst>
              <a:gd name="adj" fmla="val 8121"/>
            </a:avLst>
          </a:prstGeom>
          <a:solidFill xmlns:a="http://schemas.openxmlformats.org/drawingml/2006/main">
            <a:srgbClr val="EEF5F5"/>
          </a:solidFill>
        </p:spPr>
      </p:sp>
      <p:sp>
        <p:nvSpPr>
          <p:cNvPr id="4" name="">
            <a:extLst xmlns:a="http://schemas.openxmlformats.org/drawingml/2006/main">
              <a:ext uri="{FF2B5EF4-FFF2-40B4-BE49-F238E27FC236}">
                <a16:creationId xmlns:a16="http://schemas.microsoft.com/office/drawing/2014/main" id="{27DCCBD7-D6A3-47DA-8925-CEE9A6ABF6AC}"/>
              </a:ext>
            </a:extLst>
          </p:cNvPr>
          <p:cNvSpPr>
            <a:spLocks xmlns:a="http://schemas.openxmlformats.org/drawingml/2006/main" noGrp="1"/>
          </p:cNvSpPr>
          <p:nvPr/>
        </p:nvSpPr>
        <p:spPr>
          <a:xfrm xmlns:a="http://schemas.openxmlformats.org/drawingml/2006/main">
            <a:off x="990600" y="1924050"/>
            <a:ext cx="609600" cy="4095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1">
                <a:solidFill>
                  <a:srgbClr val="006B75"/>
                </a:solidFill>
              </a:defRPr>
            </a:pPr>
            <a:r>
              <a:rPr sz="2700" b="1">
                <a:solidFill>
                  <a:srgbClr val="006B75"/>
                </a:solidFill>
              </a:rPr>
              <a:t>01</a:t>
            </a:r>
          </a:p>
        </p:txBody>
      </p:sp>
      <p:sp>
        <p:nvSpPr>
          <p:cNvPr id="5" name="">
            <a:extLst xmlns:a="http://schemas.openxmlformats.org/drawingml/2006/main">
              <a:ext uri="{FF2B5EF4-FFF2-40B4-BE49-F238E27FC236}">
                <a16:creationId xmlns:a16="http://schemas.microsoft.com/office/drawing/2014/main" id="{4805935D-1431-4FC7-8321-36E5FC9E3A02}"/>
              </a:ext>
            </a:extLst>
          </p:cNvPr>
          <p:cNvSpPr>
            <a:spLocks xmlns:a="http://schemas.openxmlformats.org/drawingml/2006/main" noGrp="1"/>
          </p:cNvSpPr>
          <p:nvPr/>
        </p:nvSpPr>
        <p:spPr>
          <a:xfrm xmlns:a="http://schemas.openxmlformats.org/drawingml/2006/main">
            <a:off x="1847850" y="1933575"/>
            <a:ext cx="6838950" cy="3905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0">
                <a:solidFill>
                  <a:srgbClr val="173442"/>
                </a:solidFill>
              </a:defRPr>
            </a:pPr>
            <a:r>
              <a:rPr sz="2550" b="0">
                <a:solidFill>
                  <a:srgbClr val="173442"/>
                </a:solidFill>
              </a:rPr>
              <a:t>16 hardware sources + 16 software triggers</a:t>
            </a:r>
          </a:p>
        </p:txBody>
      </p:sp>
      <p:sp>
        <p:nvSpPr>
          <p:cNvPr id="6" name="">
            <a:extLst xmlns:a="http://schemas.openxmlformats.org/drawingml/2006/main">
              <a:ext uri="{FF2B5EF4-FFF2-40B4-BE49-F238E27FC236}">
                <a16:creationId xmlns:a16="http://schemas.microsoft.com/office/drawing/2014/main" id="{42F058A8-441B-4448-B479-FBB0C6E5C870}"/>
              </a:ext>
            </a:extLst>
          </p:cNvPr>
          <p:cNvSpPr>
            <a:spLocks xmlns:a="http://schemas.openxmlformats.org/drawingml/2006/main" noGrp="1"/>
          </p:cNvSpPr>
          <p:nvPr/>
        </p:nvSpPr>
        <p:spPr>
          <a:xfrm xmlns:a="http://schemas.openxmlformats.org/drawingml/2006/main">
            <a:off x="9277350" y="1428750"/>
            <a:ext cx="8343900" cy="1407414"/>
          </a:xfrm>
          <a:prstGeom xmlns:a="http://schemas.openxmlformats.org/drawingml/2006/main" prst="roundRect">
            <a:avLst>
              <a:gd name="adj" fmla="val 8121"/>
            </a:avLst>
          </a:prstGeom>
          <a:solidFill xmlns:a="http://schemas.openxmlformats.org/drawingml/2006/main">
            <a:srgbClr val="EEF5F5"/>
          </a:solidFill>
        </p:spPr>
      </p:sp>
      <p:sp>
        <p:nvSpPr>
          <p:cNvPr id="7" name="">
            <a:extLst xmlns:a="http://schemas.openxmlformats.org/drawingml/2006/main">
              <a:ext uri="{FF2B5EF4-FFF2-40B4-BE49-F238E27FC236}">
                <a16:creationId xmlns:a16="http://schemas.microsoft.com/office/drawing/2014/main" id="{B07A1748-70A3-446D-A620-7298F86E0A4A}"/>
              </a:ext>
            </a:extLst>
          </p:cNvPr>
          <p:cNvSpPr>
            <a:spLocks xmlns:a="http://schemas.openxmlformats.org/drawingml/2006/main" noGrp="1"/>
          </p:cNvSpPr>
          <p:nvPr/>
        </p:nvSpPr>
        <p:spPr>
          <a:xfrm xmlns:a="http://schemas.openxmlformats.org/drawingml/2006/main">
            <a:off x="9601200" y="1924050"/>
            <a:ext cx="609600" cy="4095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1">
                <a:solidFill>
                  <a:srgbClr val="006B75"/>
                </a:solidFill>
              </a:defRPr>
            </a:pPr>
            <a:r>
              <a:rPr sz="2700" b="1">
                <a:solidFill>
                  <a:srgbClr val="006B75"/>
                </a:solidFill>
              </a:rPr>
              <a:t>06</a:t>
            </a:r>
          </a:p>
        </p:txBody>
      </p:sp>
      <p:sp>
        <p:nvSpPr>
          <p:cNvPr id="8" name="">
            <a:extLst xmlns:a="http://schemas.openxmlformats.org/drawingml/2006/main">
              <a:ext uri="{FF2B5EF4-FFF2-40B4-BE49-F238E27FC236}">
                <a16:creationId xmlns:a16="http://schemas.microsoft.com/office/drawing/2014/main" id="{BEAE22D0-B810-44F2-9E6B-C69DE9F5B9A0}"/>
              </a:ext>
            </a:extLst>
          </p:cNvPr>
          <p:cNvSpPr>
            <a:spLocks xmlns:a="http://schemas.openxmlformats.org/drawingml/2006/main" noGrp="1"/>
          </p:cNvSpPr>
          <p:nvPr/>
        </p:nvSpPr>
        <p:spPr>
          <a:xfrm xmlns:a="http://schemas.openxmlformats.org/drawingml/2006/main">
            <a:off x="10458450" y="1933575"/>
            <a:ext cx="6838950" cy="3905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0">
                <a:solidFill>
                  <a:srgbClr val="173442"/>
                </a:solidFill>
              </a:defRPr>
            </a:pPr>
            <a:r>
              <a:rPr sz="2550" b="0">
                <a:solidFill>
                  <a:srgbClr val="173442"/>
                </a:solidFill>
              </a:rPr>
              <a:t>Deadline-based priority escalation</a:t>
            </a:r>
          </a:p>
        </p:txBody>
      </p:sp>
      <p:sp>
        <p:nvSpPr>
          <p:cNvPr id="9" name="">
            <a:extLst xmlns:a="http://schemas.openxmlformats.org/drawingml/2006/main">
              <a:ext uri="{FF2B5EF4-FFF2-40B4-BE49-F238E27FC236}">
                <a16:creationId xmlns:a16="http://schemas.microsoft.com/office/drawing/2014/main" id="{3999EA57-D99B-4B03-A1B5-AE50C6C44C74}"/>
              </a:ext>
            </a:extLst>
          </p:cNvPr>
          <p:cNvSpPr>
            <a:spLocks xmlns:a="http://schemas.openxmlformats.org/drawingml/2006/main" noGrp="1"/>
          </p:cNvSpPr>
          <p:nvPr/>
        </p:nvSpPr>
        <p:spPr>
          <a:xfrm xmlns:a="http://schemas.openxmlformats.org/drawingml/2006/main">
            <a:off x="666750" y="3007614"/>
            <a:ext cx="8343900" cy="1407414"/>
          </a:xfrm>
          <a:prstGeom xmlns:a="http://schemas.openxmlformats.org/drawingml/2006/main" prst="roundRect">
            <a:avLst>
              <a:gd name="adj" fmla="val 8121"/>
            </a:avLst>
          </a:prstGeom>
          <a:solidFill xmlns:a="http://schemas.openxmlformats.org/drawingml/2006/main">
            <a:srgbClr val="EEF5F5"/>
          </a:solidFill>
        </p:spPr>
      </p:sp>
      <p:sp>
        <p:nvSpPr>
          <p:cNvPr id="10" name="">
            <a:extLst xmlns:a="http://schemas.openxmlformats.org/drawingml/2006/main">
              <a:ext uri="{FF2B5EF4-FFF2-40B4-BE49-F238E27FC236}">
                <a16:creationId xmlns:a16="http://schemas.microsoft.com/office/drawing/2014/main" id="{E2500385-C661-4211-A94F-37197BF38A85}"/>
              </a:ext>
            </a:extLst>
          </p:cNvPr>
          <p:cNvSpPr>
            <a:spLocks xmlns:a="http://schemas.openxmlformats.org/drawingml/2006/main" noGrp="1"/>
          </p:cNvSpPr>
          <p:nvPr/>
        </p:nvSpPr>
        <p:spPr>
          <a:xfrm xmlns:a="http://schemas.openxmlformats.org/drawingml/2006/main">
            <a:off x="990600" y="3505200"/>
            <a:ext cx="609600" cy="4095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1">
                <a:solidFill>
                  <a:srgbClr val="006B75"/>
                </a:solidFill>
              </a:defRPr>
            </a:pPr>
            <a:r>
              <a:rPr sz="2700" b="1">
                <a:solidFill>
                  <a:srgbClr val="006B75"/>
                </a:solidFill>
              </a:rPr>
              <a:t>02</a:t>
            </a:r>
          </a:p>
        </p:txBody>
      </p:sp>
      <p:sp>
        <p:nvSpPr>
          <p:cNvPr id="11" name="">
            <a:extLst xmlns:a="http://schemas.openxmlformats.org/drawingml/2006/main">
              <a:ext uri="{FF2B5EF4-FFF2-40B4-BE49-F238E27FC236}">
                <a16:creationId xmlns:a16="http://schemas.microsoft.com/office/drawing/2014/main" id="{A843D3BB-2D64-439E-9BD9-84C8FD63B324}"/>
              </a:ext>
            </a:extLst>
          </p:cNvPr>
          <p:cNvSpPr>
            <a:spLocks xmlns:a="http://schemas.openxmlformats.org/drawingml/2006/main" noGrp="1"/>
          </p:cNvSpPr>
          <p:nvPr/>
        </p:nvSpPr>
        <p:spPr>
          <a:xfrm xmlns:a="http://schemas.openxmlformats.org/drawingml/2006/main">
            <a:off x="1847850" y="3514725"/>
            <a:ext cx="6838950" cy="3905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0">
                <a:solidFill>
                  <a:srgbClr val="173442"/>
                </a:solidFill>
              </a:defRPr>
            </a:pPr>
            <a:r>
              <a:rPr sz="2550" b="0">
                <a:solidFill>
                  <a:srgbClr val="173442"/>
                </a:solidFill>
              </a:rPr>
              <a:t>Level or edge mode for every source</a:t>
            </a:r>
          </a:p>
        </p:txBody>
      </p:sp>
      <p:sp>
        <p:nvSpPr>
          <p:cNvPr id="12" name="">
            <a:extLst xmlns:a="http://schemas.openxmlformats.org/drawingml/2006/main">
              <a:ext uri="{FF2B5EF4-FFF2-40B4-BE49-F238E27FC236}">
                <a16:creationId xmlns:a16="http://schemas.microsoft.com/office/drawing/2014/main" id="{B277D6D0-DEA3-4C7F-BA36-57483897D679}"/>
              </a:ext>
            </a:extLst>
          </p:cNvPr>
          <p:cNvSpPr>
            <a:spLocks xmlns:a="http://schemas.openxmlformats.org/drawingml/2006/main" noGrp="1"/>
          </p:cNvSpPr>
          <p:nvPr/>
        </p:nvSpPr>
        <p:spPr>
          <a:xfrm xmlns:a="http://schemas.openxmlformats.org/drawingml/2006/main">
            <a:off x="9277350" y="3007614"/>
            <a:ext cx="8343900" cy="1407414"/>
          </a:xfrm>
          <a:prstGeom xmlns:a="http://schemas.openxmlformats.org/drawingml/2006/main" prst="roundRect">
            <a:avLst>
              <a:gd name="adj" fmla="val 8121"/>
            </a:avLst>
          </a:prstGeom>
          <a:solidFill xmlns:a="http://schemas.openxmlformats.org/drawingml/2006/main">
            <a:srgbClr val="EEF5F5"/>
          </a:solidFill>
        </p:spPr>
      </p:sp>
      <p:sp>
        <p:nvSpPr>
          <p:cNvPr id="13" name="">
            <a:extLst xmlns:a="http://schemas.openxmlformats.org/drawingml/2006/main">
              <a:ext uri="{FF2B5EF4-FFF2-40B4-BE49-F238E27FC236}">
                <a16:creationId xmlns:a16="http://schemas.microsoft.com/office/drawing/2014/main" id="{54E06EDB-3D21-4FA3-A688-E3932F77F284}"/>
              </a:ext>
            </a:extLst>
          </p:cNvPr>
          <p:cNvSpPr>
            <a:spLocks xmlns:a="http://schemas.openxmlformats.org/drawingml/2006/main" noGrp="1"/>
          </p:cNvSpPr>
          <p:nvPr/>
        </p:nvSpPr>
        <p:spPr>
          <a:xfrm xmlns:a="http://schemas.openxmlformats.org/drawingml/2006/main">
            <a:off x="9601200" y="3505200"/>
            <a:ext cx="609600" cy="4095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1">
                <a:solidFill>
                  <a:srgbClr val="006B75"/>
                </a:solidFill>
              </a:defRPr>
            </a:pPr>
            <a:r>
              <a:rPr sz="2700" b="1">
                <a:solidFill>
                  <a:srgbClr val="006B75"/>
                </a:solidFill>
              </a:rPr>
              <a:t>07</a:t>
            </a:r>
          </a:p>
        </p:txBody>
      </p:sp>
      <p:sp>
        <p:nvSpPr>
          <p:cNvPr id="14" name="">
            <a:extLst xmlns:a="http://schemas.openxmlformats.org/drawingml/2006/main">
              <a:ext uri="{FF2B5EF4-FFF2-40B4-BE49-F238E27FC236}">
                <a16:creationId xmlns:a16="http://schemas.microsoft.com/office/drawing/2014/main" id="{A24F7F73-E8FA-415F-9360-FBF87FE4F2D2}"/>
              </a:ext>
            </a:extLst>
          </p:cNvPr>
          <p:cNvSpPr>
            <a:spLocks xmlns:a="http://schemas.openxmlformats.org/drawingml/2006/main" noGrp="1"/>
          </p:cNvSpPr>
          <p:nvPr/>
        </p:nvSpPr>
        <p:spPr>
          <a:xfrm xmlns:a="http://schemas.openxmlformats.org/drawingml/2006/main">
            <a:off x="10458450" y="3514725"/>
            <a:ext cx="6838950" cy="3905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0">
                <a:solidFill>
                  <a:srgbClr val="173442"/>
                </a:solidFill>
              </a:defRPr>
            </a:pPr>
            <a:r>
              <a:rPr sz="2550" b="0">
                <a:solidFill>
                  <a:srgbClr val="173442"/>
                </a:solidFill>
              </a:rPr>
              <a:t>Software-triggered interrupts</a:t>
            </a:r>
          </a:p>
        </p:txBody>
      </p:sp>
      <p:sp>
        <p:nvSpPr>
          <p:cNvPr id="15" name="">
            <a:extLst xmlns:a="http://schemas.openxmlformats.org/drawingml/2006/main">
              <a:ext uri="{FF2B5EF4-FFF2-40B4-BE49-F238E27FC236}">
                <a16:creationId xmlns:a16="http://schemas.microsoft.com/office/drawing/2014/main" id="{90D88F11-262C-47A9-A7BF-638AE4861D2F}"/>
              </a:ext>
            </a:extLst>
          </p:cNvPr>
          <p:cNvSpPr>
            <a:spLocks xmlns:a="http://schemas.openxmlformats.org/drawingml/2006/main" noGrp="1"/>
          </p:cNvSpPr>
          <p:nvPr/>
        </p:nvSpPr>
        <p:spPr>
          <a:xfrm xmlns:a="http://schemas.openxmlformats.org/drawingml/2006/main">
            <a:off x="666750" y="4586478"/>
            <a:ext cx="8343900" cy="1407414"/>
          </a:xfrm>
          <a:prstGeom xmlns:a="http://schemas.openxmlformats.org/drawingml/2006/main" prst="roundRect">
            <a:avLst>
              <a:gd name="adj" fmla="val 8121"/>
            </a:avLst>
          </a:prstGeom>
          <a:solidFill xmlns:a="http://schemas.openxmlformats.org/drawingml/2006/main">
            <a:srgbClr val="EEF5F5"/>
          </a:solidFill>
        </p:spPr>
      </p:sp>
      <p:sp>
        <p:nvSpPr>
          <p:cNvPr id="16" name="">
            <a:extLst xmlns:a="http://schemas.openxmlformats.org/drawingml/2006/main">
              <a:ext uri="{FF2B5EF4-FFF2-40B4-BE49-F238E27FC236}">
                <a16:creationId xmlns:a16="http://schemas.microsoft.com/office/drawing/2014/main" id="{656EDF37-2F63-4482-B14C-DC093B93C7B7}"/>
              </a:ext>
            </a:extLst>
          </p:cNvPr>
          <p:cNvSpPr>
            <a:spLocks xmlns:a="http://schemas.openxmlformats.org/drawingml/2006/main" noGrp="1"/>
          </p:cNvSpPr>
          <p:nvPr/>
        </p:nvSpPr>
        <p:spPr>
          <a:xfrm xmlns:a="http://schemas.openxmlformats.org/drawingml/2006/main">
            <a:off x="990600" y="5086350"/>
            <a:ext cx="609600" cy="4095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1">
                <a:solidFill>
                  <a:srgbClr val="006B75"/>
                </a:solidFill>
              </a:defRPr>
            </a:pPr>
            <a:r>
              <a:rPr sz="2700" b="1">
                <a:solidFill>
                  <a:srgbClr val="006B75"/>
                </a:solidFill>
              </a:rPr>
              <a:t>03</a:t>
            </a:r>
          </a:p>
        </p:txBody>
      </p:sp>
      <p:sp>
        <p:nvSpPr>
          <p:cNvPr id="17" name="">
            <a:extLst xmlns:a="http://schemas.openxmlformats.org/drawingml/2006/main">
              <a:ext uri="{FF2B5EF4-FFF2-40B4-BE49-F238E27FC236}">
                <a16:creationId xmlns:a16="http://schemas.microsoft.com/office/drawing/2014/main" id="{8E65E60C-A42A-4C2E-89B0-39D5997E9FFB}"/>
              </a:ext>
            </a:extLst>
          </p:cNvPr>
          <p:cNvSpPr>
            <a:spLocks xmlns:a="http://schemas.openxmlformats.org/drawingml/2006/main" noGrp="1"/>
          </p:cNvSpPr>
          <p:nvPr/>
        </p:nvSpPr>
        <p:spPr>
          <a:xfrm xmlns:a="http://schemas.openxmlformats.org/drawingml/2006/main">
            <a:off x="1847850" y="5095875"/>
            <a:ext cx="6838950" cy="3905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0">
                <a:solidFill>
                  <a:srgbClr val="173442"/>
                </a:solidFill>
              </a:defRPr>
            </a:pPr>
            <a:r>
              <a:rPr sz="2550" b="0">
                <a:solidFill>
                  <a:srgbClr val="173442"/>
                </a:solidFill>
              </a:rPr>
              <a:t>Priority bands, not a flat priority</a:t>
            </a:r>
          </a:p>
        </p:txBody>
      </p:sp>
      <p:sp>
        <p:nvSpPr>
          <p:cNvPr id="18" name="">
            <a:extLst xmlns:a="http://schemas.openxmlformats.org/drawingml/2006/main">
              <a:ext uri="{FF2B5EF4-FFF2-40B4-BE49-F238E27FC236}">
                <a16:creationId xmlns:a16="http://schemas.microsoft.com/office/drawing/2014/main" id="{4A1A0A07-674A-4D89-99B9-3AD567340F30}"/>
              </a:ext>
            </a:extLst>
          </p:cNvPr>
          <p:cNvSpPr>
            <a:spLocks xmlns:a="http://schemas.openxmlformats.org/drawingml/2006/main" noGrp="1"/>
          </p:cNvSpPr>
          <p:nvPr/>
        </p:nvSpPr>
        <p:spPr>
          <a:xfrm xmlns:a="http://schemas.openxmlformats.org/drawingml/2006/main">
            <a:off x="9277350" y="4586478"/>
            <a:ext cx="8343900" cy="1407414"/>
          </a:xfrm>
          <a:prstGeom xmlns:a="http://schemas.openxmlformats.org/drawingml/2006/main" prst="roundRect">
            <a:avLst>
              <a:gd name="adj" fmla="val 8121"/>
            </a:avLst>
          </a:prstGeom>
          <a:solidFill xmlns:a="http://schemas.openxmlformats.org/drawingml/2006/main">
            <a:srgbClr val="EEF5F5"/>
          </a:solidFill>
        </p:spPr>
      </p:sp>
      <p:sp>
        <p:nvSpPr>
          <p:cNvPr id="19" name="">
            <a:extLst xmlns:a="http://schemas.openxmlformats.org/drawingml/2006/main">
              <a:ext uri="{FF2B5EF4-FFF2-40B4-BE49-F238E27FC236}">
                <a16:creationId xmlns:a16="http://schemas.microsoft.com/office/drawing/2014/main" id="{D341AA86-6301-44C1-A525-876F1167999C}"/>
              </a:ext>
            </a:extLst>
          </p:cNvPr>
          <p:cNvSpPr>
            <a:spLocks xmlns:a="http://schemas.openxmlformats.org/drawingml/2006/main" noGrp="1"/>
          </p:cNvSpPr>
          <p:nvPr/>
        </p:nvSpPr>
        <p:spPr>
          <a:xfrm xmlns:a="http://schemas.openxmlformats.org/drawingml/2006/main">
            <a:off x="9601200" y="5086350"/>
            <a:ext cx="609600" cy="4095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1">
                <a:solidFill>
                  <a:srgbClr val="006B75"/>
                </a:solidFill>
              </a:defRPr>
            </a:pPr>
            <a:r>
              <a:rPr sz="2700" b="1">
                <a:solidFill>
                  <a:srgbClr val="006B75"/>
                </a:solidFill>
              </a:rPr>
              <a:t>08</a:t>
            </a:r>
          </a:p>
        </p:txBody>
      </p:sp>
      <p:sp>
        <p:nvSpPr>
          <p:cNvPr id="20" name="">
            <a:extLst xmlns:a="http://schemas.openxmlformats.org/drawingml/2006/main">
              <a:ext uri="{FF2B5EF4-FFF2-40B4-BE49-F238E27FC236}">
                <a16:creationId xmlns:a16="http://schemas.microsoft.com/office/drawing/2014/main" id="{35C7E735-9859-4E3A-A390-9E7683F95193}"/>
              </a:ext>
            </a:extLst>
          </p:cNvPr>
          <p:cNvSpPr>
            <a:spLocks xmlns:a="http://schemas.openxmlformats.org/drawingml/2006/main" noGrp="1"/>
          </p:cNvSpPr>
          <p:nvPr/>
        </p:nvSpPr>
        <p:spPr>
          <a:xfrm xmlns:a="http://schemas.openxmlformats.org/drawingml/2006/main">
            <a:off x="10458450" y="5095875"/>
            <a:ext cx="6838950" cy="3905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0">
                <a:solidFill>
                  <a:srgbClr val="173442"/>
                </a:solidFill>
              </a:defRPr>
            </a:pPr>
            <a:r>
              <a:rPr sz="2550" b="0">
                <a:solidFill>
                  <a:srgbClr val="173442"/>
                </a:solidFill>
              </a:rPr>
              <a:t>AXI4-Lite register map, 11 registers</a:t>
            </a:r>
          </a:p>
        </p:txBody>
      </p:sp>
      <p:sp>
        <p:nvSpPr>
          <p:cNvPr id="21" name="">
            <a:extLst xmlns:a="http://schemas.openxmlformats.org/drawingml/2006/main">
              <a:ext uri="{FF2B5EF4-FFF2-40B4-BE49-F238E27FC236}">
                <a16:creationId xmlns:a16="http://schemas.microsoft.com/office/drawing/2014/main" id="{8C8742DB-BD85-4B61-B6A2-CF2862B77195}"/>
              </a:ext>
            </a:extLst>
          </p:cNvPr>
          <p:cNvSpPr>
            <a:spLocks xmlns:a="http://schemas.openxmlformats.org/drawingml/2006/main" noGrp="1"/>
          </p:cNvSpPr>
          <p:nvPr/>
        </p:nvSpPr>
        <p:spPr>
          <a:xfrm xmlns:a="http://schemas.openxmlformats.org/drawingml/2006/main">
            <a:off x="666750" y="6165342"/>
            <a:ext cx="8343900" cy="1407414"/>
          </a:xfrm>
          <a:prstGeom xmlns:a="http://schemas.openxmlformats.org/drawingml/2006/main" prst="roundRect">
            <a:avLst>
              <a:gd name="adj" fmla="val 8121"/>
            </a:avLst>
          </a:prstGeom>
          <a:solidFill xmlns:a="http://schemas.openxmlformats.org/drawingml/2006/main">
            <a:srgbClr val="EEF5F5"/>
          </a:solidFill>
        </p:spPr>
      </p:sp>
      <p:sp>
        <p:nvSpPr>
          <p:cNvPr id="22" name="">
            <a:extLst xmlns:a="http://schemas.openxmlformats.org/drawingml/2006/main">
              <a:ext uri="{FF2B5EF4-FFF2-40B4-BE49-F238E27FC236}">
                <a16:creationId xmlns:a16="http://schemas.microsoft.com/office/drawing/2014/main" id="{0EB852D6-E463-4F1E-87C4-7C41FA245D1E}"/>
              </a:ext>
            </a:extLst>
          </p:cNvPr>
          <p:cNvSpPr>
            <a:spLocks xmlns:a="http://schemas.openxmlformats.org/drawingml/2006/main" noGrp="1"/>
          </p:cNvSpPr>
          <p:nvPr/>
        </p:nvSpPr>
        <p:spPr>
          <a:xfrm xmlns:a="http://schemas.openxmlformats.org/drawingml/2006/main">
            <a:off x="990600" y="6667500"/>
            <a:ext cx="609600" cy="4095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1">
                <a:solidFill>
                  <a:srgbClr val="006B75"/>
                </a:solidFill>
              </a:defRPr>
            </a:pPr>
            <a:r>
              <a:rPr sz="2700" b="1">
                <a:solidFill>
                  <a:srgbClr val="006B75"/>
                </a:solidFill>
              </a:rPr>
              <a:t>04</a:t>
            </a:r>
          </a:p>
        </p:txBody>
      </p:sp>
      <p:sp>
        <p:nvSpPr>
          <p:cNvPr id="23" name="">
            <a:extLst xmlns:a="http://schemas.openxmlformats.org/drawingml/2006/main">
              <a:ext uri="{FF2B5EF4-FFF2-40B4-BE49-F238E27FC236}">
                <a16:creationId xmlns:a16="http://schemas.microsoft.com/office/drawing/2014/main" id="{748D9FF3-F215-4D04-A141-4E556E20395C}"/>
              </a:ext>
            </a:extLst>
          </p:cNvPr>
          <p:cNvSpPr>
            <a:spLocks xmlns:a="http://schemas.openxmlformats.org/drawingml/2006/main" noGrp="1"/>
          </p:cNvSpPr>
          <p:nvPr/>
        </p:nvSpPr>
        <p:spPr>
          <a:xfrm xmlns:a="http://schemas.openxmlformats.org/drawingml/2006/main">
            <a:off x="1847850" y="6677025"/>
            <a:ext cx="6838950" cy="3905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0">
                <a:solidFill>
                  <a:srgbClr val="173442"/>
                </a:solidFill>
              </a:defRPr>
            </a:pPr>
            <a:r>
              <a:rPr sz="2550" b="0">
                <a:solidFill>
                  <a:srgbClr val="173442"/>
                </a:solidFill>
              </a:rPr>
              <a:t>Preemption with nesting</a:t>
            </a:r>
          </a:p>
        </p:txBody>
      </p:sp>
      <p:sp>
        <p:nvSpPr>
          <p:cNvPr id="24" name="">
            <a:extLst xmlns:a="http://schemas.openxmlformats.org/drawingml/2006/main">
              <a:ext uri="{FF2B5EF4-FFF2-40B4-BE49-F238E27FC236}">
                <a16:creationId xmlns:a16="http://schemas.microsoft.com/office/drawing/2014/main" id="{A1CECCF9-53B4-41ED-9568-901F6CD920FE}"/>
              </a:ext>
            </a:extLst>
          </p:cNvPr>
          <p:cNvSpPr>
            <a:spLocks xmlns:a="http://schemas.openxmlformats.org/drawingml/2006/main" noGrp="1"/>
          </p:cNvSpPr>
          <p:nvPr/>
        </p:nvSpPr>
        <p:spPr>
          <a:xfrm xmlns:a="http://schemas.openxmlformats.org/drawingml/2006/main">
            <a:off x="9277350" y="6165342"/>
            <a:ext cx="8343900" cy="1407414"/>
          </a:xfrm>
          <a:prstGeom xmlns:a="http://schemas.openxmlformats.org/drawingml/2006/main" prst="roundRect">
            <a:avLst>
              <a:gd name="adj" fmla="val 8121"/>
            </a:avLst>
          </a:prstGeom>
          <a:solidFill xmlns:a="http://schemas.openxmlformats.org/drawingml/2006/main">
            <a:srgbClr val="EEF5F5"/>
          </a:solidFill>
        </p:spPr>
      </p:sp>
      <p:sp>
        <p:nvSpPr>
          <p:cNvPr id="25" name="">
            <a:extLst xmlns:a="http://schemas.openxmlformats.org/drawingml/2006/main">
              <a:ext uri="{FF2B5EF4-FFF2-40B4-BE49-F238E27FC236}">
                <a16:creationId xmlns:a16="http://schemas.microsoft.com/office/drawing/2014/main" id="{01282D6E-BBC6-4FA9-9AA0-7608AA1438CF}"/>
              </a:ext>
            </a:extLst>
          </p:cNvPr>
          <p:cNvSpPr>
            <a:spLocks xmlns:a="http://schemas.openxmlformats.org/drawingml/2006/main" noGrp="1"/>
          </p:cNvSpPr>
          <p:nvPr/>
        </p:nvSpPr>
        <p:spPr>
          <a:xfrm xmlns:a="http://schemas.openxmlformats.org/drawingml/2006/main">
            <a:off x="9601200" y="6667500"/>
            <a:ext cx="609600" cy="4095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1">
                <a:solidFill>
                  <a:srgbClr val="006B75"/>
                </a:solidFill>
              </a:defRPr>
            </a:pPr>
            <a:r>
              <a:rPr sz="2700" b="1">
                <a:solidFill>
                  <a:srgbClr val="006B75"/>
                </a:solidFill>
              </a:rPr>
              <a:t>09</a:t>
            </a:r>
          </a:p>
        </p:txBody>
      </p:sp>
      <p:sp>
        <p:nvSpPr>
          <p:cNvPr id="26" name="">
            <a:extLst xmlns:a="http://schemas.openxmlformats.org/drawingml/2006/main">
              <a:ext uri="{FF2B5EF4-FFF2-40B4-BE49-F238E27FC236}">
                <a16:creationId xmlns:a16="http://schemas.microsoft.com/office/drawing/2014/main" id="{D82D1BC8-AF60-4E3E-A654-F3E2B4234FF6}"/>
              </a:ext>
            </a:extLst>
          </p:cNvPr>
          <p:cNvSpPr>
            <a:spLocks xmlns:a="http://schemas.openxmlformats.org/drawingml/2006/main" noGrp="1"/>
          </p:cNvSpPr>
          <p:nvPr/>
        </p:nvSpPr>
        <p:spPr>
          <a:xfrm xmlns:a="http://schemas.openxmlformats.org/drawingml/2006/main">
            <a:off x="10458450" y="6677025"/>
            <a:ext cx="6838950" cy="3905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0">
                <a:solidFill>
                  <a:srgbClr val="173442"/>
                </a:solidFill>
              </a:defRPr>
            </a:pPr>
            <a:r>
              <a:rPr sz="2550" b="0">
                <a:solidFill>
                  <a:srgbClr val="173442"/>
                </a:solidFill>
              </a:rPr>
              <a:t>One request + vector to the CPU</a:t>
            </a:r>
          </a:p>
        </p:txBody>
      </p:sp>
      <p:sp>
        <p:nvSpPr>
          <p:cNvPr id="27" name="">
            <a:extLst xmlns:a="http://schemas.openxmlformats.org/drawingml/2006/main">
              <a:ext uri="{FF2B5EF4-FFF2-40B4-BE49-F238E27FC236}">
                <a16:creationId xmlns:a16="http://schemas.microsoft.com/office/drawing/2014/main" id="{C9D5F11E-110E-4474-88D5-0DDD0E73640C}"/>
              </a:ext>
            </a:extLst>
          </p:cNvPr>
          <p:cNvSpPr>
            <a:spLocks xmlns:a="http://schemas.openxmlformats.org/drawingml/2006/main" noGrp="1"/>
          </p:cNvSpPr>
          <p:nvPr/>
        </p:nvSpPr>
        <p:spPr>
          <a:xfrm xmlns:a="http://schemas.openxmlformats.org/drawingml/2006/main">
            <a:off x="666750" y="7744206"/>
            <a:ext cx="8343900" cy="1407414"/>
          </a:xfrm>
          <a:prstGeom xmlns:a="http://schemas.openxmlformats.org/drawingml/2006/main" prst="roundRect">
            <a:avLst>
              <a:gd name="adj" fmla="val 8121"/>
            </a:avLst>
          </a:prstGeom>
          <a:solidFill xmlns:a="http://schemas.openxmlformats.org/drawingml/2006/main">
            <a:srgbClr val="EEF5F5"/>
          </a:solidFill>
        </p:spPr>
      </p:sp>
      <p:sp>
        <p:nvSpPr>
          <p:cNvPr id="28" name="">
            <a:extLst xmlns:a="http://schemas.openxmlformats.org/drawingml/2006/main">
              <a:ext uri="{FF2B5EF4-FFF2-40B4-BE49-F238E27FC236}">
                <a16:creationId xmlns:a16="http://schemas.microsoft.com/office/drawing/2014/main" id="{69EF78CC-8B46-4F2B-BB21-F1ADD16BFAB3}"/>
              </a:ext>
            </a:extLst>
          </p:cNvPr>
          <p:cNvSpPr>
            <a:spLocks xmlns:a="http://schemas.openxmlformats.org/drawingml/2006/main" noGrp="1"/>
          </p:cNvSpPr>
          <p:nvPr/>
        </p:nvSpPr>
        <p:spPr>
          <a:xfrm xmlns:a="http://schemas.openxmlformats.org/drawingml/2006/main">
            <a:off x="990600" y="8239125"/>
            <a:ext cx="609600" cy="4095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1">
                <a:solidFill>
                  <a:srgbClr val="006B75"/>
                </a:solidFill>
              </a:defRPr>
            </a:pPr>
            <a:r>
              <a:rPr sz="2700" b="1">
                <a:solidFill>
                  <a:srgbClr val="006B75"/>
                </a:solidFill>
              </a:rPr>
              <a:t>05</a:t>
            </a:r>
          </a:p>
        </p:txBody>
      </p:sp>
      <p:sp>
        <p:nvSpPr>
          <p:cNvPr id="29" name="">
            <a:extLst xmlns:a="http://schemas.openxmlformats.org/drawingml/2006/main">
              <a:ext uri="{FF2B5EF4-FFF2-40B4-BE49-F238E27FC236}">
                <a16:creationId xmlns:a16="http://schemas.microsoft.com/office/drawing/2014/main" id="{A7921117-D18E-4A55-B18E-93E0B0A6DA53}"/>
              </a:ext>
            </a:extLst>
          </p:cNvPr>
          <p:cNvSpPr>
            <a:spLocks xmlns:a="http://schemas.openxmlformats.org/drawingml/2006/main" noGrp="1"/>
          </p:cNvSpPr>
          <p:nvPr/>
        </p:nvSpPr>
        <p:spPr>
          <a:xfrm xmlns:a="http://schemas.openxmlformats.org/drawingml/2006/main">
            <a:off x="1847850" y="8248650"/>
            <a:ext cx="6838950" cy="3905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0">
                <a:solidFill>
                  <a:srgbClr val="173442"/>
                </a:solidFill>
              </a:defRPr>
            </a:pPr>
            <a:r>
              <a:rPr sz="2550" b="0">
                <a:solidFill>
                  <a:srgbClr val="173442"/>
                </a:solidFill>
              </a:rPr>
              <a:t>Spurious interrupt detection</a:t>
            </a:r>
          </a:p>
        </p:txBody>
      </p:sp>
      <p:sp>
        <p:nvSpPr>
          <p:cNvPr id="30" name="">
            <a:extLst xmlns:a="http://schemas.openxmlformats.org/drawingml/2006/main">
              <a:ext uri="{FF2B5EF4-FFF2-40B4-BE49-F238E27FC236}">
                <a16:creationId xmlns:a16="http://schemas.microsoft.com/office/drawing/2014/main" id="{0849750E-BF55-4142-99E2-9F1618FFBBA5}"/>
              </a:ext>
            </a:extLst>
          </p:cNvPr>
          <p:cNvSpPr>
            <a:spLocks xmlns:a="http://schemas.openxmlformats.org/drawingml/2006/main" noGrp="1"/>
          </p:cNvSpPr>
          <p:nvPr/>
        </p:nvSpPr>
        <p:spPr>
          <a:xfrm xmlns:a="http://schemas.openxmlformats.org/drawingml/2006/main">
            <a:off x="9277350" y="7744206"/>
            <a:ext cx="8343900" cy="1407414"/>
          </a:xfrm>
          <a:prstGeom xmlns:a="http://schemas.openxmlformats.org/drawingml/2006/main" prst="roundRect">
            <a:avLst>
              <a:gd name="adj" fmla="val 8121"/>
            </a:avLst>
          </a:prstGeom>
          <a:solidFill xmlns:a="http://schemas.openxmlformats.org/drawingml/2006/main">
            <a:srgbClr val="EEF5F5"/>
          </a:solidFill>
        </p:spPr>
      </p:sp>
      <p:sp>
        <p:nvSpPr>
          <p:cNvPr id="31" name="">
            <a:extLst xmlns:a="http://schemas.openxmlformats.org/drawingml/2006/main">
              <a:ext uri="{FF2B5EF4-FFF2-40B4-BE49-F238E27FC236}">
                <a16:creationId xmlns:a16="http://schemas.microsoft.com/office/drawing/2014/main" id="{8F5798B4-1245-4962-AD21-F988168A5FCA}"/>
              </a:ext>
            </a:extLst>
          </p:cNvPr>
          <p:cNvSpPr>
            <a:spLocks xmlns:a="http://schemas.openxmlformats.org/drawingml/2006/main" noGrp="1"/>
          </p:cNvSpPr>
          <p:nvPr/>
        </p:nvSpPr>
        <p:spPr>
          <a:xfrm xmlns:a="http://schemas.openxmlformats.org/drawingml/2006/main">
            <a:off x="9601200" y="8248650"/>
            <a:ext cx="609600" cy="4095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1">
                <a:solidFill>
                  <a:srgbClr val="006B75"/>
                </a:solidFill>
              </a:defRPr>
            </a:pPr>
            <a:r>
              <a:rPr sz="2700" b="1">
                <a:solidFill>
                  <a:srgbClr val="006B75"/>
                </a:solidFill>
              </a:rPr>
              <a:t>10</a:t>
            </a:r>
          </a:p>
        </p:txBody>
      </p:sp>
      <p:sp>
        <p:nvSpPr>
          <p:cNvPr id="32" name="">
            <a:extLst xmlns:a="http://schemas.openxmlformats.org/drawingml/2006/main">
              <a:ext uri="{FF2B5EF4-FFF2-40B4-BE49-F238E27FC236}">
                <a16:creationId xmlns:a16="http://schemas.microsoft.com/office/drawing/2014/main" id="{329A1FE4-051D-49FC-9A69-835064AB7A9C}"/>
              </a:ext>
            </a:extLst>
          </p:cNvPr>
          <p:cNvSpPr>
            <a:spLocks xmlns:a="http://schemas.openxmlformats.org/drawingml/2006/main" noGrp="1"/>
          </p:cNvSpPr>
          <p:nvPr/>
        </p:nvSpPr>
        <p:spPr>
          <a:xfrm xmlns:a="http://schemas.openxmlformats.org/drawingml/2006/main">
            <a:off x="10458450" y="8058150"/>
            <a:ext cx="6838950" cy="781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0">
                <a:solidFill>
                  <a:srgbClr val="173442"/>
                </a:solidFill>
              </a:defRPr>
            </a:pPr>
            <a:r>
              <a:rPr sz="2550" b="0">
                <a:solidFill>
                  <a:srgbClr val="173442"/>
                </a:solidFill>
              </a:rPr>
              <a:t>SW interrupts identical to HW once they enter arbitration</a:t>
            </a:r>
          </a:p>
        </p:txBody>
      </p:sp>
      <p:sp>
        <p:nvSpPr>
          <p:cNvPr id="33" name="">
            <a:extLst xmlns:a="http://schemas.openxmlformats.org/drawingml/2006/main">
              <a:ext uri="{FF2B5EF4-FFF2-40B4-BE49-F238E27FC236}">
                <a16:creationId xmlns:a16="http://schemas.microsoft.com/office/drawing/2014/main" id="{FC819BB2-B44D-4EC2-9B95-28110229CB56}"/>
              </a:ext>
            </a:extLst>
          </p:cNvPr>
          <p:cNvSpPr>
            <a:spLocks xmlns:a="http://schemas.openxmlformats.org/drawingml/2006/main" noGrp="1"/>
          </p:cNvSpPr>
          <p:nvPr/>
        </p:nvSpPr>
        <p:spPr>
          <a:xfrm xmlns:a="http://schemas.openxmlformats.org/drawingml/2006/main">
            <a:off x="666750" y="9324975"/>
            <a:ext cx="169545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0">
                <a:solidFill>
                  <a:srgbClr val="526772"/>
                </a:solidFill>
              </a:defRPr>
            </a:pPr>
            <a:r>
              <a:rPr sz="1950" b="0">
                <a:solidFill>
                  <a:srgbClr val="526772"/>
                </a:solidFill>
              </a:rPr>
              <a:t>The 32 HW/SW inputs merge into 16 source identities.</a:t>
            </a:r>
          </a:p>
        </p:txBody>
      </p:sp>
      <p:sp>
        <p:nvSpPr>
          <p:cNvPr id="34" name="footer">
            <a:extLst xmlns:a="http://schemas.openxmlformats.org/drawingml/2006/main">
              <a:ext uri="{FF2B5EF4-FFF2-40B4-BE49-F238E27FC236}">
                <a16:creationId xmlns:a16="http://schemas.microsoft.com/office/drawing/2014/main" id="{FD831275-A7CC-41B6-82DC-6EBF5F1B3FD2}"/>
              </a:ext>
            </a:extLst>
          </p:cNvPr>
          <p:cNvSpPr>
            <a:spLocks xmlns:a="http://schemas.openxmlformats.org/drawingml/2006/main" noGrp="1"/>
          </p:cNvSpPr>
          <p:nvPr/>
        </p:nvSpPr>
        <p:spPr>
          <a:xfrm xmlns:a="http://schemas.openxmlformats.org/drawingml/2006/main">
            <a:off x="666750" y="9772650"/>
            <a:ext cx="169545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526772"/>
                </a:solidFill>
              </a:defRPr>
            </a:pPr>
            <a:r>
              <a:rPr sz="1500" b="0">
                <a:solidFill>
                  <a:srgbClr val="526772"/>
                </a:solidFill>
              </a:rPr>
              <a:t>PIC   ·   02 / 08   ·   Requirements</a:t>
            </a:r>
          </a:p>
        </p:txBody>
      </p:sp>
    </p:spTree>
    <p:extLst>
      <p:ext uri="{BB962C8B-B14F-4D97-AF65-F5344CB8AC3E}">
        <p14:creationId xmlns:p14="http://schemas.microsoft.com/office/powerpoint/2010/main" val="72187951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B7F04AC4-6EEB-44A1-A721-A6A086429325}"/>
              </a:ext>
            </a:extLst>
          </p:cNvPr>
          <p:cNvSpPr>
            <a:spLocks xmlns:a="http://schemas.openxmlformats.org/drawingml/2006/main" noGrp="1"/>
          </p:cNvSpPr>
          <p:nvPr/>
        </p:nvSpPr>
        <p:spPr>
          <a:xfrm xmlns:a="http://schemas.openxmlformats.org/drawingml/2006/main">
            <a:off x="666750" y="419100"/>
            <a:ext cx="16954500" cy="571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750" b="1">
                <a:solidFill>
                  <a:srgbClr val="173442"/>
                </a:solidFill>
              </a:defRPr>
            </a:pPr>
            <a:r>
              <a:rPr sz="3750" b="1">
                <a:solidFill>
                  <a:srgbClr val="173442"/>
                </a:solidFill>
              </a:rPr>
              <a:t>The brief left 21 questions open; five of them shaped the design</a:t>
            </a:r>
          </a:p>
        </p:txBody>
      </p:sp>
      <p:sp>
        <p:nvSpPr>
          <p:cNvPr id="2" name="">
            <a:extLst xmlns:a="http://schemas.openxmlformats.org/drawingml/2006/main">
              <a:ext uri="{FF2B5EF4-FFF2-40B4-BE49-F238E27FC236}">
                <a16:creationId xmlns:a16="http://schemas.microsoft.com/office/drawing/2014/main" id="{CA988D04-5DAF-4CB6-B3F7-EF7624DBBF60}"/>
              </a:ext>
            </a:extLst>
          </p:cNvPr>
          <p:cNvSpPr>
            <a:spLocks xmlns:a="http://schemas.openxmlformats.org/drawingml/2006/main" noGrp="1"/>
          </p:cNvSpPr>
          <p:nvPr/>
        </p:nvSpPr>
        <p:spPr>
          <a:xfrm xmlns:a="http://schemas.openxmlformats.org/drawingml/2006/main">
            <a:off x="666750" y="1123950"/>
            <a:ext cx="1619250" cy="38100"/>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sp>
        <p:nvSpPr>
          <p:cNvPr id="3" name="">
            <a:extLst xmlns:a="http://schemas.openxmlformats.org/drawingml/2006/main">
              <a:ext uri="{FF2B5EF4-FFF2-40B4-BE49-F238E27FC236}">
                <a16:creationId xmlns:a16="http://schemas.microsoft.com/office/drawing/2014/main" id="{7E3399C6-B9E6-4999-B101-C54D669705C9}"/>
              </a:ext>
            </a:extLst>
          </p:cNvPr>
          <p:cNvSpPr>
            <a:spLocks xmlns:a="http://schemas.openxmlformats.org/drawingml/2006/main" noGrp="1"/>
          </p:cNvSpPr>
          <p:nvPr/>
        </p:nvSpPr>
        <p:spPr>
          <a:xfrm xmlns:a="http://schemas.openxmlformats.org/drawingml/2006/main">
            <a:off x="1600200" y="1428750"/>
            <a:ext cx="57150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1">
                <a:solidFill>
                  <a:srgbClr val="526772"/>
                </a:solidFill>
              </a:defRPr>
            </a:pPr>
            <a:r>
              <a:rPr sz="1875" b="1">
                <a:solidFill>
                  <a:srgbClr val="526772"/>
                </a:solidFill>
              </a:rPr>
              <a:t>Question from the brief</a:t>
            </a:r>
          </a:p>
        </p:txBody>
      </p:sp>
      <p:sp>
        <p:nvSpPr>
          <p:cNvPr id="4" name="">
            <a:extLst xmlns:a="http://schemas.openxmlformats.org/drawingml/2006/main">
              <a:ext uri="{FF2B5EF4-FFF2-40B4-BE49-F238E27FC236}">
                <a16:creationId xmlns:a16="http://schemas.microsoft.com/office/drawing/2014/main" id="{47718681-61DF-4AC3-AC73-060777C551B4}"/>
              </a:ext>
            </a:extLst>
          </p:cNvPr>
          <p:cNvSpPr>
            <a:spLocks xmlns:a="http://schemas.openxmlformats.org/drawingml/2006/main" noGrp="1"/>
          </p:cNvSpPr>
          <p:nvPr/>
        </p:nvSpPr>
        <p:spPr>
          <a:xfrm xmlns:a="http://schemas.openxmlformats.org/drawingml/2006/main">
            <a:off x="8191500" y="1428750"/>
            <a:ext cx="85725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1">
                <a:solidFill>
                  <a:srgbClr val="006B75"/>
                </a:solidFill>
              </a:defRPr>
            </a:pPr>
            <a:r>
              <a:rPr sz="1875" b="1">
                <a:solidFill>
                  <a:srgbClr val="006B75"/>
                </a:solidFill>
              </a:rPr>
              <a:t>What I decided</a:t>
            </a:r>
          </a:p>
        </p:txBody>
      </p:sp>
      <p:sp>
        <p:nvSpPr>
          <p:cNvPr id="5" name="">
            <a:extLst xmlns:a="http://schemas.openxmlformats.org/drawingml/2006/main">
              <a:ext uri="{FF2B5EF4-FFF2-40B4-BE49-F238E27FC236}">
                <a16:creationId xmlns:a16="http://schemas.microsoft.com/office/drawing/2014/main" id="{2C5D2821-8BBE-4724-A237-B0C2AEDE83FA}"/>
              </a:ext>
            </a:extLst>
          </p:cNvPr>
          <p:cNvSpPr>
            <a:spLocks xmlns:a="http://schemas.openxmlformats.org/drawingml/2006/main" noGrp="1"/>
          </p:cNvSpPr>
          <p:nvPr/>
        </p:nvSpPr>
        <p:spPr>
          <a:xfrm xmlns:a="http://schemas.openxmlformats.org/drawingml/2006/main">
            <a:off x="666750" y="1828800"/>
            <a:ext cx="16954500" cy="1451610"/>
          </a:xfrm>
          <a:prstGeom xmlns:a="http://schemas.openxmlformats.org/drawingml/2006/main" prst="roundRect">
            <a:avLst>
              <a:gd name="adj" fmla="val 7874"/>
            </a:avLst>
          </a:prstGeom>
          <a:solidFill xmlns:a="http://schemas.openxmlformats.org/drawingml/2006/main">
            <a:srgbClr val="EEF5F5"/>
          </a:solidFill>
        </p:spPr>
      </p:sp>
      <p:sp>
        <p:nvSpPr>
          <p:cNvPr id="6" name="">
            <a:extLst xmlns:a="http://schemas.openxmlformats.org/drawingml/2006/main">
              <a:ext uri="{FF2B5EF4-FFF2-40B4-BE49-F238E27FC236}">
                <a16:creationId xmlns:a16="http://schemas.microsoft.com/office/drawing/2014/main" id="{BEBBCFEF-400B-47AA-A585-F11DA2250947}"/>
              </a:ext>
            </a:extLst>
          </p:cNvPr>
          <p:cNvSpPr>
            <a:spLocks xmlns:a="http://schemas.openxmlformats.org/drawingml/2006/main" noGrp="1"/>
          </p:cNvSpPr>
          <p:nvPr/>
        </p:nvSpPr>
        <p:spPr>
          <a:xfrm xmlns:a="http://schemas.openxmlformats.org/drawingml/2006/main">
            <a:off x="990600" y="2333625"/>
            <a:ext cx="381000" cy="438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850" b="1">
                <a:solidFill>
                  <a:srgbClr val="006B75"/>
                </a:solidFill>
              </a:defRPr>
            </a:pPr>
            <a:r>
              <a:rPr sz="2850" b="1">
                <a:solidFill>
                  <a:srgbClr val="006B75"/>
                </a:solidFill>
              </a:rPr>
              <a:t>1</a:t>
            </a:r>
          </a:p>
        </p:txBody>
      </p:sp>
      <p:sp>
        <p:nvSpPr>
          <p:cNvPr id="7" name="">
            <a:extLst xmlns:a="http://schemas.openxmlformats.org/drawingml/2006/main">
              <a:ext uri="{FF2B5EF4-FFF2-40B4-BE49-F238E27FC236}">
                <a16:creationId xmlns:a16="http://schemas.microsoft.com/office/drawing/2014/main" id="{A2050A25-3B98-45F4-9268-4602D0CBB1A8}"/>
              </a:ext>
            </a:extLst>
          </p:cNvPr>
          <p:cNvSpPr>
            <a:spLocks xmlns:a="http://schemas.openxmlformats.org/drawingml/2006/main" noGrp="1"/>
          </p:cNvSpPr>
          <p:nvPr/>
        </p:nvSpPr>
        <p:spPr>
          <a:xfrm xmlns:a="http://schemas.openxmlformats.org/drawingml/2006/main">
            <a:off x="1600200" y="2390775"/>
            <a:ext cx="5715000"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526772"/>
                </a:solidFill>
              </a:defRPr>
            </a:pPr>
            <a:r>
              <a:rPr sz="2175" b="0">
                <a:solidFill>
                  <a:srgbClr val="526772"/>
                </a:solidFill>
              </a:rPr>
              <a:t>How many bands, and how is a tie resolved?</a:t>
            </a:r>
          </a:p>
        </p:txBody>
      </p:sp>
      <p:sp>
        <p:nvSpPr>
          <p:cNvPr id="8" name="">
            <a:extLst xmlns:a="http://schemas.openxmlformats.org/drawingml/2006/main">
              <a:ext uri="{FF2B5EF4-FFF2-40B4-BE49-F238E27FC236}">
                <a16:creationId xmlns:a16="http://schemas.microsoft.com/office/drawing/2014/main" id="{DA1282C5-7C1D-426B-A677-1ED267ACF389}"/>
              </a:ext>
            </a:extLst>
          </p:cNvPr>
          <p:cNvSpPr>
            <a:spLocks xmlns:a="http://schemas.openxmlformats.org/drawingml/2006/main" noGrp="1"/>
          </p:cNvSpPr>
          <p:nvPr/>
        </p:nvSpPr>
        <p:spPr>
          <a:xfrm xmlns:a="http://schemas.openxmlformats.org/drawingml/2006/main">
            <a:off x="7543800" y="2352675"/>
            <a:ext cx="419100" cy="4095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0">
                <a:solidFill>
                  <a:srgbClr val="006B75"/>
                </a:solidFill>
              </a:defRPr>
            </a:pPr>
            <a:r>
              <a:rPr sz="2700" b="0">
                <a:solidFill>
                  <a:srgbClr val="006B75"/>
                </a:solidFill>
              </a:rPr>
              <a:t>→</a:t>
            </a:r>
          </a:p>
        </p:txBody>
      </p:sp>
      <p:sp>
        <p:nvSpPr>
          <p:cNvPr id="9" name="">
            <a:extLst xmlns:a="http://schemas.openxmlformats.org/drawingml/2006/main">
              <a:ext uri="{FF2B5EF4-FFF2-40B4-BE49-F238E27FC236}">
                <a16:creationId xmlns:a16="http://schemas.microsoft.com/office/drawing/2014/main" id="{09405711-6E44-4622-BD10-AE8AACD9F9F2}"/>
              </a:ext>
            </a:extLst>
          </p:cNvPr>
          <p:cNvSpPr>
            <a:spLocks xmlns:a="http://schemas.openxmlformats.org/drawingml/2006/main" noGrp="1"/>
          </p:cNvSpPr>
          <p:nvPr/>
        </p:nvSpPr>
        <p:spPr>
          <a:xfrm xmlns:a="http://schemas.openxmlformats.org/drawingml/2006/main">
            <a:off x="8191500" y="2200275"/>
            <a:ext cx="8572500" cy="704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0">
                <a:solidFill>
                  <a:srgbClr val="173442"/>
                </a:solidFill>
              </a:defRPr>
            </a:pPr>
            <a:r>
              <a:rPr sz="2325" b="0">
                <a:solidFill>
                  <a:srgbClr val="173442"/>
                </a:solidFill>
              </a:rPr>
              <a:t>4 bands with programmable urgency; one 10-bit key per source; the lower ID wins a tie</a:t>
            </a:r>
          </a:p>
        </p:txBody>
      </p:sp>
      <p:sp>
        <p:nvSpPr>
          <p:cNvPr id="10" name="">
            <a:extLst xmlns:a="http://schemas.openxmlformats.org/drawingml/2006/main">
              <a:ext uri="{FF2B5EF4-FFF2-40B4-BE49-F238E27FC236}">
                <a16:creationId xmlns:a16="http://schemas.microsoft.com/office/drawing/2014/main" id="{32AC7BFF-742E-4B95-9526-52E5ABDC89C7}"/>
              </a:ext>
            </a:extLst>
          </p:cNvPr>
          <p:cNvSpPr>
            <a:spLocks xmlns:a="http://schemas.openxmlformats.org/drawingml/2006/main" noGrp="1"/>
          </p:cNvSpPr>
          <p:nvPr/>
        </p:nvSpPr>
        <p:spPr>
          <a:xfrm xmlns:a="http://schemas.openxmlformats.org/drawingml/2006/main">
            <a:off x="666750" y="3413760"/>
            <a:ext cx="16954500" cy="1451610"/>
          </a:xfrm>
          <a:prstGeom xmlns:a="http://schemas.openxmlformats.org/drawingml/2006/main" prst="roundRect">
            <a:avLst>
              <a:gd name="adj" fmla="val 7874"/>
            </a:avLst>
          </a:prstGeom>
          <a:solidFill xmlns:a="http://schemas.openxmlformats.org/drawingml/2006/main">
            <a:srgbClr val="EEF5F5"/>
          </a:solidFill>
        </p:spPr>
      </p:sp>
      <p:sp>
        <p:nvSpPr>
          <p:cNvPr id="11" name="">
            <a:extLst xmlns:a="http://schemas.openxmlformats.org/drawingml/2006/main">
              <a:ext uri="{FF2B5EF4-FFF2-40B4-BE49-F238E27FC236}">
                <a16:creationId xmlns:a16="http://schemas.microsoft.com/office/drawing/2014/main" id="{F87EA3A0-855B-4611-8333-0AAE195FE690}"/>
              </a:ext>
            </a:extLst>
          </p:cNvPr>
          <p:cNvSpPr>
            <a:spLocks xmlns:a="http://schemas.openxmlformats.org/drawingml/2006/main" noGrp="1"/>
          </p:cNvSpPr>
          <p:nvPr/>
        </p:nvSpPr>
        <p:spPr>
          <a:xfrm xmlns:a="http://schemas.openxmlformats.org/drawingml/2006/main">
            <a:off x="990600" y="3924300"/>
            <a:ext cx="381000" cy="438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850" b="1">
                <a:solidFill>
                  <a:srgbClr val="006B75"/>
                </a:solidFill>
              </a:defRPr>
            </a:pPr>
            <a:r>
              <a:rPr sz="2850" b="1">
                <a:solidFill>
                  <a:srgbClr val="006B75"/>
                </a:solidFill>
              </a:rPr>
              <a:t>2</a:t>
            </a:r>
          </a:p>
        </p:txBody>
      </p:sp>
      <p:sp>
        <p:nvSpPr>
          <p:cNvPr id="12" name="">
            <a:extLst xmlns:a="http://schemas.openxmlformats.org/drawingml/2006/main">
              <a:ext uri="{FF2B5EF4-FFF2-40B4-BE49-F238E27FC236}">
                <a16:creationId xmlns:a16="http://schemas.microsoft.com/office/drawing/2014/main" id="{FD16FC81-BE9D-4E83-BB00-7FFE9DDE28C8}"/>
              </a:ext>
            </a:extLst>
          </p:cNvPr>
          <p:cNvSpPr>
            <a:spLocks xmlns:a="http://schemas.openxmlformats.org/drawingml/2006/main" noGrp="1"/>
          </p:cNvSpPr>
          <p:nvPr/>
        </p:nvSpPr>
        <p:spPr>
          <a:xfrm xmlns:a="http://schemas.openxmlformats.org/drawingml/2006/main">
            <a:off x="1600200" y="3810000"/>
            <a:ext cx="571500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526772"/>
                </a:solidFill>
              </a:defRPr>
            </a:pPr>
            <a:r>
              <a:rPr sz="2175" b="0">
                <a:solidFill>
                  <a:srgbClr val="526772"/>
                </a:solidFill>
              </a:rPr>
              <a:t>What if an active source is moved to another band?</a:t>
            </a:r>
          </a:p>
        </p:txBody>
      </p:sp>
      <p:sp>
        <p:nvSpPr>
          <p:cNvPr id="13" name="">
            <a:extLst xmlns:a="http://schemas.openxmlformats.org/drawingml/2006/main">
              <a:ext uri="{FF2B5EF4-FFF2-40B4-BE49-F238E27FC236}">
                <a16:creationId xmlns:a16="http://schemas.microsoft.com/office/drawing/2014/main" id="{06D7CCFB-20D7-4AA9-8421-6D1BA896094D}"/>
              </a:ext>
            </a:extLst>
          </p:cNvPr>
          <p:cNvSpPr>
            <a:spLocks xmlns:a="http://schemas.openxmlformats.org/drawingml/2006/main" noGrp="1"/>
          </p:cNvSpPr>
          <p:nvPr/>
        </p:nvSpPr>
        <p:spPr>
          <a:xfrm xmlns:a="http://schemas.openxmlformats.org/drawingml/2006/main">
            <a:off x="7543800" y="3943350"/>
            <a:ext cx="419100" cy="4095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0">
                <a:solidFill>
                  <a:srgbClr val="006B75"/>
                </a:solidFill>
              </a:defRPr>
            </a:pPr>
            <a:r>
              <a:rPr sz="2700" b="0">
                <a:solidFill>
                  <a:srgbClr val="006B75"/>
                </a:solidFill>
              </a:rPr>
              <a:t>→</a:t>
            </a:r>
          </a:p>
        </p:txBody>
      </p:sp>
      <p:sp>
        <p:nvSpPr>
          <p:cNvPr id="14" name="">
            <a:extLst xmlns:a="http://schemas.openxmlformats.org/drawingml/2006/main">
              <a:ext uri="{FF2B5EF4-FFF2-40B4-BE49-F238E27FC236}">
                <a16:creationId xmlns:a16="http://schemas.microsoft.com/office/drawing/2014/main" id="{B050AFC6-5598-40AF-97AC-14FAF74B9017}"/>
              </a:ext>
            </a:extLst>
          </p:cNvPr>
          <p:cNvSpPr>
            <a:spLocks xmlns:a="http://schemas.openxmlformats.org/drawingml/2006/main" noGrp="1"/>
          </p:cNvSpPr>
          <p:nvPr/>
        </p:nvSpPr>
        <p:spPr>
          <a:xfrm xmlns:a="http://schemas.openxmlformats.org/drawingml/2006/main">
            <a:off x="8191500" y="3971925"/>
            <a:ext cx="8572500" cy="3524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0">
                <a:solidFill>
                  <a:srgbClr val="173442"/>
                </a:solidFill>
              </a:defRPr>
            </a:pPr>
            <a:r>
              <a:rPr sz="2325" b="0">
                <a:solidFill>
                  <a:srgbClr val="173442"/>
                </a:solidFill>
              </a:rPr>
              <a:t>The key saved at claim stays; the new band applies to the next request</a:t>
            </a:r>
          </a:p>
        </p:txBody>
      </p:sp>
      <p:sp>
        <p:nvSpPr>
          <p:cNvPr id="15" name="">
            <a:extLst xmlns:a="http://schemas.openxmlformats.org/drawingml/2006/main">
              <a:ext uri="{FF2B5EF4-FFF2-40B4-BE49-F238E27FC236}">
                <a16:creationId xmlns:a16="http://schemas.microsoft.com/office/drawing/2014/main" id="{06E4D009-B009-45F1-91B5-2BD5579D6369}"/>
              </a:ext>
            </a:extLst>
          </p:cNvPr>
          <p:cNvSpPr>
            <a:spLocks xmlns:a="http://schemas.openxmlformats.org/drawingml/2006/main" noGrp="1"/>
          </p:cNvSpPr>
          <p:nvPr/>
        </p:nvSpPr>
        <p:spPr>
          <a:xfrm xmlns:a="http://schemas.openxmlformats.org/drawingml/2006/main">
            <a:off x="666750" y="4998720"/>
            <a:ext cx="16954500" cy="1451610"/>
          </a:xfrm>
          <a:prstGeom xmlns:a="http://schemas.openxmlformats.org/drawingml/2006/main" prst="roundRect">
            <a:avLst>
              <a:gd name="adj" fmla="val 7874"/>
            </a:avLst>
          </a:prstGeom>
          <a:solidFill xmlns:a="http://schemas.openxmlformats.org/drawingml/2006/main">
            <a:srgbClr val="EEF5F5"/>
          </a:solidFill>
        </p:spPr>
      </p:sp>
      <p:sp>
        <p:nvSpPr>
          <p:cNvPr id="16" name="">
            <a:extLst xmlns:a="http://schemas.openxmlformats.org/drawingml/2006/main">
              <a:ext uri="{FF2B5EF4-FFF2-40B4-BE49-F238E27FC236}">
                <a16:creationId xmlns:a16="http://schemas.microsoft.com/office/drawing/2014/main" id="{8D6EDD17-1149-4C5C-8B5C-D7842BD14EEF}"/>
              </a:ext>
            </a:extLst>
          </p:cNvPr>
          <p:cNvSpPr>
            <a:spLocks xmlns:a="http://schemas.openxmlformats.org/drawingml/2006/main" noGrp="1"/>
          </p:cNvSpPr>
          <p:nvPr/>
        </p:nvSpPr>
        <p:spPr>
          <a:xfrm xmlns:a="http://schemas.openxmlformats.org/drawingml/2006/main">
            <a:off x="990600" y="5505450"/>
            <a:ext cx="381000" cy="438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850" b="1">
                <a:solidFill>
                  <a:srgbClr val="006B75"/>
                </a:solidFill>
              </a:defRPr>
            </a:pPr>
            <a:r>
              <a:rPr sz="2850" b="1">
                <a:solidFill>
                  <a:srgbClr val="006B75"/>
                </a:solidFill>
              </a:rPr>
              <a:t>3</a:t>
            </a:r>
          </a:p>
        </p:txBody>
      </p:sp>
      <p:sp>
        <p:nvSpPr>
          <p:cNvPr id="17" name="">
            <a:extLst xmlns:a="http://schemas.openxmlformats.org/drawingml/2006/main">
              <a:ext uri="{FF2B5EF4-FFF2-40B4-BE49-F238E27FC236}">
                <a16:creationId xmlns:a16="http://schemas.microsoft.com/office/drawing/2014/main" id="{E7414EE4-B786-4152-9E74-07201380E84C}"/>
              </a:ext>
            </a:extLst>
          </p:cNvPr>
          <p:cNvSpPr>
            <a:spLocks xmlns:a="http://schemas.openxmlformats.org/drawingml/2006/main" noGrp="1"/>
          </p:cNvSpPr>
          <p:nvPr/>
        </p:nvSpPr>
        <p:spPr>
          <a:xfrm xmlns:a="http://schemas.openxmlformats.org/drawingml/2006/main">
            <a:off x="1600200" y="5562600"/>
            <a:ext cx="5715000"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526772"/>
                </a:solidFill>
              </a:defRPr>
            </a:pPr>
            <a:r>
              <a:rPr sz="2175" b="0">
                <a:solidFill>
                  <a:srgbClr val="526772"/>
                </a:solidFill>
              </a:rPr>
              <a:t>What happens when the nesting limit is reached?</a:t>
            </a:r>
          </a:p>
        </p:txBody>
      </p:sp>
      <p:sp>
        <p:nvSpPr>
          <p:cNvPr id="18" name="">
            <a:extLst xmlns:a="http://schemas.openxmlformats.org/drawingml/2006/main">
              <a:ext uri="{FF2B5EF4-FFF2-40B4-BE49-F238E27FC236}">
                <a16:creationId xmlns:a16="http://schemas.microsoft.com/office/drawing/2014/main" id="{7DC4AEB1-5B1A-403B-8D3D-572A1193C9D0}"/>
              </a:ext>
            </a:extLst>
          </p:cNvPr>
          <p:cNvSpPr>
            <a:spLocks xmlns:a="http://schemas.openxmlformats.org/drawingml/2006/main" noGrp="1"/>
          </p:cNvSpPr>
          <p:nvPr/>
        </p:nvSpPr>
        <p:spPr>
          <a:xfrm xmlns:a="http://schemas.openxmlformats.org/drawingml/2006/main">
            <a:off x="7543800" y="5524500"/>
            <a:ext cx="419100" cy="4095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0">
                <a:solidFill>
                  <a:srgbClr val="006B75"/>
                </a:solidFill>
              </a:defRPr>
            </a:pPr>
            <a:r>
              <a:rPr sz="2700" b="0">
                <a:solidFill>
                  <a:srgbClr val="006B75"/>
                </a:solidFill>
              </a:rPr>
              <a:t>→</a:t>
            </a:r>
          </a:p>
        </p:txBody>
      </p:sp>
      <p:sp>
        <p:nvSpPr>
          <p:cNvPr id="19" name="">
            <a:extLst xmlns:a="http://schemas.openxmlformats.org/drawingml/2006/main">
              <a:ext uri="{FF2B5EF4-FFF2-40B4-BE49-F238E27FC236}">
                <a16:creationId xmlns:a16="http://schemas.microsoft.com/office/drawing/2014/main" id="{3BEBC1AB-E589-4F43-84F8-303645EF6C5F}"/>
              </a:ext>
            </a:extLst>
          </p:cNvPr>
          <p:cNvSpPr>
            <a:spLocks xmlns:a="http://schemas.openxmlformats.org/drawingml/2006/main" noGrp="1"/>
          </p:cNvSpPr>
          <p:nvPr/>
        </p:nvSpPr>
        <p:spPr>
          <a:xfrm xmlns:a="http://schemas.openxmlformats.org/drawingml/2006/main">
            <a:off x="8191500" y="5553075"/>
            <a:ext cx="8572500" cy="3524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0">
                <a:solidFill>
                  <a:srgbClr val="173442"/>
                </a:solidFill>
              </a:defRPr>
            </a:pPr>
            <a:r>
              <a:rPr sz="2325" b="0">
                <a:solidFill>
                  <a:srgbClr val="173442"/>
                </a:solidFill>
              </a:rPr>
              <a:t>No new offer and the overflow flag is set; active contexts are kept</a:t>
            </a:r>
          </a:p>
        </p:txBody>
      </p:sp>
      <p:sp>
        <p:nvSpPr>
          <p:cNvPr id="20" name="">
            <a:extLst xmlns:a="http://schemas.openxmlformats.org/drawingml/2006/main">
              <a:ext uri="{FF2B5EF4-FFF2-40B4-BE49-F238E27FC236}">
                <a16:creationId xmlns:a16="http://schemas.microsoft.com/office/drawing/2014/main" id="{592E98CC-4A13-405E-BE18-378E8167DCE4}"/>
              </a:ext>
            </a:extLst>
          </p:cNvPr>
          <p:cNvSpPr>
            <a:spLocks xmlns:a="http://schemas.openxmlformats.org/drawingml/2006/main" noGrp="1"/>
          </p:cNvSpPr>
          <p:nvPr/>
        </p:nvSpPr>
        <p:spPr>
          <a:xfrm xmlns:a="http://schemas.openxmlformats.org/drawingml/2006/main">
            <a:off x="666750" y="6583680"/>
            <a:ext cx="16954500" cy="1451610"/>
          </a:xfrm>
          <a:prstGeom xmlns:a="http://schemas.openxmlformats.org/drawingml/2006/main" prst="roundRect">
            <a:avLst>
              <a:gd name="adj" fmla="val 7874"/>
            </a:avLst>
          </a:prstGeom>
          <a:solidFill xmlns:a="http://schemas.openxmlformats.org/drawingml/2006/main">
            <a:srgbClr val="EEF5F5"/>
          </a:solidFill>
        </p:spPr>
      </p:sp>
      <p:sp>
        <p:nvSpPr>
          <p:cNvPr id="21" name="">
            <a:extLst xmlns:a="http://schemas.openxmlformats.org/drawingml/2006/main">
              <a:ext uri="{FF2B5EF4-FFF2-40B4-BE49-F238E27FC236}">
                <a16:creationId xmlns:a16="http://schemas.microsoft.com/office/drawing/2014/main" id="{6C488E4E-7A9C-440C-A3CA-39167FE37819}"/>
              </a:ext>
            </a:extLst>
          </p:cNvPr>
          <p:cNvSpPr>
            <a:spLocks xmlns:a="http://schemas.openxmlformats.org/drawingml/2006/main" noGrp="1"/>
          </p:cNvSpPr>
          <p:nvPr/>
        </p:nvSpPr>
        <p:spPr>
          <a:xfrm xmlns:a="http://schemas.openxmlformats.org/drawingml/2006/main">
            <a:off x="990600" y="7086600"/>
            <a:ext cx="381000" cy="438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850" b="1">
                <a:solidFill>
                  <a:srgbClr val="006B75"/>
                </a:solidFill>
              </a:defRPr>
            </a:pPr>
            <a:r>
              <a:rPr sz="2850" b="1">
                <a:solidFill>
                  <a:srgbClr val="006B75"/>
                </a:solidFill>
              </a:rPr>
              <a:t>4</a:t>
            </a:r>
          </a:p>
        </p:txBody>
      </p:sp>
      <p:sp>
        <p:nvSpPr>
          <p:cNvPr id="22" name="">
            <a:extLst xmlns:a="http://schemas.openxmlformats.org/drawingml/2006/main">
              <a:ext uri="{FF2B5EF4-FFF2-40B4-BE49-F238E27FC236}">
                <a16:creationId xmlns:a16="http://schemas.microsoft.com/office/drawing/2014/main" id="{7A885641-8BD1-4DC2-ABF3-4BB1B1C37D33}"/>
              </a:ext>
            </a:extLst>
          </p:cNvPr>
          <p:cNvSpPr>
            <a:spLocks xmlns:a="http://schemas.openxmlformats.org/drawingml/2006/main" noGrp="1"/>
          </p:cNvSpPr>
          <p:nvPr/>
        </p:nvSpPr>
        <p:spPr>
          <a:xfrm xmlns:a="http://schemas.openxmlformats.org/drawingml/2006/main">
            <a:off x="1600200" y="7143750"/>
            <a:ext cx="5715000"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526772"/>
                </a:solidFill>
              </a:defRPr>
            </a:pPr>
            <a:r>
              <a:rPr sz="2175" b="0">
                <a:solidFill>
                  <a:srgbClr val="526772"/>
                </a:solidFill>
              </a:rPr>
              <a:t>When is a request spurious, and is it visible?</a:t>
            </a:r>
          </a:p>
        </p:txBody>
      </p:sp>
      <p:sp>
        <p:nvSpPr>
          <p:cNvPr id="23" name="">
            <a:extLst xmlns:a="http://schemas.openxmlformats.org/drawingml/2006/main">
              <a:ext uri="{FF2B5EF4-FFF2-40B4-BE49-F238E27FC236}">
                <a16:creationId xmlns:a16="http://schemas.microsoft.com/office/drawing/2014/main" id="{AFC290F5-232A-497A-A853-C48DEE51BAF4}"/>
              </a:ext>
            </a:extLst>
          </p:cNvPr>
          <p:cNvSpPr>
            <a:spLocks xmlns:a="http://schemas.openxmlformats.org/drawingml/2006/main" noGrp="1"/>
          </p:cNvSpPr>
          <p:nvPr/>
        </p:nvSpPr>
        <p:spPr>
          <a:xfrm xmlns:a="http://schemas.openxmlformats.org/drawingml/2006/main">
            <a:off x="7543800" y="7105650"/>
            <a:ext cx="419100" cy="4095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0">
                <a:solidFill>
                  <a:srgbClr val="006B75"/>
                </a:solidFill>
              </a:defRPr>
            </a:pPr>
            <a:r>
              <a:rPr sz="2700" b="0">
                <a:solidFill>
                  <a:srgbClr val="006B75"/>
                </a:solidFill>
              </a:rPr>
              <a:t>→</a:t>
            </a:r>
          </a:p>
        </p:txBody>
      </p:sp>
      <p:sp>
        <p:nvSpPr>
          <p:cNvPr id="24" name="">
            <a:extLst xmlns:a="http://schemas.openxmlformats.org/drawingml/2006/main">
              <a:ext uri="{FF2B5EF4-FFF2-40B4-BE49-F238E27FC236}">
                <a16:creationId xmlns:a16="http://schemas.microsoft.com/office/drawing/2014/main" id="{D9EBFA6C-A68B-4044-BB58-4D53C2390CD1}"/>
              </a:ext>
            </a:extLst>
          </p:cNvPr>
          <p:cNvSpPr>
            <a:spLocks xmlns:a="http://schemas.openxmlformats.org/drawingml/2006/main" noGrp="1"/>
          </p:cNvSpPr>
          <p:nvPr/>
        </p:nvSpPr>
        <p:spPr>
          <a:xfrm xmlns:a="http://schemas.openxmlformats.org/drawingml/2006/main">
            <a:off x="8191500" y="6953250"/>
            <a:ext cx="8572500" cy="704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0">
                <a:solidFill>
                  <a:srgbClr val="173442"/>
                </a:solidFill>
              </a:defRPr>
            </a:pPr>
            <a:r>
              <a:rPr sz="2325" b="0">
                <a:solidFill>
                  <a:srgbClr val="173442"/>
                </a:solidFill>
              </a:rPr>
              <a:t>Checked at claim; the context is kept and closed by EOI; logged per source and globally</a:t>
            </a:r>
          </a:p>
        </p:txBody>
      </p:sp>
      <p:sp>
        <p:nvSpPr>
          <p:cNvPr id="25" name="">
            <a:extLst xmlns:a="http://schemas.openxmlformats.org/drawingml/2006/main">
              <a:ext uri="{FF2B5EF4-FFF2-40B4-BE49-F238E27FC236}">
                <a16:creationId xmlns:a16="http://schemas.microsoft.com/office/drawing/2014/main" id="{010D8C80-AF1E-433A-81D0-AF16C8B4343E}"/>
              </a:ext>
            </a:extLst>
          </p:cNvPr>
          <p:cNvSpPr>
            <a:spLocks xmlns:a="http://schemas.openxmlformats.org/drawingml/2006/main" noGrp="1"/>
          </p:cNvSpPr>
          <p:nvPr/>
        </p:nvSpPr>
        <p:spPr>
          <a:xfrm xmlns:a="http://schemas.openxmlformats.org/drawingml/2006/main">
            <a:off x="666750" y="8168640"/>
            <a:ext cx="16954500" cy="1451610"/>
          </a:xfrm>
          <a:prstGeom xmlns:a="http://schemas.openxmlformats.org/drawingml/2006/main" prst="roundRect">
            <a:avLst>
              <a:gd name="adj" fmla="val 7874"/>
            </a:avLst>
          </a:prstGeom>
          <a:solidFill xmlns:a="http://schemas.openxmlformats.org/drawingml/2006/main">
            <a:srgbClr val="EEF5F5"/>
          </a:solidFill>
        </p:spPr>
      </p:sp>
      <p:sp>
        <p:nvSpPr>
          <p:cNvPr id="26" name="">
            <a:extLst xmlns:a="http://schemas.openxmlformats.org/drawingml/2006/main">
              <a:ext uri="{FF2B5EF4-FFF2-40B4-BE49-F238E27FC236}">
                <a16:creationId xmlns:a16="http://schemas.microsoft.com/office/drawing/2014/main" id="{984E1EDC-046A-4E5E-946C-715F712F6F94}"/>
              </a:ext>
            </a:extLst>
          </p:cNvPr>
          <p:cNvSpPr>
            <a:spLocks xmlns:a="http://schemas.openxmlformats.org/drawingml/2006/main" noGrp="1"/>
          </p:cNvSpPr>
          <p:nvPr/>
        </p:nvSpPr>
        <p:spPr>
          <a:xfrm xmlns:a="http://schemas.openxmlformats.org/drawingml/2006/main">
            <a:off x="990600" y="8677275"/>
            <a:ext cx="381000" cy="438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850" b="1">
                <a:solidFill>
                  <a:srgbClr val="006B75"/>
                </a:solidFill>
              </a:defRPr>
            </a:pPr>
            <a:r>
              <a:rPr sz="2850" b="1">
                <a:solidFill>
                  <a:srgbClr val="006B75"/>
                </a:solidFill>
              </a:rPr>
              <a:t>5</a:t>
            </a:r>
          </a:p>
        </p:txBody>
      </p:sp>
      <p:sp>
        <p:nvSpPr>
          <p:cNvPr id="27" name="">
            <a:extLst xmlns:a="http://schemas.openxmlformats.org/drawingml/2006/main">
              <a:ext uri="{FF2B5EF4-FFF2-40B4-BE49-F238E27FC236}">
                <a16:creationId xmlns:a16="http://schemas.microsoft.com/office/drawing/2014/main" id="{D5530283-7D77-409F-97BA-F7642EF36D56}"/>
              </a:ext>
            </a:extLst>
          </p:cNvPr>
          <p:cNvSpPr>
            <a:spLocks xmlns:a="http://schemas.openxmlformats.org/drawingml/2006/main" noGrp="1"/>
          </p:cNvSpPr>
          <p:nvPr/>
        </p:nvSpPr>
        <p:spPr>
          <a:xfrm xmlns:a="http://schemas.openxmlformats.org/drawingml/2006/main">
            <a:off x="1600200" y="8734425"/>
            <a:ext cx="5715000"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526772"/>
                </a:solidFill>
              </a:defRPr>
            </a:pPr>
            <a:r>
              <a:rPr sz="2175" b="0">
                <a:solidFill>
                  <a:srgbClr val="526772"/>
                </a:solidFill>
              </a:rPr>
              <a:t>What does escalation mean?</a:t>
            </a:r>
          </a:p>
        </p:txBody>
      </p:sp>
      <p:sp>
        <p:nvSpPr>
          <p:cNvPr id="28" name="">
            <a:extLst xmlns:a="http://schemas.openxmlformats.org/drawingml/2006/main">
              <a:ext uri="{FF2B5EF4-FFF2-40B4-BE49-F238E27FC236}">
                <a16:creationId xmlns:a16="http://schemas.microsoft.com/office/drawing/2014/main" id="{E9CA6D27-5A47-41EC-A602-AE77A1105788}"/>
              </a:ext>
            </a:extLst>
          </p:cNvPr>
          <p:cNvSpPr>
            <a:spLocks xmlns:a="http://schemas.openxmlformats.org/drawingml/2006/main" noGrp="1"/>
          </p:cNvSpPr>
          <p:nvPr/>
        </p:nvSpPr>
        <p:spPr>
          <a:xfrm xmlns:a="http://schemas.openxmlformats.org/drawingml/2006/main">
            <a:off x="7543800" y="8696325"/>
            <a:ext cx="419100" cy="4095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0">
                <a:solidFill>
                  <a:srgbClr val="006B75"/>
                </a:solidFill>
              </a:defRPr>
            </a:pPr>
            <a:r>
              <a:rPr sz="2700" b="0">
                <a:solidFill>
                  <a:srgbClr val="006B75"/>
                </a:solidFill>
              </a:rPr>
              <a:t>→</a:t>
            </a:r>
          </a:p>
        </p:txBody>
      </p:sp>
      <p:sp>
        <p:nvSpPr>
          <p:cNvPr id="29" name="">
            <a:extLst xmlns:a="http://schemas.openxmlformats.org/drawingml/2006/main">
              <a:ext uri="{FF2B5EF4-FFF2-40B4-BE49-F238E27FC236}">
                <a16:creationId xmlns:a16="http://schemas.microsoft.com/office/drawing/2014/main" id="{3CB552BA-D8A6-48C2-A2F7-D5A82B8E5053}"/>
              </a:ext>
            </a:extLst>
          </p:cNvPr>
          <p:cNvSpPr>
            <a:spLocks xmlns:a="http://schemas.openxmlformats.org/drawingml/2006/main" noGrp="1"/>
          </p:cNvSpPr>
          <p:nvPr/>
        </p:nvSpPr>
        <p:spPr>
          <a:xfrm xmlns:a="http://schemas.openxmlformats.org/drawingml/2006/main">
            <a:off x="8191500" y="8543925"/>
            <a:ext cx="8572500" cy="704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0">
                <a:solidFill>
                  <a:srgbClr val="173442"/>
                </a:solidFill>
              </a:defRPr>
            </a:pPr>
            <a:r>
              <a:rPr sz="2325" b="0">
                <a:solidFill>
                  <a:srgbClr val="173442"/>
                </a:solidFill>
              </a:rPr>
              <a:t>Jump to a target band or bump one urgency step; may repeat; cleared when served</a:t>
            </a:r>
          </a:p>
        </p:txBody>
      </p:sp>
      <p:sp>
        <p:nvSpPr>
          <p:cNvPr id="30" name="footer">
            <a:extLst xmlns:a="http://schemas.openxmlformats.org/drawingml/2006/main">
              <a:ext uri="{FF2B5EF4-FFF2-40B4-BE49-F238E27FC236}">
                <a16:creationId xmlns:a16="http://schemas.microsoft.com/office/drawing/2014/main" id="{E8540032-504F-45E2-87A9-573CBFDE040B}"/>
              </a:ext>
            </a:extLst>
          </p:cNvPr>
          <p:cNvSpPr>
            <a:spLocks xmlns:a="http://schemas.openxmlformats.org/drawingml/2006/main" noGrp="1"/>
          </p:cNvSpPr>
          <p:nvPr/>
        </p:nvSpPr>
        <p:spPr>
          <a:xfrm xmlns:a="http://schemas.openxmlformats.org/drawingml/2006/main">
            <a:off x="666750" y="9772650"/>
            <a:ext cx="169545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526772"/>
                </a:solidFill>
              </a:defRPr>
            </a:pPr>
            <a:r>
              <a:rPr sz="1500" b="0">
                <a:solidFill>
                  <a:srgbClr val="526772"/>
                </a:solidFill>
              </a:rPr>
              <a:t>PIC   ·   03 / 08   ·   Design decisions</a:t>
            </a:r>
          </a:p>
        </p:txBody>
      </p:sp>
    </p:spTree>
    <p:extLst>
      <p:ext uri="{BB962C8B-B14F-4D97-AF65-F5344CB8AC3E}">
        <p14:creationId xmlns:p14="http://schemas.microsoft.com/office/powerpoint/2010/main" val="50834198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05B16660-3B25-441A-835A-98880175079F}"/>
              </a:ext>
            </a:extLst>
          </p:cNvPr>
          <p:cNvSpPr>
            <a:spLocks xmlns:a="http://schemas.openxmlformats.org/drawingml/2006/main" noGrp="1"/>
          </p:cNvSpPr>
          <p:nvPr/>
        </p:nvSpPr>
        <p:spPr>
          <a:xfrm xmlns:a="http://schemas.openxmlformats.org/drawingml/2006/main">
            <a:off x="171450" y="114300"/>
            <a:ext cx="179451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73442"/>
                </a:solidFill>
              </a:defRPr>
            </a:pPr>
            <a:r>
              <a:rPr sz="3600" b="1">
                <a:solidFill>
                  <a:srgbClr val="173442"/>
                </a:solidFill>
              </a:rPr>
              <a:t>A request becomes an active context only at claim</a:t>
            </a:r>
          </a:p>
        </p:txBody>
      </p:sp>
      <p:pic>
        <p:nvPicPr>
          <p:cNvPr id="2" name="asset-figures/pic_essential"/>
          <p:cNvPicPr>
            <a:picLocks xmlns:a="http://schemas.openxmlformats.org/drawingml/2006/main" noChangeAspect="1"/>
          </p:cNvPicPr>
          <p:nvPr/>
        </p:nvPicPr>
        <p:blipFill>
          <a:blip xmlns:r="http://schemas.openxmlformats.org/officeDocument/2006/relationships" xmlns:a="http://schemas.openxmlformats.org/drawingml/2006/main" r:embed="R72903080de644c72">
            <a:extLst>
              <a:ext uri="{96DAC541-7B7A-43D3-8B79-37D633B846F1}">
                <asvg:svgBlip xmlns:asvg="http://schemas.microsoft.com/office/drawing/2016/SVG/main" r:embed="Rc65f106cf4ce4fa4"/>
              </a:ext>
            </a:extLst>
          </a:blip>
          <a:stretch xmlns:a="http://schemas.openxmlformats.org/drawingml/2006/main"/>
        </p:blipFill>
        <p:spPr>
          <a:xfrm xmlns:a="http://schemas.openxmlformats.org/drawingml/2006/main">
            <a:off x="1045932" y="704850"/>
            <a:ext cx="16196135" cy="9429750"/>
          </a:xfrm>
          <a:prstGeom xmlns:a="http://schemas.openxmlformats.org/drawingml/2006/main" prst="rect">
            <a:avLst/>
          </a:prstGeom>
        </p:spPr>
      </p:pic>
    </p:spTree>
    <p:extLst>
      <p:ext uri="{BB962C8B-B14F-4D97-AF65-F5344CB8AC3E}">
        <p14:creationId xmlns:p14="http://schemas.microsoft.com/office/powerpoint/2010/main" val="155553326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5A23B633-F515-43DE-8193-4FE41A3F369C}"/>
              </a:ext>
            </a:extLst>
          </p:cNvPr>
          <p:cNvSpPr>
            <a:spLocks xmlns:a="http://schemas.openxmlformats.org/drawingml/2006/main" noGrp="1"/>
          </p:cNvSpPr>
          <p:nvPr/>
        </p:nvSpPr>
        <p:spPr>
          <a:xfrm xmlns:a="http://schemas.openxmlformats.org/drawingml/2006/main">
            <a:off x="666750" y="419100"/>
            <a:ext cx="16954500" cy="571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750" b="1">
                <a:solidFill>
                  <a:srgbClr val="173442"/>
                </a:solidFill>
              </a:defRPr>
            </a:pPr>
            <a:r>
              <a:rPr sz="3750" b="1">
                <a:solidFill>
                  <a:srgbClr val="173442"/>
                </a:solidFill>
              </a:rPr>
              <a:t>The registers set the policy and make the state observable</a:t>
            </a:r>
          </a:p>
        </p:txBody>
      </p:sp>
      <p:sp>
        <p:nvSpPr>
          <p:cNvPr id="2" name="">
            <a:extLst xmlns:a="http://schemas.openxmlformats.org/drawingml/2006/main">
              <a:ext uri="{FF2B5EF4-FFF2-40B4-BE49-F238E27FC236}">
                <a16:creationId xmlns:a16="http://schemas.microsoft.com/office/drawing/2014/main" id="{11D6D112-479F-4E75-9AF1-532CDD30F85B}"/>
              </a:ext>
            </a:extLst>
          </p:cNvPr>
          <p:cNvSpPr>
            <a:spLocks xmlns:a="http://schemas.openxmlformats.org/drawingml/2006/main" noGrp="1"/>
          </p:cNvSpPr>
          <p:nvPr/>
        </p:nvSpPr>
        <p:spPr>
          <a:xfrm xmlns:a="http://schemas.openxmlformats.org/drawingml/2006/main">
            <a:off x="666750" y="1123950"/>
            <a:ext cx="1619250" cy="38100"/>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sp>
        <p:nvSpPr>
          <p:cNvPr id="3" name="">
            <a:extLst xmlns:a="http://schemas.openxmlformats.org/drawingml/2006/main">
              <a:ext uri="{FF2B5EF4-FFF2-40B4-BE49-F238E27FC236}">
                <a16:creationId xmlns:a16="http://schemas.microsoft.com/office/drawing/2014/main" id="{A3CE3D1D-2C2E-4C61-9419-8E05FF0A4228}"/>
              </a:ext>
            </a:extLst>
          </p:cNvPr>
          <p:cNvSpPr>
            <a:spLocks xmlns:a="http://schemas.openxmlformats.org/drawingml/2006/main" noGrp="1"/>
          </p:cNvSpPr>
          <p:nvPr/>
        </p:nvSpPr>
        <p:spPr>
          <a:xfrm xmlns:a="http://schemas.openxmlformats.org/drawingml/2006/main">
            <a:off x="876300" y="1524000"/>
            <a:ext cx="17526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1">
                <a:solidFill>
                  <a:srgbClr val="526772"/>
                </a:solidFill>
              </a:defRPr>
            </a:pPr>
            <a:r>
              <a:rPr sz="1875" b="1">
                <a:solidFill>
                  <a:srgbClr val="526772"/>
                </a:solidFill>
              </a:rPr>
              <a:t>Address</a:t>
            </a:r>
          </a:p>
        </p:txBody>
      </p:sp>
      <p:sp>
        <p:nvSpPr>
          <p:cNvPr id="4" name="">
            <a:extLst xmlns:a="http://schemas.openxmlformats.org/drawingml/2006/main">
              <a:ext uri="{FF2B5EF4-FFF2-40B4-BE49-F238E27FC236}">
                <a16:creationId xmlns:a16="http://schemas.microsoft.com/office/drawing/2014/main" id="{41B3A3E5-2CD4-41ED-B68F-BB180AABD77B}"/>
              </a:ext>
            </a:extLst>
          </p:cNvPr>
          <p:cNvSpPr>
            <a:spLocks xmlns:a="http://schemas.openxmlformats.org/drawingml/2006/main" noGrp="1"/>
          </p:cNvSpPr>
          <p:nvPr/>
        </p:nvSpPr>
        <p:spPr>
          <a:xfrm xmlns:a="http://schemas.openxmlformats.org/drawingml/2006/main">
            <a:off x="3009900" y="1524000"/>
            <a:ext cx="37338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1">
                <a:solidFill>
                  <a:srgbClr val="526772"/>
                </a:solidFill>
              </a:defRPr>
            </a:pPr>
            <a:r>
              <a:rPr sz="1875" b="1">
                <a:solidFill>
                  <a:srgbClr val="526772"/>
                </a:solidFill>
              </a:rPr>
              <a:t>Register / group</a:t>
            </a:r>
          </a:p>
        </p:txBody>
      </p:sp>
      <p:sp>
        <p:nvSpPr>
          <p:cNvPr id="5" name="">
            <a:extLst xmlns:a="http://schemas.openxmlformats.org/drawingml/2006/main">
              <a:ext uri="{FF2B5EF4-FFF2-40B4-BE49-F238E27FC236}">
                <a16:creationId xmlns:a16="http://schemas.microsoft.com/office/drawing/2014/main" id="{C1AA21B1-B7F0-42D9-8784-D66E1EF61472}"/>
              </a:ext>
            </a:extLst>
          </p:cNvPr>
          <p:cNvSpPr>
            <a:spLocks xmlns:a="http://schemas.openxmlformats.org/drawingml/2006/main" noGrp="1"/>
          </p:cNvSpPr>
          <p:nvPr/>
        </p:nvSpPr>
        <p:spPr>
          <a:xfrm xmlns:a="http://schemas.openxmlformats.org/drawingml/2006/main">
            <a:off x="7124700" y="1524000"/>
            <a:ext cx="40386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1">
                <a:solidFill>
                  <a:srgbClr val="526772"/>
                </a:solidFill>
              </a:defRPr>
            </a:pPr>
            <a:r>
              <a:rPr sz="1875" b="1">
                <a:solidFill>
                  <a:srgbClr val="526772"/>
                </a:solidFill>
              </a:rPr>
              <a:t>Role in use</a:t>
            </a:r>
          </a:p>
        </p:txBody>
      </p:sp>
      <p:sp>
        <p:nvSpPr>
          <p:cNvPr id="6" name="">
            <a:extLst xmlns:a="http://schemas.openxmlformats.org/drawingml/2006/main">
              <a:ext uri="{FF2B5EF4-FFF2-40B4-BE49-F238E27FC236}">
                <a16:creationId xmlns:a16="http://schemas.microsoft.com/office/drawing/2014/main" id="{AB7C6F5F-A1AF-4893-9F95-1F998334C32C}"/>
              </a:ext>
            </a:extLst>
          </p:cNvPr>
          <p:cNvSpPr>
            <a:spLocks xmlns:a="http://schemas.openxmlformats.org/drawingml/2006/main" noGrp="1"/>
          </p:cNvSpPr>
          <p:nvPr/>
        </p:nvSpPr>
        <p:spPr>
          <a:xfrm xmlns:a="http://schemas.openxmlformats.org/drawingml/2006/main">
            <a:off x="666750" y="1924050"/>
            <a:ext cx="2133600" cy="1050471"/>
          </a:xfrm>
          <a:prstGeom xmlns:a="http://schemas.openxmlformats.org/drawingml/2006/main" prst="rect">
            <a:avLst/>
          </a:prstGeom>
          <a:solidFill xmlns:a="http://schemas.openxmlformats.org/drawingml/2006/main">
            <a:srgbClr val="FFFFFF"/>
          </a:solidFill>
        </p:spPr>
      </p:sp>
      <p:sp>
        <p:nvSpPr>
          <p:cNvPr id="7" name="">
            <a:extLst xmlns:a="http://schemas.openxmlformats.org/drawingml/2006/main">
              <a:ext uri="{FF2B5EF4-FFF2-40B4-BE49-F238E27FC236}">
                <a16:creationId xmlns:a16="http://schemas.microsoft.com/office/drawing/2014/main" id="{90D0E698-4E51-41B3-BC2D-CDC5130947B6}"/>
              </a:ext>
            </a:extLst>
          </p:cNvPr>
          <p:cNvSpPr>
            <a:spLocks xmlns:a="http://schemas.openxmlformats.org/drawingml/2006/main" noGrp="1"/>
          </p:cNvSpPr>
          <p:nvPr/>
        </p:nvSpPr>
        <p:spPr>
          <a:xfrm xmlns:a="http://schemas.openxmlformats.org/drawingml/2006/main">
            <a:off x="876300" y="2286000"/>
            <a:ext cx="1752600"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1">
                <a:solidFill>
                  <a:srgbClr val="006B75"/>
                </a:solidFill>
              </a:defRPr>
            </a:pPr>
            <a:r>
              <a:rPr sz="2175" b="1">
                <a:solidFill>
                  <a:srgbClr val="006B75"/>
                </a:solidFill>
              </a:rPr>
              <a:t>0x00 + 4n</a:t>
            </a:r>
          </a:p>
        </p:txBody>
      </p:sp>
      <p:sp>
        <p:nvSpPr>
          <p:cNvPr id="8" name="">
            <a:extLst xmlns:a="http://schemas.openxmlformats.org/drawingml/2006/main">
              <a:ext uri="{FF2B5EF4-FFF2-40B4-BE49-F238E27FC236}">
                <a16:creationId xmlns:a16="http://schemas.microsoft.com/office/drawing/2014/main" id="{924C2564-7C7C-46C6-86D6-C3054352F9A0}"/>
              </a:ext>
            </a:extLst>
          </p:cNvPr>
          <p:cNvSpPr>
            <a:spLocks xmlns:a="http://schemas.openxmlformats.org/drawingml/2006/main" noGrp="1"/>
          </p:cNvSpPr>
          <p:nvPr/>
        </p:nvSpPr>
        <p:spPr>
          <a:xfrm xmlns:a="http://schemas.openxmlformats.org/drawingml/2006/main">
            <a:off x="2800350" y="1924050"/>
            <a:ext cx="4114800" cy="1050471"/>
          </a:xfrm>
          <a:prstGeom xmlns:a="http://schemas.openxmlformats.org/drawingml/2006/main" prst="rect">
            <a:avLst/>
          </a:prstGeom>
          <a:solidFill xmlns:a="http://schemas.openxmlformats.org/drawingml/2006/main">
            <a:srgbClr val="FFFFFF"/>
          </a:solidFill>
        </p:spPr>
      </p:sp>
      <p:sp>
        <p:nvSpPr>
          <p:cNvPr id="9" name="">
            <a:extLst xmlns:a="http://schemas.openxmlformats.org/drawingml/2006/main">
              <a:ext uri="{FF2B5EF4-FFF2-40B4-BE49-F238E27FC236}">
                <a16:creationId xmlns:a16="http://schemas.microsoft.com/office/drawing/2014/main" id="{CE33D15A-F9EF-4D9E-8448-02E01222A578}"/>
              </a:ext>
            </a:extLst>
          </p:cNvPr>
          <p:cNvSpPr>
            <a:spLocks xmlns:a="http://schemas.openxmlformats.org/drawingml/2006/main" noGrp="1"/>
          </p:cNvSpPr>
          <p:nvPr/>
        </p:nvSpPr>
        <p:spPr>
          <a:xfrm xmlns:a="http://schemas.openxmlformats.org/drawingml/2006/main">
            <a:off x="3009900" y="2286000"/>
            <a:ext cx="3733800"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173442"/>
                </a:solidFill>
              </a:defRPr>
            </a:pPr>
            <a:r>
              <a:rPr sz="2175" b="0">
                <a:solidFill>
                  <a:srgbClr val="173442"/>
                </a:solidFill>
              </a:rPr>
              <a:t>SRCn_CONFIG</a:t>
            </a:r>
          </a:p>
        </p:txBody>
      </p:sp>
      <p:sp>
        <p:nvSpPr>
          <p:cNvPr id="10" name="">
            <a:extLst xmlns:a="http://schemas.openxmlformats.org/drawingml/2006/main">
              <a:ext uri="{FF2B5EF4-FFF2-40B4-BE49-F238E27FC236}">
                <a16:creationId xmlns:a16="http://schemas.microsoft.com/office/drawing/2014/main" id="{CBDCF967-C0AC-45FA-87F9-CA6A0D613637}"/>
              </a:ext>
            </a:extLst>
          </p:cNvPr>
          <p:cNvSpPr>
            <a:spLocks xmlns:a="http://schemas.openxmlformats.org/drawingml/2006/main" noGrp="1"/>
          </p:cNvSpPr>
          <p:nvPr/>
        </p:nvSpPr>
        <p:spPr>
          <a:xfrm xmlns:a="http://schemas.openxmlformats.org/drawingml/2006/main">
            <a:off x="6915150" y="1924050"/>
            <a:ext cx="4419600" cy="1050471"/>
          </a:xfrm>
          <a:prstGeom xmlns:a="http://schemas.openxmlformats.org/drawingml/2006/main" prst="rect">
            <a:avLst/>
          </a:prstGeom>
          <a:solidFill xmlns:a="http://schemas.openxmlformats.org/drawingml/2006/main">
            <a:srgbClr val="FFFFFF"/>
          </a:solidFill>
        </p:spPr>
      </p:sp>
      <p:sp>
        <p:nvSpPr>
          <p:cNvPr id="11" name="">
            <a:extLst xmlns:a="http://schemas.openxmlformats.org/drawingml/2006/main">
              <a:ext uri="{FF2B5EF4-FFF2-40B4-BE49-F238E27FC236}">
                <a16:creationId xmlns:a16="http://schemas.microsoft.com/office/drawing/2014/main" id="{2DB35CBA-5774-4CFD-9A53-4ACB80887FFF}"/>
              </a:ext>
            </a:extLst>
          </p:cNvPr>
          <p:cNvSpPr>
            <a:spLocks xmlns:a="http://schemas.openxmlformats.org/drawingml/2006/main" noGrp="1"/>
          </p:cNvSpPr>
          <p:nvPr/>
        </p:nvSpPr>
        <p:spPr>
          <a:xfrm xmlns:a="http://schemas.openxmlformats.org/drawingml/2006/main">
            <a:off x="7124700" y="2286000"/>
            <a:ext cx="4038600"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173442"/>
                </a:solidFill>
              </a:defRPr>
            </a:pPr>
            <a:r>
              <a:rPr sz="2175" b="0">
                <a:solidFill>
                  <a:srgbClr val="173442"/>
                </a:solidFill>
              </a:rPr>
              <a:t>Trigger, band, priority, deadline</a:t>
            </a:r>
          </a:p>
        </p:txBody>
      </p:sp>
      <p:sp>
        <p:nvSpPr>
          <p:cNvPr id="12" name="">
            <a:extLst xmlns:a="http://schemas.openxmlformats.org/drawingml/2006/main">
              <a:ext uri="{FF2B5EF4-FFF2-40B4-BE49-F238E27FC236}">
                <a16:creationId xmlns:a16="http://schemas.microsoft.com/office/drawing/2014/main" id="{B5363517-A1D7-458E-97AD-0BA1F9956213}"/>
              </a:ext>
            </a:extLst>
          </p:cNvPr>
          <p:cNvSpPr>
            <a:spLocks xmlns:a="http://schemas.openxmlformats.org/drawingml/2006/main" noGrp="1"/>
          </p:cNvSpPr>
          <p:nvPr/>
        </p:nvSpPr>
        <p:spPr>
          <a:xfrm xmlns:a="http://schemas.openxmlformats.org/drawingml/2006/main">
            <a:off x="666750" y="3031671"/>
            <a:ext cx="2133600" cy="1050471"/>
          </a:xfrm>
          <a:prstGeom xmlns:a="http://schemas.openxmlformats.org/drawingml/2006/main" prst="rect">
            <a:avLst/>
          </a:prstGeom>
          <a:solidFill xmlns:a="http://schemas.openxmlformats.org/drawingml/2006/main">
            <a:srgbClr val="F5F9F9"/>
          </a:solidFill>
        </p:spPr>
      </p:sp>
      <p:sp>
        <p:nvSpPr>
          <p:cNvPr id="13" name="">
            <a:extLst xmlns:a="http://schemas.openxmlformats.org/drawingml/2006/main">
              <a:ext uri="{FF2B5EF4-FFF2-40B4-BE49-F238E27FC236}">
                <a16:creationId xmlns:a16="http://schemas.microsoft.com/office/drawing/2014/main" id="{F1FCE313-9AE1-48C3-BFC8-970B2FD81559}"/>
              </a:ext>
            </a:extLst>
          </p:cNvPr>
          <p:cNvSpPr>
            <a:spLocks xmlns:a="http://schemas.openxmlformats.org/drawingml/2006/main" noGrp="1"/>
          </p:cNvSpPr>
          <p:nvPr/>
        </p:nvSpPr>
        <p:spPr>
          <a:xfrm xmlns:a="http://schemas.openxmlformats.org/drawingml/2006/main">
            <a:off x="876300" y="3390900"/>
            <a:ext cx="1752600"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1">
                <a:solidFill>
                  <a:srgbClr val="006B75"/>
                </a:solidFill>
              </a:defRPr>
            </a:pPr>
            <a:r>
              <a:rPr sz="2175" b="1">
                <a:solidFill>
                  <a:srgbClr val="006B75"/>
                </a:solidFill>
              </a:rPr>
              <a:t>0x40 + 4n</a:t>
            </a:r>
          </a:p>
        </p:txBody>
      </p:sp>
      <p:sp>
        <p:nvSpPr>
          <p:cNvPr id="14" name="">
            <a:extLst xmlns:a="http://schemas.openxmlformats.org/drawingml/2006/main">
              <a:ext uri="{FF2B5EF4-FFF2-40B4-BE49-F238E27FC236}">
                <a16:creationId xmlns:a16="http://schemas.microsoft.com/office/drawing/2014/main" id="{93AD46B8-62CE-455E-88EF-60C677726BFC}"/>
              </a:ext>
            </a:extLst>
          </p:cNvPr>
          <p:cNvSpPr>
            <a:spLocks xmlns:a="http://schemas.openxmlformats.org/drawingml/2006/main" noGrp="1"/>
          </p:cNvSpPr>
          <p:nvPr/>
        </p:nvSpPr>
        <p:spPr>
          <a:xfrm xmlns:a="http://schemas.openxmlformats.org/drawingml/2006/main">
            <a:off x="2800350" y="3031671"/>
            <a:ext cx="4114800" cy="1050471"/>
          </a:xfrm>
          <a:prstGeom xmlns:a="http://schemas.openxmlformats.org/drawingml/2006/main" prst="rect">
            <a:avLst/>
          </a:prstGeom>
          <a:solidFill xmlns:a="http://schemas.openxmlformats.org/drawingml/2006/main">
            <a:srgbClr val="F5F9F9"/>
          </a:solidFill>
        </p:spPr>
      </p:sp>
      <p:sp>
        <p:nvSpPr>
          <p:cNvPr id="15" name="">
            <a:extLst xmlns:a="http://schemas.openxmlformats.org/drawingml/2006/main">
              <a:ext uri="{FF2B5EF4-FFF2-40B4-BE49-F238E27FC236}">
                <a16:creationId xmlns:a16="http://schemas.microsoft.com/office/drawing/2014/main" id="{8334FE7C-D388-4B39-B710-52FD4E2A8184}"/>
              </a:ext>
            </a:extLst>
          </p:cNvPr>
          <p:cNvSpPr>
            <a:spLocks xmlns:a="http://schemas.openxmlformats.org/drawingml/2006/main" noGrp="1"/>
          </p:cNvSpPr>
          <p:nvPr/>
        </p:nvSpPr>
        <p:spPr>
          <a:xfrm xmlns:a="http://schemas.openxmlformats.org/drawingml/2006/main">
            <a:off x="3009900" y="3390900"/>
            <a:ext cx="3733800"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173442"/>
                </a:solidFill>
              </a:defRPr>
            </a:pPr>
            <a:r>
              <a:rPr sz="2175" b="0">
                <a:solidFill>
                  <a:srgbClr val="173442"/>
                </a:solidFill>
              </a:rPr>
              <a:t>SRCn_SW_TRIG</a:t>
            </a:r>
          </a:p>
        </p:txBody>
      </p:sp>
      <p:sp>
        <p:nvSpPr>
          <p:cNvPr id="16" name="">
            <a:extLst xmlns:a="http://schemas.openxmlformats.org/drawingml/2006/main">
              <a:ext uri="{FF2B5EF4-FFF2-40B4-BE49-F238E27FC236}">
                <a16:creationId xmlns:a16="http://schemas.microsoft.com/office/drawing/2014/main" id="{10DD52C6-40EB-47EF-98DE-853ED481F21A}"/>
              </a:ext>
            </a:extLst>
          </p:cNvPr>
          <p:cNvSpPr>
            <a:spLocks xmlns:a="http://schemas.openxmlformats.org/drawingml/2006/main" noGrp="1"/>
          </p:cNvSpPr>
          <p:nvPr/>
        </p:nvSpPr>
        <p:spPr>
          <a:xfrm xmlns:a="http://schemas.openxmlformats.org/drawingml/2006/main">
            <a:off x="6915150" y="3031671"/>
            <a:ext cx="4419600" cy="1050471"/>
          </a:xfrm>
          <a:prstGeom xmlns:a="http://schemas.openxmlformats.org/drawingml/2006/main" prst="rect">
            <a:avLst/>
          </a:prstGeom>
          <a:solidFill xmlns:a="http://schemas.openxmlformats.org/drawingml/2006/main">
            <a:srgbClr val="F5F9F9"/>
          </a:solidFill>
        </p:spPr>
      </p:sp>
      <p:sp>
        <p:nvSpPr>
          <p:cNvPr id="17" name="">
            <a:extLst xmlns:a="http://schemas.openxmlformats.org/drawingml/2006/main">
              <a:ext uri="{FF2B5EF4-FFF2-40B4-BE49-F238E27FC236}">
                <a16:creationId xmlns:a16="http://schemas.microsoft.com/office/drawing/2014/main" id="{80BBC47B-053B-4EF1-9BF8-14B3F10DBA17}"/>
              </a:ext>
            </a:extLst>
          </p:cNvPr>
          <p:cNvSpPr>
            <a:spLocks xmlns:a="http://schemas.openxmlformats.org/drawingml/2006/main" noGrp="1"/>
          </p:cNvSpPr>
          <p:nvPr/>
        </p:nvSpPr>
        <p:spPr>
          <a:xfrm xmlns:a="http://schemas.openxmlformats.org/drawingml/2006/main">
            <a:off x="7124700" y="3219450"/>
            <a:ext cx="403860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173442"/>
                </a:solidFill>
              </a:defRPr>
            </a:pPr>
            <a:r>
              <a:rPr sz="2175" b="0">
                <a:solidFill>
                  <a:srgbClr val="173442"/>
                </a:solidFill>
              </a:rPr>
              <a:t>Set with key 0xA5A5 in both upper byte lanes</a:t>
            </a:r>
          </a:p>
        </p:txBody>
      </p:sp>
      <p:sp>
        <p:nvSpPr>
          <p:cNvPr id="18" name="">
            <a:extLst xmlns:a="http://schemas.openxmlformats.org/drawingml/2006/main">
              <a:ext uri="{FF2B5EF4-FFF2-40B4-BE49-F238E27FC236}">
                <a16:creationId xmlns:a16="http://schemas.microsoft.com/office/drawing/2014/main" id="{52F4A0F9-1272-4355-9FE1-759E1463B7D0}"/>
              </a:ext>
            </a:extLst>
          </p:cNvPr>
          <p:cNvSpPr>
            <a:spLocks xmlns:a="http://schemas.openxmlformats.org/drawingml/2006/main" noGrp="1"/>
          </p:cNvSpPr>
          <p:nvPr/>
        </p:nvSpPr>
        <p:spPr>
          <a:xfrm xmlns:a="http://schemas.openxmlformats.org/drawingml/2006/main">
            <a:off x="666750" y="4139293"/>
            <a:ext cx="2133600" cy="1050471"/>
          </a:xfrm>
          <a:prstGeom xmlns:a="http://schemas.openxmlformats.org/drawingml/2006/main" prst="rect">
            <a:avLst/>
          </a:prstGeom>
          <a:solidFill xmlns:a="http://schemas.openxmlformats.org/drawingml/2006/main">
            <a:srgbClr val="FFFFFF"/>
          </a:solidFill>
        </p:spPr>
      </p:sp>
      <p:sp>
        <p:nvSpPr>
          <p:cNvPr id="19" name="">
            <a:extLst xmlns:a="http://schemas.openxmlformats.org/drawingml/2006/main">
              <a:ext uri="{FF2B5EF4-FFF2-40B4-BE49-F238E27FC236}">
                <a16:creationId xmlns:a16="http://schemas.microsoft.com/office/drawing/2014/main" id="{1E763C02-D807-4C85-9959-ADCDBE3C72F5}"/>
              </a:ext>
            </a:extLst>
          </p:cNvPr>
          <p:cNvSpPr>
            <a:spLocks xmlns:a="http://schemas.openxmlformats.org/drawingml/2006/main" noGrp="1"/>
          </p:cNvSpPr>
          <p:nvPr/>
        </p:nvSpPr>
        <p:spPr>
          <a:xfrm xmlns:a="http://schemas.openxmlformats.org/drawingml/2006/main">
            <a:off x="876300" y="4495800"/>
            <a:ext cx="1752600"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1">
                <a:solidFill>
                  <a:srgbClr val="006B75"/>
                </a:solidFill>
              </a:defRPr>
            </a:pPr>
            <a:r>
              <a:rPr sz="2175" b="1">
                <a:solidFill>
                  <a:srgbClr val="006B75"/>
                </a:solidFill>
              </a:rPr>
              <a:t>0x80 + 4n</a:t>
            </a:r>
          </a:p>
        </p:txBody>
      </p:sp>
      <p:sp>
        <p:nvSpPr>
          <p:cNvPr id="20" name="">
            <a:extLst xmlns:a="http://schemas.openxmlformats.org/drawingml/2006/main">
              <a:ext uri="{FF2B5EF4-FFF2-40B4-BE49-F238E27FC236}">
                <a16:creationId xmlns:a16="http://schemas.microsoft.com/office/drawing/2014/main" id="{8DF31C33-B27B-42C1-B4CB-F128FC6BFD1A}"/>
              </a:ext>
            </a:extLst>
          </p:cNvPr>
          <p:cNvSpPr>
            <a:spLocks xmlns:a="http://schemas.openxmlformats.org/drawingml/2006/main" noGrp="1"/>
          </p:cNvSpPr>
          <p:nvPr/>
        </p:nvSpPr>
        <p:spPr>
          <a:xfrm xmlns:a="http://schemas.openxmlformats.org/drawingml/2006/main">
            <a:off x="2800350" y="4139293"/>
            <a:ext cx="4114800" cy="1050471"/>
          </a:xfrm>
          <a:prstGeom xmlns:a="http://schemas.openxmlformats.org/drawingml/2006/main" prst="rect">
            <a:avLst/>
          </a:prstGeom>
          <a:solidFill xmlns:a="http://schemas.openxmlformats.org/drawingml/2006/main">
            <a:srgbClr val="FFFFFF"/>
          </a:solidFill>
        </p:spPr>
      </p:sp>
      <p:sp>
        <p:nvSpPr>
          <p:cNvPr id="21" name="">
            <a:extLst xmlns:a="http://schemas.openxmlformats.org/drawingml/2006/main">
              <a:ext uri="{FF2B5EF4-FFF2-40B4-BE49-F238E27FC236}">
                <a16:creationId xmlns:a16="http://schemas.microsoft.com/office/drawing/2014/main" id="{297B15C0-0D19-49E0-BFDB-259CFF2E8D80}"/>
              </a:ext>
            </a:extLst>
          </p:cNvPr>
          <p:cNvSpPr>
            <a:spLocks xmlns:a="http://schemas.openxmlformats.org/drawingml/2006/main" noGrp="1"/>
          </p:cNvSpPr>
          <p:nvPr/>
        </p:nvSpPr>
        <p:spPr>
          <a:xfrm xmlns:a="http://schemas.openxmlformats.org/drawingml/2006/main">
            <a:off x="3009900" y="4495800"/>
            <a:ext cx="3733800"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173442"/>
                </a:solidFill>
              </a:defRPr>
            </a:pPr>
            <a:r>
              <a:rPr sz="2175" b="0">
                <a:solidFill>
                  <a:srgbClr val="173442"/>
                </a:solidFill>
              </a:rPr>
              <a:t>SRCn_STATUS</a:t>
            </a:r>
          </a:p>
        </p:txBody>
      </p:sp>
      <p:sp>
        <p:nvSpPr>
          <p:cNvPr id="22" name="">
            <a:extLst xmlns:a="http://schemas.openxmlformats.org/drawingml/2006/main">
              <a:ext uri="{FF2B5EF4-FFF2-40B4-BE49-F238E27FC236}">
                <a16:creationId xmlns:a16="http://schemas.microsoft.com/office/drawing/2014/main" id="{8FD34D6F-A0D7-4F82-9A06-BF3686883AE4}"/>
              </a:ext>
            </a:extLst>
          </p:cNvPr>
          <p:cNvSpPr>
            <a:spLocks xmlns:a="http://schemas.openxmlformats.org/drawingml/2006/main" noGrp="1"/>
          </p:cNvSpPr>
          <p:nvPr/>
        </p:nvSpPr>
        <p:spPr>
          <a:xfrm xmlns:a="http://schemas.openxmlformats.org/drawingml/2006/main">
            <a:off x="6915150" y="4139293"/>
            <a:ext cx="4419600" cy="1050471"/>
          </a:xfrm>
          <a:prstGeom xmlns:a="http://schemas.openxmlformats.org/drawingml/2006/main" prst="rect">
            <a:avLst/>
          </a:prstGeom>
          <a:solidFill xmlns:a="http://schemas.openxmlformats.org/drawingml/2006/main">
            <a:srgbClr val="FFFFFF"/>
          </a:solidFill>
        </p:spPr>
      </p:sp>
      <p:sp>
        <p:nvSpPr>
          <p:cNvPr id="23" name="">
            <a:extLst xmlns:a="http://schemas.openxmlformats.org/drawingml/2006/main">
              <a:ext uri="{FF2B5EF4-FFF2-40B4-BE49-F238E27FC236}">
                <a16:creationId xmlns:a16="http://schemas.microsoft.com/office/drawing/2014/main" id="{A7F4536A-FE38-42DD-83EE-55C8B5A4C116}"/>
              </a:ext>
            </a:extLst>
          </p:cNvPr>
          <p:cNvSpPr>
            <a:spLocks xmlns:a="http://schemas.openxmlformats.org/drawingml/2006/main" noGrp="1"/>
          </p:cNvSpPr>
          <p:nvPr/>
        </p:nvSpPr>
        <p:spPr>
          <a:xfrm xmlns:a="http://schemas.openxmlformats.org/drawingml/2006/main">
            <a:off x="7124700" y="4495800"/>
            <a:ext cx="4038600"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173442"/>
                </a:solidFill>
              </a:defRPr>
            </a:pPr>
            <a:r>
              <a:rPr sz="2175" b="0">
                <a:solidFill>
                  <a:srgbClr val="173442"/>
                </a:solidFill>
              </a:rPr>
              <a:t>Pending, active, escalated, spurious</a:t>
            </a:r>
          </a:p>
        </p:txBody>
      </p:sp>
      <p:sp>
        <p:nvSpPr>
          <p:cNvPr id="24" name="">
            <a:extLst xmlns:a="http://schemas.openxmlformats.org/drawingml/2006/main">
              <a:ext uri="{FF2B5EF4-FFF2-40B4-BE49-F238E27FC236}">
                <a16:creationId xmlns:a16="http://schemas.microsoft.com/office/drawing/2014/main" id="{ABFBC101-9C90-4602-BC32-FB9AE3F9EB5A}"/>
              </a:ext>
            </a:extLst>
          </p:cNvPr>
          <p:cNvSpPr>
            <a:spLocks xmlns:a="http://schemas.openxmlformats.org/drawingml/2006/main" noGrp="1"/>
          </p:cNvSpPr>
          <p:nvPr/>
        </p:nvSpPr>
        <p:spPr>
          <a:xfrm xmlns:a="http://schemas.openxmlformats.org/drawingml/2006/main">
            <a:off x="666750" y="5246914"/>
            <a:ext cx="2133600" cy="1050471"/>
          </a:xfrm>
          <a:prstGeom xmlns:a="http://schemas.openxmlformats.org/drawingml/2006/main" prst="rect">
            <a:avLst/>
          </a:prstGeom>
          <a:solidFill xmlns:a="http://schemas.openxmlformats.org/drawingml/2006/main">
            <a:srgbClr val="F5F9F9"/>
          </a:solidFill>
        </p:spPr>
      </p:sp>
      <p:sp>
        <p:nvSpPr>
          <p:cNvPr id="25" name="">
            <a:extLst xmlns:a="http://schemas.openxmlformats.org/drawingml/2006/main">
              <a:ext uri="{FF2B5EF4-FFF2-40B4-BE49-F238E27FC236}">
                <a16:creationId xmlns:a16="http://schemas.microsoft.com/office/drawing/2014/main" id="{49184655-A1F7-47EA-B2A1-97E964EFE0BB}"/>
              </a:ext>
            </a:extLst>
          </p:cNvPr>
          <p:cNvSpPr>
            <a:spLocks xmlns:a="http://schemas.openxmlformats.org/drawingml/2006/main" noGrp="1"/>
          </p:cNvSpPr>
          <p:nvPr/>
        </p:nvSpPr>
        <p:spPr>
          <a:xfrm xmlns:a="http://schemas.openxmlformats.org/drawingml/2006/main">
            <a:off x="876300" y="5610225"/>
            <a:ext cx="1752600"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1">
                <a:solidFill>
                  <a:srgbClr val="006B75"/>
                </a:solidFill>
              </a:defRPr>
            </a:pPr>
            <a:r>
              <a:rPr sz="2175" b="1">
                <a:solidFill>
                  <a:srgbClr val="006B75"/>
                </a:solidFill>
              </a:rPr>
              <a:t>0xC0 / D4</a:t>
            </a:r>
          </a:p>
        </p:txBody>
      </p:sp>
      <p:sp>
        <p:nvSpPr>
          <p:cNvPr id="26" name="">
            <a:extLst xmlns:a="http://schemas.openxmlformats.org/drawingml/2006/main">
              <a:ext uri="{FF2B5EF4-FFF2-40B4-BE49-F238E27FC236}">
                <a16:creationId xmlns:a16="http://schemas.microsoft.com/office/drawing/2014/main" id="{A8879B8C-1E18-4092-8182-9823CBF410A1}"/>
              </a:ext>
            </a:extLst>
          </p:cNvPr>
          <p:cNvSpPr>
            <a:spLocks xmlns:a="http://schemas.openxmlformats.org/drawingml/2006/main" noGrp="1"/>
          </p:cNvSpPr>
          <p:nvPr/>
        </p:nvSpPr>
        <p:spPr>
          <a:xfrm xmlns:a="http://schemas.openxmlformats.org/drawingml/2006/main">
            <a:off x="2800350" y="5246914"/>
            <a:ext cx="4114800" cy="1050471"/>
          </a:xfrm>
          <a:prstGeom xmlns:a="http://schemas.openxmlformats.org/drawingml/2006/main" prst="rect">
            <a:avLst/>
          </a:prstGeom>
          <a:solidFill xmlns:a="http://schemas.openxmlformats.org/drawingml/2006/main">
            <a:srgbClr val="F5F9F9"/>
          </a:solidFill>
        </p:spPr>
      </p:sp>
      <p:sp>
        <p:nvSpPr>
          <p:cNvPr id="27" name="">
            <a:extLst xmlns:a="http://schemas.openxmlformats.org/drawingml/2006/main">
              <a:ext uri="{FF2B5EF4-FFF2-40B4-BE49-F238E27FC236}">
                <a16:creationId xmlns:a16="http://schemas.microsoft.com/office/drawing/2014/main" id="{EE46025C-1C08-4F8D-A791-7FA1CBB1FF11}"/>
              </a:ext>
            </a:extLst>
          </p:cNvPr>
          <p:cNvSpPr>
            <a:spLocks xmlns:a="http://schemas.openxmlformats.org/drawingml/2006/main" noGrp="1"/>
          </p:cNvSpPr>
          <p:nvPr/>
        </p:nvSpPr>
        <p:spPr>
          <a:xfrm xmlns:a="http://schemas.openxmlformats.org/drawingml/2006/main">
            <a:off x="3009900" y="5438775"/>
            <a:ext cx="373380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173442"/>
                </a:solidFill>
              </a:defRPr>
            </a:pPr>
            <a:r>
              <a:rPr sz="2175" b="0">
                <a:solidFill>
                  <a:srgbClr val="173442"/>
                </a:solidFill>
              </a:rPr>
              <a:t>BAND_CONFIG / ESCALATION_CFG</a:t>
            </a:r>
          </a:p>
        </p:txBody>
      </p:sp>
      <p:sp>
        <p:nvSpPr>
          <p:cNvPr id="28" name="">
            <a:extLst xmlns:a="http://schemas.openxmlformats.org/drawingml/2006/main">
              <a:ext uri="{FF2B5EF4-FFF2-40B4-BE49-F238E27FC236}">
                <a16:creationId xmlns:a16="http://schemas.microsoft.com/office/drawing/2014/main" id="{08C9F3F5-2420-4B75-A29A-68F9A0859234}"/>
              </a:ext>
            </a:extLst>
          </p:cNvPr>
          <p:cNvSpPr>
            <a:spLocks xmlns:a="http://schemas.openxmlformats.org/drawingml/2006/main" noGrp="1"/>
          </p:cNvSpPr>
          <p:nvPr/>
        </p:nvSpPr>
        <p:spPr>
          <a:xfrm xmlns:a="http://schemas.openxmlformats.org/drawingml/2006/main">
            <a:off x="6915150" y="5246914"/>
            <a:ext cx="4419600" cy="1050471"/>
          </a:xfrm>
          <a:prstGeom xmlns:a="http://schemas.openxmlformats.org/drawingml/2006/main" prst="rect">
            <a:avLst/>
          </a:prstGeom>
          <a:solidFill xmlns:a="http://schemas.openxmlformats.org/drawingml/2006/main">
            <a:srgbClr val="F5F9F9"/>
          </a:solidFill>
        </p:spPr>
      </p:sp>
      <p:sp>
        <p:nvSpPr>
          <p:cNvPr id="29" name="">
            <a:extLst xmlns:a="http://schemas.openxmlformats.org/drawingml/2006/main">
              <a:ext uri="{FF2B5EF4-FFF2-40B4-BE49-F238E27FC236}">
                <a16:creationId xmlns:a16="http://schemas.microsoft.com/office/drawing/2014/main" id="{ED2587B8-2247-4E0F-BB35-9072E77782CD}"/>
              </a:ext>
            </a:extLst>
          </p:cNvPr>
          <p:cNvSpPr>
            <a:spLocks xmlns:a="http://schemas.openxmlformats.org/drawingml/2006/main" noGrp="1"/>
          </p:cNvSpPr>
          <p:nvPr/>
        </p:nvSpPr>
        <p:spPr>
          <a:xfrm xmlns:a="http://schemas.openxmlformats.org/drawingml/2006/main">
            <a:off x="7124700" y="5438775"/>
            <a:ext cx="403860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173442"/>
                </a:solidFill>
              </a:defRPr>
            </a:pPr>
            <a:r>
              <a:rPr sz="2175" b="0">
                <a:solidFill>
                  <a:srgbClr val="173442"/>
                </a:solidFill>
              </a:rPr>
              <a:t>Band urgencies and escalation policy</a:t>
            </a:r>
          </a:p>
        </p:txBody>
      </p:sp>
      <p:sp>
        <p:nvSpPr>
          <p:cNvPr id="30" name="">
            <a:extLst xmlns:a="http://schemas.openxmlformats.org/drawingml/2006/main">
              <a:ext uri="{FF2B5EF4-FFF2-40B4-BE49-F238E27FC236}">
                <a16:creationId xmlns:a16="http://schemas.microsoft.com/office/drawing/2014/main" id="{3ECA9926-E17A-4A93-AB20-FD986F7AEA5F}"/>
              </a:ext>
            </a:extLst>
          </p:cNvPr>
          <p:cNvSpPr>
            <a:spLocks xmlns:a="http://schemas.openxmlformats.org/drawingml/2006/main" noGrp="1"/>
          </p:cNvSpPr>
          <p:nvPr/>
        </p:nvSpPr>
        <p:spPr>
          <a:xfrm xmlns:a="http://schemas.openxmlformats.org/drawingml/2006/main">
            <a:off x="666750" y="6354536"/>
            <a:ext cx="2133600" cy="1050471"/>
          </a:xfrm>
          <a:prstGeom xmlns:a="http://schemas.openxmlformats.org/drawingml/2006/main" prst="rect">
            <a:avLst/>
          </a:prstGeom>
          <a:solidFill xmlns:a="http://schemas.openxmlformats.org/drawingml/2006/main">
            <a:srgbClr val="FFFFFF"/>
          </a:solidFill>
        </p:spPr>
      </p:sp>
      <p:sp>
        <p:nvSpPr>
          <p:cNvPr id="31" name="">
            <a:extLst xmlns:a="http://schemas.openxmlformats.org/drawingml/2006/main">
              <a:ext uri="{FF2B5EF4-FFF2-40B4-BE49-F238E27FC236}">
                <a16:creationId xmlns:a16="http://schemas.microsoft.com/office/drawing/2014/main" id="{44686332-DA11-48F6-8D77-AEADA6C988DF}"/>
              </a:ext>
            </a:extLst>
          </p:cNvPr>
          <p:cNvSpPr>
            <a:spLocks xmlns:a="http://schemas.openxmlformats.org/drawingml/2006/main" noGrp="1"/>
          </p:cNvSpPr>
          <p:nvPr/>
        </p:nvSpPr>
        <p:spPr>
          <a:xfrm xmlns:a="http://schemas.openxmlformats.org/drawingml/2006/main">
            <a:off x="876300" y="6715125"/>
            <a:ext cx="1752600"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1">
                <a:solidFill>
                  <a:srgbClr val="006B75"/>
                </a:solidFill>
              </a:defRPr>
            </a:pPr>
            <a:r>
              <a:rPr sz="2175" b="1">
                <a:solidFill>
                  <a:srgbClr val="006B75"/>
                </a:solidFill>
              </a:rPr>
              <a:t>0xC4 / C8 / CC</a:t>
            </a:r>
          </a:p>
        </p:txBody>
      </p:sp>
      <p:sp>
        <p:nvSpPr>
          <p:cNvPr id="32" name="">
            <a:extLst xmlns:a="http://schemas.openxmlformats.org/drawingml/2006/main">
              <a:ext uri="{FF2B5EF4-FFF2-40B4-BE49-F238E27FC236}">
                <a16:creationId xmlns:a16="http://schemas.microsoft.com/office/drawing/2014/main" id="{BE76D6BF-D5BC-4CDD-B4FA-A26131A96A01}"/>
              </a:ext>
            </a:extLst>
          </p:cNvPr>
          <p:cNvSpPr>
            <a:spLocks xmlns:a="http://schemas.openxmlformats.org/drawingml/2006/main" noGrp="1"/>
          </p:cNvSpPr>
          <p:nvPr/>
        </p:nvSpPr>
        <p:spPr>
          <a:xfrm xmlns:a="http://schemas.openxmlformats.org/drawingml/2006/main">
            <a:off x="2800350" y="6354536"/>
            <a:ext cx="4114800" cy="1050471"/>
          </a:xfrm>
          <a:prstGeom xmlns:a="http://schemas.openxmlformats.org/drawingml/2006/main" prst="rect">
            <a:avLst/>
          </a:prstGeom>
          <a:solidFill xmlns:a="http://schemas.openxmlformats.org/drawingml/2006/main">
            <a:srgbClr val="FFFFFF"/>
          </a:solidFill>
        </p:spPr>
      </p:sp>
      <p:sp>
        <p:nvSpPr>
          <p:cNvPr id="33" name="">
            <a:extLst xmlns:a="http://schemas.openxmlformats.org/drawingml/2006/main">
              <a:ext uri="{FF2B5EF4-FFF2-40B4-BE49-F238E27FC236}">
                <a16:creationId xmlns:a16="http://schemas.microsoft.com/office/drawing/2014/main" id="{6BCA5290-AEA7-4DBC-AEE1-8C825A4F40C9}"/>
              </a:ext>
            </a:extLst>
          </p:cNvPr>
          <p:cNvSpPr>
            <a:spLocks xmlns:a="http://schemas.openxmlformats.org/drawingml/2006/main" noGrp="1"/>
          </p:cNvSpPr>
          <p:nvPr/>
        </p:nvSpPr>
        <p:spPr>
          <a:xfrm xmlns:a="http://schemas.openxmlformats.org/drawingml/2006/main">
            <a:off x="3009900" y="6543675"/>
            <a:ext cx="373380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173442"/>
                </a:solidFill>
              </a:defRPr>
            </a:pPr>
            <a:r>
              <a:rPr sz="2175" b="0">
                <a:solidFill>
                  <a:srgbClr val="173442"/>
                </a:solidFill>
              </a:rPr>
              <a:t>NEST_STATUS / NEST_MAX / ACTIVE_VEC</a:t>
            </a:r>
          </a:p>
        </p:txBody>
      </p:sp>
      <p:sp>
        <p:nvSpPr>
          <p:cNvPr id="34" name="">
            <a:extLst xmlns:a="http://schemas.openxmlformats.org/drawingml/2006/main">
              <a:ext uri="{FF2B5EF4-FFF2-40B4-BE49-F238E27FC236}">
                <a16:creationId xmlns:a16="http://schemas.microsoft.com/office/drawing/2014/main" id="{D8D3FED7-0D5B-4FE0-BB5C-2ED8852E771C}"/>
              </a:ext>
            </a:extLst>
          </p:cNvPr>
          <p:cNvSpPr>
            <a:spLocks xmlns:a="http://schemas.openxmlformats.org/drawingml/2006/main" noGrp="1"/>
          </p:cNvSpPr>
          <p:nvPr/>
        </p:nvSpPr>
        <p:spPr>
          <a:xfrm xmlns:a="http://schemas.openxmlformats.org/drawingml/2006/main">
            <a:off x="6915150" y="6354536"/>
            <a:ext cx="4419600" cy="1050471"/>
          </a:xfrm>
          <a:prstGeom xmlns:a="http://schemas.openxmlformats.org/drawingml/2006/main" prst="rect">
            <a:avLst/>
          </a:prstGeom>
          <a:solidFill xmlns:a="http://schemas.openxmlformats.org/drawingml/2006/main">
            <a:srgbClr val="FFFFFF"/>
          </a:solidFill>
        </p:spPr>
      </p:sp>
      <p:sp>
        <p:nvSpPr>
          <p:cNvPr id="35" name="">
            <a:extLst xmlns:a="http://schemas.openxmlformats.org/drawingml/2006/main">
              <a:ext uri="{FF2B5EF4-FFF2-40B4-BE49-F238E27FC236}">
                <a16:creationId xmlns:a16="http://schemas.microsoft.com/office/drawing/2014/main" id="{04B2F192-25A8-41A8-8B96-82B837D2C125}"/>
              </a:ext>
            </a:extLst>
          </p:cNvPr>
          <p:cNvSpPr>
            <a:spLocks xmlns:a="http://schemas.openxmlformats.org/drawingml/2006/main" noGrp="1"/>
          </p:cNvSpPr>
          <p:nvPr/>
        </p:nvSpPr>
        <p:spPr>
          <a:xfrm xmlns:a="http://schemas.openxmlformats.org/drawingml/2006/main">
            <a:off x="7124700" y="6715125"/>
            <a:ext cx="4038600"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173442"/>
                </a:solidFill>
              </a:defRPr>
            </a:pPr>
            <a:r>
              <a:rPr sz="2175" b="0">
                <a:solidFill>
                  <a:srgbClr val="173442"/>
                </a:solidFill>
              </a:rPr>
              <a:t>Active context and nesting limit</a:t>
            </a:r>
          </a:p>
        </p:txBody>
      </p:sp>
      <p:sp>
        <p:nvSpPr>
          <p:cNvPr id="36" name="">
            <a:extLst xmlns:a="http://schemas.openxmlformats.org/drawingml/2006/main">
              <a:ext uri="{FF2B5EF4-FFF2-40B4-BE49-F238E27FC236}">
                <a16:creationId xmlns:a16="http://schemas.microsoft.com/office/drawing/2014/main" id="{B09799B4-2F7D-41D8-8274-E9216CC2A576}"/>
              </a:ext>
            </a:extLst>
          </p:cNvPr>
          <p:cNvSpPr>
            <a:spLocks xmlns:a="http://schemas.openxmlformats.org/drawingml/2006/main" noGrp="1"/>
          </p:cNvSpPr>
          <p:nvPr/>
        </p:nvSpPr>
        <p:spPr>
          <a:xfrm xmlns:a="http://schemas.openxmlformats.org/drawingml/2006/main">
            <a:off x="666750" y="7462157"/>
            <a:ext cx="2133600" cy="1050471"/>
          </a:xfrm>
          <a:prstGeom xmlns:a="http://schemas.openxmlformats.org/drawingml/2006/main" prst="rect">
            <a:avLst/>
          </a:prstGeom>
          <a:solidFill xmlns:a="http://schemas.openxmlformats.org/drawingml/2006/main">
            <a:srgbClr val="F5F9F9"/>
          </a:solidFill>
        </p:spPr>
      </p:sp>
      <p:sp>
        <p:nvSpPr>
          <p:cNvPr id="37" name="">
            <a:extLst xmlns:a="http://schemas.openxmlformats.org/drawingml/2006/main">
              <a:ext uri="{FF2B5EF4-FFF2-40B4-BE49-F238E27FC236}">
                <a16:creationId xmlns:a16="http://schemas.microsoft.com/office/drawing/2014/main" id="{145C61FC-9B48-4BF4-8786-1FD16BF3C180}"/>
              </a:ext>
            </a:extLst>
          </p:cNvPr>
          <p:cNvSpPr>
            <a:spLocks xmlns:a="http://schemas.openxmlformats.org/drawingml/2006/main" noGrp="1"/>
          </p:cNvSpPr>
          <p:nvPr/>
        </p:nvSpPr>
        <p:spPr>
          <a:xfrm xmlns:a="http://schemas.openxmlformats.org/drawingml/2006/main">
            <a:off x="876300" y="7820025"/>
            <a:ext cx="1752600"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1">
                <a:solidFill>
                  <a:srgbClr val="006B75"/>
                </a:solidFill>
              </a:defRPr>
            </a:pPr>
            <a:r>
              <a:rPr sz="2175" b="1">
                <a:solidFill>
                  <a:srgbClr val="006B75"/>
                </a:solidFill>
              </a:rPr>
              <a:t>0xD8</a:t>
            </a:r>
          </a:p>
        </p:txBody>
      </p:sp>
      <p:sp>
        <p:nvSpPr>
          <p:cNvPr id="38" name="">
            <a:extLst xmlns:a="http://schemas.openxmlformats.org/drawingml/2006/main">
              <a:ext uri="{FF2B5EF4-FFF2-40B4-BE49-F238E27FC236}">
                <a16:creationId xmlns:a16="http://schemas.microsoft.com/office/drawing/2014/main" id="{581F9799-C007-4C99-9043-3564B978B82D}"/>
              </a:ext>
            </a:extLst>
          </p:cNvPr>
          <p:cNvSpPr>
            <a:spLocks xmlns:a="http://schemas.openxmlformats.org/drawingml/2006/main" noGrp="1"/>
          </p:cNvSpPr>
          <p:nvPr/>
        </p:nvSpPr>
        <p:spPr>
          <a:xfrm xmlns:a="http://schemas.openxmlformats.org/drawingml/2006/main">
            <a:off x="2800350" y="7462157"/>
            <a:ext cx="4114800" cy="1050471"/>
          </a:xfrm>
          <a:prstGeom xmlns:a="http://schemas.openxmlformats.org/drawingml/2006/main" prst="rect">
            <a:avLst/>
          </a:prstGeom>
          <a:solidFill xmlns:a="http://schemas.openxmlformats.org/drawingml/2006/main">
            <a:srgbClr val="F5F9F9"/>
          </a:solidFill>
        </p:spPr>
      </p:sp>
      <p:sp>
        <p:nvSpPr>
          <p:cNvPr id="39" name="">
            <a:extLst xmlns:a="http://schemas.openxmlformats.org/drawingml/2006/main">
              <a:ext uri="{FF2B5EF4-FFF2-40B4-BE49-F238E27FC236}">
                <a16:creationId xmlns:a16="http://schemas.microsoft.com/office/drawing/2014/main" id="{E1CD925A-DB89-4915-9EE3-7361862BB2CD}"/>
              </a:ext>
            </a:extLst>
          </p:cNvPr>
          <p:cNvSpPr>
            <a:spLocks xmlns:a="http://schemas.openxmlformats.org/drawingml/2006/main" noGrp="1"/>
          </p:cNvSpPr>
          <p:nvPr/>
        </p:nvSpPr>
        <p:spPr>
          <a:xfrm xmlns:a="http://schemas.openxmlformats.org/drawingml/2006/main">
            <a:off x="3009900" y="7820025"/>
            <a:ext cx="3733800"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173442"/>
                </a:solidFill>
              </a:defRPr>
            </a:pPr>
            <a:r>
              <a:rPr sz="2175" b="0">
                <a:solidFill>
                  <a:srgbClr val="173442"/>
                </a:solidFill>
              </a:rPr>
              <a:t>INT_ENABLE</a:t>
            </a:r>
          </a:p>
        </p:txBody>
      </p:sp>
      <p:sp>
        <p:nvSpPr>
          <p:cNvPr id="40" name="">
            <a:extLst xmlns:a="http://schemas.openxmlformats.org/drawingml/2006/main">
              <a:ext uri="{FF2B5EF4-FFF2-40B4-BE49-F238E27FC236}">
                <a16:creationId xmlns:a16="http://schemas.microsoft.com/office/drawing/2014/main" id="{700A4FF0-BBE7-4986-998D-17F7F237638A}"/>
              </a:ext>
            </a:extLst>
          </p:cNvPr>
          <p:cNvSpPr>
            <a:spLocks xmlns:a="http://schemas.openxmlformats.org/drawingml/2006/main" noGrp="1"/>
          </p:cNvSpPr>
          <p:nvPr/>
        </p:nvSpPr>
        <p:spPr>
          <a:xfrm xmlns:a="http://schemas.openxmlformats.org/drawingml/2006/main">
            <a:off x="6915150" y="7462157"/>
            <a:ext cx="4419600" cy="1050471"/>
          </a:xfrm>
          <a:prstGeom xmlns:a="http://schemas.openxmlformats.org/drawingml/2006/main" prst="rect">
            <a:avLst/>
          </a:prstGeom>
          <a:solidFill xmlns:a="http://schemas.openxmlformats.org/drawingml/2006/main">
            <a:srgbClr val="F5F9F9"/>
          </a:solidFill>
        </p:spPr>
      </p:sp>
      <p:sp>
        <p:nvSpPr>
          <p:cNvPr id="41" name="">
            <a:extLst xmlns:a="http://schemas.openxmlformats.org/drawingml/2006/main">
              <a:ext uri="{FF2B5EF4-FFF2-40B4-BE49-F238E27FC236}">
                <a16:creationId xmlns:a16="http://schemas.microsoft.com/office/drawing/2014/main" id="{14106C85-83F8-4649-9AC3-82F0A1A104D5}"/>
              </a:ext>
            </a:extLst>
          </p:cNvPr>
          <p:cNvSpPr>
            <a:spLocks xmlns:a="http://schemas.openxmlformats.org/drawingml/2006/main" noGrp="1"/>
          </p:cNvSpPr>
          <p:nvPr/>
        </p:nvSpPr>
        <p:spPr>
          <a:xfrm xmlns:a="http://schemas.openxmlformats.org/drawingml/2006/main">
            <a:off x="7124700" y="7820025"/>
            <a:ext cx="4038600"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173442"/>
                </a:solidFill>
              </a:defRPr>
            </a:pPr>
            <a:r>
              <a:rPr sz="2175" b="0">
                <a:solidFill>
                  <a:srgbClr val="173442"/>
                </a:solidFill>
              </a:rPr>
              <a:t>Per-source enable</a:t>
            </a:r>
          </a:p>
        </p:txBody>
      </p:sp>
      <p:sp>
        <p:nvSpPr>
          <p:cNvPr id="42" name="">
            <a:extLst xmlns:a="http://schemas.openxmlformats.org/drawingml/2006/main">
              <a:ext uri="{FF2B5EF4-FFF2-40B4-BE49-F238E27FC236}">
                <a16:creationId xmlns:a16="http://schemas.microsoft.com/office/drawing/2014/main" id="{A2F86ADF-6CCC-4A66-927B-5F5F0DCF7302}"/>
              </a:ext>
            </a:extLst>
          </p:cNvPr>
          <p:cNvSpPr>
            <a:spLocks xmlns:a="http://schemas.openxmlformats.org/drawingml/2006/main" noGrp="1"/>
          </p:cNvSpPr>
          <p:nvPr/>
        </p:nvSpPr>
        <p:spPr>
          <a:xfrm xmlns:a="http://schemas.openxmlformats.org/drawingml/2006/main">
            <a:off x="666750" y="8569779"/>
            <a:ext cx="2133600" cy="1050471"/>
          </a:xfrm>
          <a:prstGeom xmlns:a="http://schemas.openxmlformats.org/drawingml/2006/main" prst="rect">
            <a:avLst/>
          </a:prstGeom>
          <a:solidFill xmlns:a="http://schemas.openxmlformats.org/drawingml/2006/main">
            <a:srgbClr val="FFFFFF"/>
          </a:solidFill>
        </p:spPr>
      </p:sp>
      <p:sp>
        <p:nvSpPr>
          <p:cNvPr id="43" name="">
            <a:extLst xmlns:a="http://schemas.openxmlformats.org/drawingml/2006/main">
              <a:ext uri="{FF2B5EF4-FFF2-40B4-BE49-F238E27FC236}">
                <a16:creationId xmlns:a16="http://schemas.microsoft.com/office/drawing/2014/main" id="{1A45FA69-5416-4C44-8627-941D7184A51B}"/>
              </a:ext>
            </a:extLst>
          </p:cNvPr>
          <p:cNvSpPr>
            <a:spLocks xmlns:a="http://schemas.openxmlformats.org/drawingml/2006/main" noGrp="1"/>
          </p:cNvSpPr>
          <p:nvPr/>
        </p:nvSpPr>
        <p:spPr>
          <a:xfrm xmlns:a="http://schemas.openxmlformats.org/drawingml/2006/main">
            <a:off x="876300" y="8924925"/>
            <a:ext cx="1752600"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1">
                <a:solidFill>
                  <a:srgbClr val="006B75"/>
                </a:solidFill>
              </a:defRPr>
            </a:pPr>
            <a:r>
              <a:rPr sz="2175" b="1">
                <a:solidFill>
                  <a:srgbClr val="006B75"/>
                </a:solidFill>
              </a:rPr>
              <a:t>0xD0 / DC</a:t>
            </a:r>
          </a:p>
        </p:txBody>
      </p:sp>
      <p:sp>
        <p:nvSpPr>
          <p:cNvPr id="44" name="">
            <a:extLst xmlns:a="http://schemas.openxmlformats.org/drawingml/2006/main">
              <a:ext uri="{FF2B5EF4-FFF2-40B4-BE49-F238E27FC236}">
                <a16:creationId xmlns:a16="http://schemas.microsoft.com/office/drawing/2014/main" id="{72165C28-5305-40F1-9594-3E9C47D3CD4F}"/>
              </a:ext>
            </a:extLst>
          </p:cNvPr>
          <p:cNvSpPr>
            <a:spLocks xmlns:a="http://schemas.openxmlformats.org/drawingml/2006/main" noGrp="1"/>
          </p:cNvSpPr>
          <p:nvPr/>
        </p:nvSpPr>
        <p:spPr>
          <a:xfrm xmlns:a="http://schemas.openxmlformats.org/drawingml/2006/main">
            <a:off x="2800350" y="8569779"/>
            <a:ext cx="4114800" cy="1050471"/>
          </a:xfrm>
          <a:prstGeom xmlns:a="http://schemas.openxmlformats.org/drawingml/2006/main" prst="rect">
            <a:avLst/>
          </a:prstGeom>
          <a:solidFill xmlns:a="http://schemas.openxmlformats.org/drawingml/2006/main">
            <a:srgbClr val="FFFFFF"/>
          </a:solidFill>
        </p:spPr>
      </p:sp>
      <p:sp>
        <p:nvSpPr>
          <p:cNvPr id="45" name="">
            <a:extLst xmlns:a="http://schemas.openxmlformats.org/drawingml/2006/main">
              <a:ext uri="{FF2B5EF4-FFF2-40B4-BE49-F238E27FC236}">
                <a16:creationId xmlns:a16="http://schemas.microsoft.com/office/drawing/2014/main" id="{560EC6F7-7F0D-40CC-804D-88BE365862A2}"/>
              </a:ext>
            </a:extLst>
          </p:cNvPr>
          <p:cNvSpPr>
            <a:spLocks xmlns:a="http://schemas.openxmlformats.org/drawingml/2006/main" noGrp="1"/>
          </p:cNvSpPr>
          <p:nvPr/>
        </p:nvSpPr>
        <p:spPr>
          <a:xfrm xmlns:a="http://schemas.openxmlformats.org/drawingml/2006/main">
            <a:off x="3009900" y="8924925"/>
            <a:ext cx="3733800"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173442"/>
                </a:solidFill>
              </a:defRPr>
            </a:pPr>
            <a:r>
              <a:rPr sz="2175" b="0">
                <a:solidFill>
                  <a:srgbClr val="173442"/>
                </a:solidFill>
              </a:rPr>
              <a:t>SPURIOUS_LOG / INT_STATUS</a:t>
            </a:r>
          </a:p>
        </p:txBody>
      </p:sp>
      <p:sp>
        <p:nvSpPr>
          <p:cNvPr id="46" name="">
            <a:extLst xmlns:a="http://schemas.openxmlformats.org/drawingml/2006/main">
              <a:ext uri="{FF2B5EF4-FFF2-40B4-BE49-F238E27FC236}">
                <a16:creationId xmlns:a16="http://schemas.microsoft.com/office/drawing/2014/main" id="{01154A2E-04D4-4BDB-A358-20CD420085D7}"/>
              </a:ext>
            </a:extLst>
          </p:cNvPr>
          <p:cNvSpPr>
            <a:spLocks xmlns:a="http://schemas.openxmlformats.org/drawingml/2006/main" noGrp="1"/>
          </p:cNvSpPr>
          <p:nvPr/>
        </p:nvSpPr>
        <p:spPr>
          <a:xfrm xmlns:a="http://schemas.openxmlformats.org/drawingml/2006/main">
            <a:off x="6915150" y="8569779"/>
            <a:ext cx="4419600" cy="1050471"/>
          </a:xfrm>
          <a:prstGeom xmlns:a="http://schemas.openxmlformats.org/drawingml/2006/main" prst="rect">
            <a:avLst/>
          </a:prstGeom>
          <a:solidFill xmlns:a="http://schemas.openxmlformats.org/drawingml/2006/main">
            <a:srgbClr val="FFFFFF"/>
          </a:solidFill>
        </p:spPr>
      </p:sp>
      <p:sp>
        <p:nvSpPr>
          <p:cNvPr id="47" name="">
            <a:extLst xmlns:a="http://schemas.openxmlformats.org/drawingml/2006/main">
              <a:ext uri="{FF2B5EF4-FFF2-40B4-BE49-F238E27FC236}">
                <a16:creationId xmlns:a16="http://schemas.microsoft.com/office/drawing/2014/main" id="{795437A7-FEFD-44BF-8AC4-39E0C234330B}"/>
              </a:ext>
            </a:extLst>
          </p:cNvPr>
          <p:cNvSpPr>
            <a:spLocks xmlns:a="http://schemas.openxmlformats.org/drawingml/2006/main" noGrp="1"/>
          </p:cNvSpPr>
          <p:nvPr/>
        </p:nvSpPr>
        <p:spPr>
          <a:xfrm xmlns:a="http://schemas.openxmlformats.org/drawingml/2006/main">
            <a:off x="7124700" y="8924925"/>
            <a:ext cx="4038600"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173442"/>
                </a:solidFill>
              </a:defRPr>
            </a:pPr>
            <a:r>
              <a:rPr sz="2175" b="0">
                <a:solidFill>
                  <a:srgbClr val="173442"/>
                </a:solidFill>
              </a:rPr>
              <a:t>Logged events; cleared by RW1C</a:t>
            </a:r>
          </a:p>
        </p:txBody>
      </p:sp>
      <p:pic>
        <p:nvPicPr>
          <p:cNvPr id="48" name="asset-figures/pic_software"/>
          <p:cNvPicPr>
            <a:picLocks xmlns:a="http://schemas.openxmlformats.org/drawingml/2006/main" noChangeAspect="1"/>
          </p:cNvPicPr>
          <p:nvPr/>
        </p:nvPicPr>
        <p:blipFill>
          <a:blip xmlns:r="http://schemas.openxmlformats.org/officeDocument/2006/relationships" xmlns:a="http://schemas.openxmlformats.org/drawingml/2006/main" r:embed="R2979157c86f34aaf">
            <a:extLst>
              <a:ext uri="{96DAC541-7B7A-43D3-8B79-37D633B846F1}">
                <asvg:svgBlip xmlns:asvg="http://schemas.microsoft.com/office/drawing/2016/SVG/main" r:embed="Rff35bf2d3dfa4a08"/>
              </a:ext>
            </a:extLst>
          </a:blip>
          <a:stretch xmlns:a="http://schemas.openxmlformats.org/drawingml/2006/main"/>
        </p:blipFill>
        <p:spPr>
          <a:xfrm xmlns:a="http://schemas.openxmlformats.org/drawingml/2006/main">
            <a:off x="11906250" y="1600200"/>
            <a:ext cx="5715000" cy="7847463"/>
          </a:xfrm>
          <a:prstGeom xmlns:a="http://schemas.openxmlformats.org/drawingml/2006/main" prst="rect">
            <a:avLst/>
          </a:prstGeom>
        </p:spPr>
      </p:pic>
      <p:sp>
        <p:nvSpPr>
          <p:cNvPr id="49" name="footer">
            <a:extLst xmlns:a="http://schemas.openxmlformats.org/drawingml/2006/main">
              <a:ext uri="{FF2B5EF4-FFF2-40B4-BE49-F238E27FC236}">
                <a16:creationId xmlns:a16="http://schemas.microsoft.com/office/drawing/2014/main" id="{8D99706A-6203-43BE-9218-B2A5AC4AF25F}"/>
              </a:ext>
            </a:extLst>
          </p:cNvPr>
          <p:cNvSpPr>
            <a:spLocks xmlns:a="http://schemas.openxmlformats.org/drawingml/2006/main" noGrp="1"/>
          </p:cNvSpPr>
          <p:nvPr/>
        </p:nvSpPr>
        <p:spPr>
          <a:xfrm xmlns:a="http://schemas.openxmlformats.org/drawingml/2006/main">
            <a:off x="666750" y="9772650"/>
            <a:ext cx="169545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526772"/>
                </a:solidFill>
              </a:defRPr>
            </a:pPr>
            <a:r>
              <a:rPr sz="1500" b="0">
                <a:solidFill>
                  <a:srgbClr val="526772"/>
                </a:solidFill>
              </a:rPr>
              <a:t>PIC   ·   05 / 08   ·   Software interface</a:t>
            </a:r>
          </a:p>
        </p:txBody>
      </p:sp>
    </p:spTree>
    <p:extLst>
      <p:ext uri="{BB962C8B-B14F-4D97-AF65-F5344CB8AC3E}">
        <p14:creationId xmlns:p14="http://schemas.microsoft.com/office/powerpoint/2010/main" val="100726553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481522D7-D2F5-45BE-B26F-6167967AC56B}"/>
              </a:ext>
            </a:extLst>
          </p:cNvPr>
          <p:cNvSpPr>
            <a:spLocks xmlns:a="http://schemas.openxmlformats.org/drawingml/2006/main" noGrp="1"/>
          </p:cNvSpPr>
          <p:nvPr/>
        </p:nvSpPr>
        <p:spPr>
          <a:xfrm xmlns:a="http://schemas.openxmlformats.org/drawingml/2006/main">
            <a:off x="666750" y="419100"/>
            <a:ext cx="16954500" cy="571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750" b="1">
                <a:solidFill>
                  <a:srgbClr val="173442"/>
                </a:solidFill>
              </a:defRPr>
            </a:pPr>
            <a:r>
              <a:rPr sz="3750" b="1">
                <a:solidFill>
                  <a:srgbClr val="173442"/>
                </a:solidFill>
              </a:rPr>
              <a:t>The priority rules are checked against an independent model</a:t>
            </a:r>
          </a:p>
        </p:txBody>
      </p:sp>
      <p:sp>
        <p:nvSpPr>
          <p:cNvPr id="2" name="">
            <a:extLst xmlns:a="http://schemas.openxmlformats.org/drawingml/2006/main">
              <a:ext uri="{FF2B5EF4-FFF2-40B4-BE49-F238E27FC236}">
                <a16:creationId xmlns:a16="http://schemas.microsoft.com/office/drawing/2014/main" id="{AB716159-E6D3-444D-B6CF-0F2A2D675143}"/>
              </a:ext>
            </a:extLst>
          </p:cNvPr>
          <p:cNvSpPr>
            <a:spLocks xmlns:a="http://schemas.openxmlformats.org/drawingml/2006/main" noGrp="1"/>
          </p:cNvSpPr>
          <p:nvPr/>
        </p:nvSpPr>
        <p:spPr>
          <a:xfrm xmlns:a="http://schemas.openxmlformats.org/drawingml/2006/main">
            <a:off x="666750" y="1123950"/>
            <a:ext cx="1619250" cy="38100"/>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pic>
        <p:nvPicPr>
          <p:cNvPr id="3" name="asset-figures/pic_verification"/>
          <p:cNvPicPr>
            <a:picLocks xmlns:a="http://schemas.openxmlformats.org/drawingml/2006/main" noChangeAspect="1"/>
          </p:cNvPicPr>
          <p:nvPr/>
        </p:nvPicPr>
        <p:blipFill>
          <a:blip xmlns:r="http://schemas.openxmlformats.org/officeDocument/2006/relationships" xmlns:a="http://schemas.openxmlformats.org/drawingml/2006/main" r:embed="Rec295725d2b74001">
            <a:extLst>
              <a:ext uri="{96DAC541-7B7A-43D3-8B79-37D633B846F1}">
                <asvg:svgBlip xmlns:asvg="http://schemas.microsoft.com/office/drawing/2016/SVG/main" r:embed="R011b216e93c04761"/>
              </a:ext>
            </a:extLst>
          </a:blip>
          <a:stretch xmlns:a="http://schemas.openxmlformats.org/drawingml/2006/main"/>
        </p:blipFill>
        <p:spPr>
          <a:xfrm xmlns:a="http://schemas.openxmlformats.org/drawingml/2006/main">
            <a:off x="2909455" y="1428750"/>
            <a:ext cx="12469091" cy="5143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A9F9578-23D2-43A5-8BD9-DD68B6C9AAEB}"/>
              </a:ext>
            </a:extLst>
          </p:cNvPr>
          <p:cNvSpPr>
            <a:spLocks xmlns:a="http://schemas.openxmlformats.org/drawingml/2006/main" noGrp="1"/>
          </p:cNvSpPr>
          <p:nvPr/>
        </p:nvSpPr>
        <p:spPr>
          <a:xfrm xmlns:a="http://schemas.openxmlformats.org/drawingml/2006/main">
            <a:off x="666750" y="6781800"/>
            <a:ext cx="5473700" cy="2430780"/>
          </a:xfrm>
          <a:prstGeom xmlns:a="http://schemas.openxmlformats.org/drawingml/2006/main" prst="roundRect">
            <a:avLst>
              <a:gd name="adj" fmla="val 4702"/>
            </a:avLst>
          </a:prstGeom>
          <a:solidFill xmlns:a="http://schemas.openxmlformats.org/drawingml/2006/main">
            <a:srgbClr val="EEF5F5"/>
          </a:solidFill>
        </p:spPr>
      </p:sp>
      <p:sp>
        <p:nvSpPr>
          <p:cNvPr id="5" name="">
            <a:extLst xmlns:a="http://schemas.openxmlformats.org/drawingml/2006/main">
              <a:ext uri="{FF2B5EF4-FFF2-40B4-BE49-F238E27FC236}">
                <a16:creationId xmlns:a16="http://schemas.microsoft.com/office/drawing/2014/main" id="{A2D5C12E-A4ED-4A04-A06B-69CB66966C32}"/>
              </a:ext>
            </a:extLst>
          </p:cNvPr>
          <p:cNvSpPr>
            <a:spLocks xmlns:a="http://schemas.openxmlformats.org/drawingml/2006/main" noGrp="1"/>
          </p:cNvSpPr>
          <p:nvPr/>
        </p:nvSpPr>
        <p:spPr>
          <a:xfrm xmlns:a="http://schemas.openxmlformats.org/drawingml/2006/main">
            <a:off x="990600" y="7600950"/>
            <a:ext cx="4829175"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1">
                <a:solidFill>
                  <a:srgbClr val="006B75"/>
                </a:solidFill>
              </a:defRPr>
            </a:pPr>
            <a:r>
              <a:rPr sz="2475" b="1">
                <a:solidFill>
                  <a:srgbClr val="006B75"/>
                </a:solidFill>
              </a:rPr>
              <a:t>Independent model</a:t>
            </a:r>
          </a:p>
        </p:txBody>
      </p:sp>
      <p:sp>
        <p:nvSpPr>
          <p:cNvPr id="6" name="">
            <a:extLst xmlns:a="http://schemas.openxmlformats.org/drawingml/2006/main">
              <a:ext uri="{FF2B5EF4-FFF2-40B4-BE49-F238E27FC236}">
                <a16:creationId xmlns:a16="http://schemas.microsoft.com/office/drawing/2014/main" id="{7BB0A2DB-2D49-45BB-8F9A-C420F9D2BF44}"/>
              </a:ext>
            </a:extLst>
          </p:cNvPr>
          <p:cNvSpPr>
            <a:spLocks xmlns:a="http://schemas.openxmlformats.org/drawingml/2006/main" noGrp="1"/>
          </p:cNvSpPr>
          <p:nvPr/>
        </p:nvSpPr>
        <p:spPr>
          <a:xfrm xmlns:a="http://schemas.openxmlformats.org/drawingml/2006/main">
            <a:off x="990600" y="8077200"/>
            <a:ext cx="4829175"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173442"/>
                </a:solidFill>
              </a:defRPr>
            </a:pPr>
            <a:r>
              <a:rPr sz="2175" b="0">
                <a:solidFill>
                  <a:srgbClr val="173442"/>
                </a:solidFill>
              </a:rPr>
              <a:t>All 24 band orders, with masks and ties</a:t>
            </a:r>
          </a:p>
        </p:txBody>
      </p:sp>
      <p:sp>
        <p:nvSpPr>
          <p:cNvPr id="7" name="">
            <a:extLst xmlns:a="http://schemas.openxmlformats.org/drawingml/2006/main">
              <a:ext uri="{FF2B5EF4-FFF2-40B4-BE49-F238E27FC236}">
                <a16:creationId xmlns:a16="http://schemas.microsoft.com/office/drawing/2014/main" id="{4883F334-F01A-430C-9FA0-DE9CBA60F387}"/>
              </a:ext>
            </a:extLst>
          </p:cNvPr>
          <p:cNvSpPr>
            <a:spLocks xmlns:a="http://schemas.openxmlformats.org/drawingml/2006/main" noGrp="1"/>
          </p:cNvSpPr>
          <p:nvPr/>
        </p:nvSpPr>
        <p:spPr>
          <a:xfrm xmlns:a="http://schemas.openxmlformats.org/drawingml/2006/main">
            <a:off x="6407150" y="6781800"/>
            <a:ext cx="5473700" cy="2430780"/>
          </a:xfrm>
          <a:prstGeom xmlns:a="http://schemas.openxmlformats.org/drawingml/2006/main" prst="roundRect">
            <a:avLst>
              <a:gd name="adj" fmla="val 4702"/>
            </a:avLst>
          </a:prstGeom>
          <a:solidFill xmlns:a="http://schemas.openxmlformats.org/drawingml/2006/main">
            <a:srgbClr val="EEF5F5"/>
          </a:solidFill>
        </p:spPr>
      </p:sp>
      <p:sp>
        <p:nvSpPr>
          <p:cNvPr id="8" name="">
            <a:extLst xmlns:a="http://schemas.openxmlformats.org/drawingml/2006/main">
              <a:ext uri="{FF2B5EF4-FFF2-40B4-BE49-F238E27FC236}">
                <a16:creationId xmlns:a16="http://schemas.microsoft.com/office/drawing/2014/main" id="{50B2381A-F83E-41C0-993F-401D31F8F20E}"/>
              </a:ext>
            </a:extLst>
          </p:cNvPr>
          <p:cNvSpPr>
            <a:spLocks xmlns:a="http://schemas.openxmlformats.org/drawingml/2006/main" noGrp="1"/>
          </p:cNvSpPr>
          <p:nvPr/>
        </p:nvSpPr>
        <p:spPr>
          <a:xfrm xmlns:a="http://schemas.openxmlformats.org/drawingml/2006/main">
            <a:off x="6734175" y="7600950"/>
            <a:ext cx="4829175"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1">
                <a:solidFill>
                  <a:srgbClr val="006B75"/>
                </a:solidFill>
              </a:defRPr>
            </a:pPr>
            <a:r>
              <a:rPr sz="2475" b="1">
                <a:solidFill>
                  <a:srgbClr val="006B75"/>
                </a:solidFill>
              </a:rPr>
              <a:t>Same-cycle events</a:t>
            </a:r>
          </a:p>
        </p:txBody>
      </p:sp>
      <p:sp>
        <p:nvSpPr>
          <p:cNvPr id="9" name="">
            <a:extLst xmlns:a="http://schemas.openxmlformats.org/drawingml/2006/main">
              <a:ext uri="{FF2B5EF4-FFF2-40B4-BE49-F238E27FC236}">
                <a16:creationId xmlns:a16="http://schemas.microsoft.com/office/drawing/2014/main" id="{888BFE76-BB6C-4BAB-85F9-19F2B8C0D389}"/>
              </a:ext>
            </a:extLst>
          </p:cNvPr>
          <p:cNvSpPr>
            <a:spLocks xmlns:a="http://schemas.openxmlformats.org/drawingml/2006/main" noGrp="1"/>
          </p:cNvSpPr>
          <p:nvPr/>
        </p:nvSpPr>
        <p:spPr>
          <a:xfrm xmlns:a="http://schemas.openxmlformats.org/drawingml/2006/main">
            <a:off x="6734175" y="8077200"/>
            <a:ext cx="4829175"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173442"/>
                </a:solidFill>
              </a:defRPr>
            </a:pPr>
            <a:r>
              <a:rPr sz="2175" b="0">
                <a:solidFill>
                  <a:srgbClr val="173442"/>
                </a:solidFill>
              </a:rPr>
              <a:t>Edge at claim, masked source, strobed key</a:t>
            </a:r>
          </a:p>
        </p:txBody>
      </p:sp>
      <p:sp>
        <p:nvSpPr>
          <p:cNvPr id="10" name="">
            <a:extLst xmlns:a="http://schemas.openxmlformats.org/drawingml/2006/main">
              <a:ext uri="{FF2B5EF4-FFF2-40B4-BE49-F238E27FC236}">
                <a16:creationId xmlns:a16="http://schemas.microsoft.com/office/drawing/2014/main" id="{238B27ED-62CF-46A1-9D0C-E5D5247C0AE1}"/>
              </a:ext>
            </a:extLst>
          </p:cNvPr>
          <p:cNvSpPr>
            <a:spLocks xmlns:a="http://schemas.openxmlformats.org/drawingml/2006/main" noGrp="1"/>
          </p:cNvSpPr>
          <p:nvPr/>
        </p:nvSpPr>
        <p:spPr>
          <a:xfrm xmlns:a="http://schemas.openxmlformats.org/drawingml/2006/main">
            <a:off x="12147550" y="6781800"/>
            <a:ext cx="5473700" cy="2430780"/>
          </a:xfrm>
          <a:prstGeom xmlns:a="http://schemas.openxmlformats.org/drawingml/2006/main" prst="roundRect">
            <a:avLst>
              <a:gd name="adj" fmla="val 4702"/>
            </a:avLst>
          </a:prstGeom>
          <a:solidFill xmlns:a="http://schemas.openxmlformats.org/drawingml/2006/main">
            <a:srgbClr val="EEF5F5"/>
          </a:solidFill>
        </p:spPr>
      </p:sp>
      <p:sp>
        <p:nvSpPr>
          <p:cNvPr id="11" name="">
            <a:extLst xmlns:a="http://schemas.openxmlformats.org/drawingml/2006/main">
              <a:ext uri="{FF2B5EF4-FFF2-40B4-BE49-F238E27FC236}">
                <a16:creationId xmlns:a16="http://schemas.microsoft.com/office/drawing/2014/main" id="{DA38DAE7-3922-4A3F-9E2A-A841C6C8731B}"/>
              </a:ext>
            </a:extLst>
          </p:cNvPr>
          <p:cNvSpPr>
            <a:spLocks xmlns:a="http://schemas.openxmlformats.org/drawingml/2006/main" noGrp="1"/>
          </p:cNvSpPr>
          <p:nvPr/>
        </p:nvSpPr>
        <p:spPr>
          <a:xfrm xmlns:a="http://schemas.openxmlformats.org/drawingml/2006/main">
            <a:off x="12468225" y="7600950"/>
            <a:ext cx="4829175"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1">
                <a:solidFill>
                  <a:srgbClr val="006B75"/>
                </a:solidFill>
              </a:defRPr>
            </a:pPr>
            <a:r>
              <a:rPr sz="2475" b="1">
                <a:solidFill>
                  <a:srgbClr val="006B75"/>
                </a:solidFill>
              </a:rPr>
              <a:t>External AXI reference</a:t>
            </a:r>
          </a:p>
        </p:txBody>
      </p:sp>
      <p:sp>
        <p:nvSpPr>
          <p:cNvPr id="12" name="">
            <a:extLst xmlns:a="http://schemas.openxmlformats.org/drawingml/2006/main">
              <a:ext uri="{FF2B5EF4-FFF2-40B4-BE49-F238E27FC236}">
                <a16:creationId xmlns:a16="http://schemas.microsoft.com/office/drawing/2014/main" id="{9BDD7147-F52D-4BD1-A46B-2B08599A87FE}"/>
              </a:ext>
            </a:extLst>
          </p:cNvPr>
          <p:cNvSpPr>
            <a:spLocks xmlns:a="http://schemas.openxmlformats.org/drawingml/2006/main" noGrp="1"/>
          </p:cNvSpPr>
          <p:nvPr/>
        </p:nvSpPr>
        <p:spPr>
          <a:xfrm xmlns:a="http://schemas.openxmlformats.org/drawingml/2006/main">
            <a:off x="12468225" y="8077200"/>
            <a:ext cx="4829175"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173442"/>
                </a:solidFill>
              </a:defRPr>
            </a:pPr>
            <a:r>
              <a:rPr sz="2175" b="0">
                <a:solidFill>
                  <a:srgbClr val="173442"/>
                </a:solidFill>
              </a:rPr>
              <a:t>Front-end compared with PULP: 96 cases</a:t>
            </a:r>
          </a:p>
        </p:txBody>
      </p:sp>
      <p:sp>
        <p:nvSpPr>
          <p:cNvPr id="13" name="">
            <a:extLst xmlns:a="http://schemas.openxmlformats.org/drawingml/2006/main">
              <a:ext uri="{FF2B5EF4-FFF2-40B4-BE49-F238E27FC236}">
                <a16:creationId xmlns:a16="http://schemas.microsoft.com/office/drawing/2014/main" id="{7175CC77-93A0-48E0-8FE3-BE38BFED46D5}"/>
              </a:ext>
            </a:extLst>
          </p:cNvPr>
          <p:cNvSpPr>
            <a:spLocks xmlns:a="http://schemas.openxmlformats.org/drawingml/2006/main" noGrp="1"/>
          </p:cNvSpPr>
          <p:nvPr/>
        </p:nvSpPr>
        <p:spPr>
          <a:xfrm xmlns:a="http://schemas.openxmlformats.org/drawingml/2006/main">
            <a:off x="666750" y="9344025"/>
            <a:ext cx="16954500" cy="2762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a:solidFill>
                  <a:srgbClr val="526772"/>
                </a:solidFill>
              </a:defRPr>
            </a:pPr>
            <a:r>
              <a:rPr sz="1800" b="0">
                <a:solidFill>
                  <a:srgbClr val="526772"/>
                </a:solidFill>
              </a:rPr>
              <a:t>ModelSim: 22 CPU/PIC configurations   ·   Verilator: 16 benches with assertions bound to the RTL</a:t>
            </a:r>
          </a:p>
        </p:txBody>
      </p:sp>
      <p:sp>
        <p:nvSpPr>
          <p:cNvPr id="14" name="footer">
            <a:extLst xmlns:a="http://schemas.openxmlformats.org/drawingml/2006/main">
              <a:ext uri="{FF2B5EF4-FFF2-40B4-BE49-F238E27FC236}">
                <a16:creationId xmlns:a16="http://schemas.microsoft.com/office/drawing/2014/main" id="{00AA7384-214B-4FB9-8E7F-F5C184D0E018}"/>
              </a:ext>
            </a:extLst>
          </p:cNvPr>
          <p:cNvSpPr>
            <a:spLocks xmlns:a="http://schemas.openxmlformats.org/drawingml/2006/main" noGrp="1"/>
          </p:cNvSpPr>
          <p:nvPr/>
        </p:nvSpPr>
        <p:spPr>
          <a:xfrm xmlns:a="http://schemas.openxmlformats.org/drawingml/2006/main">
            <a:off x="666750" y="9772650"/>
            <a:ext cx="169545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526772"/>
                </a:solidFill>
              </a:defRPr>
            </a:pPr>
            <a:r>
              <a:rPr sz="1500" b="0">
                <a:solidFill>
                  <a:srgbClr val="526772"/>
                </a:solidFill>
              </a:rPr>
              <a:t>PIC   ·   06 / 08   ·   Verification</a:t>
            </a:r>
          </a:p>
        </p:txBody>
      </p:sp>
    </p:spTree>
    <p:extLst>
      <p:ext uri="{BB962C8B-B14F-4D97-AF65-F5344CB8AC3E}">
        <p14:creationId xmlns:p14="http://schemas.microsoft.com/office/powerpoint/2010/main" val="12688097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3FDFB5FC-329B-4353-8DBC-CE04E74CF563}"/>
              </a:ext>
            </a:extLst>
          </p:cNvPr>
          <p:cNvSpPr>
            <a:spLocks xmlns:a="http://schemas.openxmlformats.org/drawingml/2006/main" noGrp="1"/>
          </p:cNvSpPr>
          <p:nvPr/>
        </p:nvSpPr>
        <p:spPr>
          <a:xfrm xmlns:a="http://schemas.openxmlformats.org/drawingml/2006/main">
            <a:off x="666750" y="419100"/>
            <a:ext cx="16954500" cy="571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750" b="1">
                <a:solidFill>
                  <a:srgbClr val="173442"/>
                </a:solidFill>
              </a:defRPr>
            </a:pPr>
            <a:r>
              <a:rPr sz="3750" b="1">
                <a:solidFill>
                  <a:srgbClr val="173442"/>
                </a:solidFill>
              </a:rPr>
              <a:t>Escalation follows the programmed urgency, not the band number</a:t>
            </a:r>
          </a:p>
        </p:txBody>
      </p:sp>
      <p:sp>
        <p:nvSpPr>
          <p:cNvPr id="2" name="">
            <a:extLst xmlns:a="http://schemas.openxmlformats.org/drawingml/2006/main">
              <a:ext uri="{FF2B5EF4-FFF2-40B4-BE49-F238E27FC236}">
                <a16:creationId xmlns:a16="http://schemas.microsoft.com/office/drawing/2014/main" id="{CBB13CB5-9416-4B38-8325-634CBF1CFF28}"/>
              </a:ext>
            </a:extLst>
          </p:cNvPr>
          <p:cNvSpPr>
            <a:spLocks xmlns:a="http://schemas.openxmlformats.org/drawingml/2006/main" noGrp="1"/>
          </p:cNvSpPr>
          <p:nvPr/>
        </p:nvSpPr>
        <p:spPr>
          <a:xfrm xmlns:a="http://schemas.openxmlformats.org/drawingml/2006/main">
            <a:off x="666750" y="1123950"/>
            <a:ext cx="1619250" cy="38100"/>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pic>
        <p:nvPicPr>
          <p:cNvPr id="3" name="asset-presentations/assets/pic_escalation_marked"/>
          <p:cNvPicPr>
            <a:picLocks xmlns:a="http://schemas.openxmlformats.org/drawingml/2006/main" noChangeAspect="1"/>
          </p:cNvPicPr>
          <p:nvPr/>
        </p:nvPicPr>
        <p:blipFill>
          <a:blip xmlns:r="http://schemas.openxmlformats.org/officeDocument/2006/relationships" xmlns:a="http://schemas.openxmlformats.org/drawingml/2006/main" r:embed="R1a4de114dc794242">
            <a:extLst>
              <a:ext uri="{96DAC541-7B7A-43D3-8B79-37D633B846F1}">
                <asvg:svgBlip xmlns:asvg="http://schemas.microsoft.com/office/drawing/2016/SVG/main" r:embed="R355cc125cac246da"/>
              </a:ext>
            </a:extLst>
          </a:blip>
          <a:stretch xmlns:a="http://schemas.openxmlformats.org/drawingml/2006/main"/>
        </p:blipFill>
        <p:spPr>
          <a:xfrm xmlns:a="http://schemas.openxmlformats.org/drawingml/2006/main">
            <a:off x="666750" y="1495425"/>
            <a:ext cx="16954500" cy="520556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63463B6-3534-4728-B027-81303C2E8CB6}"/>
              </a:ext>
            </a:extLst>
          </p:cNvPr>
          <p:cNvSpPr>
            <a:spLocks xmlns:a="http://schemas.openxmlformats.org/drawingml/2006/main" noGrp="1"/>
          </p:cNvSpPr>
          <p:nvPr/>
        </p:nvSpPr>
        <p:spPr>
          <a:xfrm xmlns:a="http://schemas.openxmlformats.org/drawingml/2006/main">
            <a:off x="666750" y="6953250"/>
            <a:ext cx="5473700" cy="2289810"/>
          </a:xfrm>
          <a:prstGeom xmlns:a="http://schemas.openxmlformats.org/drawingml/2006/main" prst="roundRect">
            <a:avLst>
              <a:gd name="adj" fmla="val 4992"/>
            </a:avLst>
          </a:prstGeom>
          <a:solidFill xmlns:a="http://schemas.openxmlformats.org/drawingml/2006/main">
            <a:srgbClr val="EEF5F5"/>
          </a:solidFill>
        </p:spPr>
      </p:sp>
      <p:sp>
        <p:nvSpPr>
          <p:cNvPr id="5" name="">
            <a:extLst xmlns:a="http://schemas.openxmlformats.org/drawingml/2006/main">
              <a:ext uri="{FF2B5EF4-FFF2-40B4-BE49-F238E27FC236}">
                <a16:creationId xmlns:a16="http://schemas.microsoft.com/office/drawing/2014/main" id="{3AED43B3-E61E-4B5C-A6C7-1DED1C8592CF}"/>
              </a:ext>
            </a:extLst>
          </p:cNvPr>
          <p:cNvSpPr>
            <a:spLocks xmlns:a="http://schemas.openxmlformats.org/drawingml/2006/main" noGrp="1"/>
          </p:cNvSpPr>
          <p:nvPr/>
        </p:nvSpPr>
        <p:spPr>
          <a:xfrm xmlns:a="http://schemas.openxmlformats.org/drawingml/2006/main">
            <a:off x="990600" y="7677150"/>
            <a:ext cx="4829175" cy="3905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1">
                <a:solidFill>
                  <a:srgbClr val="A35B17"/>
                </a:solidFill>
              </a:defRPr>
            </a:pPr>
            <a:r>
              <a:rPr sz="2550" b="1">
                <a:solidFill>
                  <a:srgbClr val="A35B17"/>
                </a:solidFill>
              </a:rPr>
              <a:t>1 · Source 1 offered</a:t>
            </a:r>
          </a:p>
        </p:txBody>
      </p:sp>
      <p:sp>
        <p:nvSpPr>
          <p:cNvPr id="6" name="">
            <a:extLst xmlns:a="http://schemas.openxmlformats.org/drawingml/2006/main">
              <a:ext uri="{FF2B5EF4-FFF2-40B4-BE49-F238E27FC236}">
                <a16:creationId xmlns:a16="http://schemas.microsoft.com/office/drawing/2014/main" id="{8835F053-97A0-4C25-B57C-41720D1BE1E7}"/>
              </a:ext>
            </a:extLst>
          </p:cNvPr>
          <p:cNvSpPr>
            <a:spLocks xmlns:a="http://schemas.openxmlformats.org/drawingml/2006/main" noGrp="1"/>
          </p:cNvSpPr>
          <p:nvPr/>
        </p:nvSpPr>
        <p:spPr>
          <a:xfrm xmlns:a="http://schemas.openxmlformats.org/drawingml/2006/main">
            <a:off x="990600" y="8162925"/>
            <a:ext cx="4829175"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0">
                <a:solidFill>
                  <a:srgbClr val="173442"/>
                </a:solidFill>
              </a:defRPr>
            </a:pPr>
            <a:r>
              <a:rPr sz="2325" b="0">
                <a:solidFill>
                  <a:srgbClr val="173442"/>
                </a:solidFill>
              </a:rPr>
              <a:t>Same band: the lower ID wins the tie</a:t>
            </a:r>
          </a:p>
        </p:txBody>
      </p:sp>
      <p:sp>
        <p:nvSpPr>
          <p:cNvPr id="7" name="">
            <a:extLst xmlns:a="http://schemas.openxmlformats.org/drawingml/2006/main">
              <a:ext uri="{FF2B5EF4-FFF2-40B4-BE49-F238E27FC236}">
                <a16:creationId xmlns:a16="http://schemas.microsoft.com/office/drawing/2014/main" id="{85F32E16-704D-4F8F-B37A-57B494D52565}"/>
              </a:ext>
            </a:extLst>
          </p:cNvPr>
          <p:cNvSpPr>
            <a:spLocks xmlns:a="http://schemas.openxmlformats.org/drawingml/2006/main" noGrp="1"/>
          </p:cNvSpPr>
          <p:nvPr/>
        </p:nvSpPr>
        <p:spPr>
          <a:xfrm xmlns:a="http://schemas.openxmlformats.org/drawingml/2006/main">
            <a:off x="6407150" y="6953250"/>
            <a:ext cx="5473700" cy="2289810"/>
          </a:xfrm>
          <a:prstGeom xmlns:a="http://schemas.openxmlformats.org/drawingml/2006/main" prst="roundRect">
            <a:avLst>
              <a:gd name="adj" fmla="val 4992"/>
            </a:avLst>
          </a:prstGeom>
          <a:solidFill xmlns:a="http://schemas.openxmlformats.org/drawingml/2006/main">
            <a:srgbClr val="EEF5F5"/>
          </a:solidFill>
        </p:spPr>
      </p:sp>
      <p:sp>
        <p:nvSpPr>
          <p:cNvPr id="8" name="">
            <a:extLst xmlns:a="http://schemas.openxmlformats.org/drawingml/2006/main">
              <a:ext uri="{FF2B5EF4-FFF2-40B4-BE49-F238E27FC236}">
                <a16:creationId xmlns:a16="http://schemas.microsoft.com/office/drawing/2014/main" id="{C33E369B-38D4-4528-8FF3-706063D111AC}"/>
              </a:ext>
            </a:extLst>
          </p:cNvPr>
          <p:cNvSpPr>
            <a:spLocks xmlns:a="http://schemas.openxmlformats.org/drawingml/2006/main" noGrp="1"/>
          </p:cNvSpPr>
          <p:nvPr/>
        </p:nvSpPr>
        <p:spPr>
          <a:xfrm xmlns:a="http://schemas.openxmlformats.org/drawingml/2006/main">
            <a:off x="6734175" y="7677150"/>
            <a:ext cx="4829175" cy="3905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1">
                <a:solidFill>
                  <a:srgbClr val="A35B17"/>
                </a:solidFill>
              </a:defRPr>
            </a:pPr>
            <a:r>
              <a:rPr sz="2550" b="1">
                <a:solidFill>
                  <a:srgbClr val="A35B17"/>
                </a:solidFill>
              </a:rPr>
              <a:t>2 · Source 2 deadline</a:t>
            </a:r>
          </a:p>
        </p:txBody>
      </p:sp>
      <p:sp>
        <p:nvSpPr>
          <p:cNvPr id="9" name="">
            <a:extLst xmlns:a="http://schemas.openxmlformats.org/drawingml/2006/main">
              <a:ext uri="{FF2B5EF4-FFF2-40B4-BE49-F238E27FC236}">
                <a16:creationId xmlns:a16="http://schemas.microsoft.com/office/drawing/2014/main" id="{F33AA63D-69C7-4346-9847-046C8A164836}"/>
              </a:ext>
            </a:extLst>
          </p:cNvPr>
          <p:cNvSpPr>
            <a:spLocks xmlns:a="http://schemas.openxmlformats.org/drawingml/2006/main" noGrp="1"/>
          </p:cNvSpPr>
          <p:nvPr/>
        </p:nvSpPr>
        <p:spPr>
          <a:xfrm xmlns:a="http://schemas.openxmlformats.org/drawingml/2006/main">
            <a:off x="6734175" y="8162925"/>
            <a:ext cx="4829175"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0">
                <a:solidFill>
                  <a:srgbClr val="173442"/>
                </a:solidFill>
              </a:defRPr>
            </a:pPr>
            <a:r>
              <a:rPr sz="2325" b="0">
                <a:solidFill>
                  <a:srgbClr val="173442"/>
                </a:solidFill>
              </a:rPr>
              <a:t>10 cycles pending → escalation</a:t>
            </a:r>
          </a:p>
        </p:txBody>
      </p:sp>
      <p:sp>
        <p:nvSpPr>
          <p:cNvPr id="10" name="">
            <a:extLst xmlns:a="http://schemas.openxmlformats.org/drawingml/2006/main">
              <a:ext uri="{FF2B5EF4-FFF2-40B4-BE49-F238E27FC236}">
                <a16:creationId xmlns:a16="http://schemas.microsoft.com/office/drawing/2014/main" id="{3DAC89C3-58B7-4397-BEE6-9CAFA7FCC981}"/>
              </a:ext>
            </a:extLst>
          </p:cNvPr>
          <p:cNvSpPr>
            <a:spLocks xmlns:a="http://schemas.openxmlformats.org/drawingml/2006/main" noGrp="1"/>
          </p:cNvSpPr>
          <p:nvPr/>
        </p:nvSpPr>
        <p:spPr>
          <a:xfrm xmlns:a="http://schemas.openxmlformats.org/drawingml/2006/main">
            <a:off x="12147550" y="6953250"/>
            <a:ext cx="5473700" cy="2289810"/>
          </a:xfrm>
          <a:prstGeom xmlns:a="http://schemas.openxmlformats.org/drawingml/2006/main" prst="roundRect">
            <a:avLst>
              <a:gd name="adj" fmla="val 4992"/>
            </a:avLst>
          </a:prstGeom>
          <a:solidFill xmlns:a="http://schemas.openxmlformats.org/drawingml/2006/main">
            <a:srgbClr val="EEF5F5"/>
          </a:solidFill>
        </p:spPr>
      </p:sp>
      <p:sp>
        <p:nvSpPr>
          <p:cNvPr id="11" name="">
            <a:extLst xmlns:a="http://schemas.openxmlformats.org/drawingml/2006/main">
              <a:ext uri="{FF2B5EF4-FFF2-40B4-BE49-F238E27FC236}">
                <a16:creationId xmlns:a16="http://schemas.microsoft.com/office/drawing/2014/main" id="{E4BD8FA8-EC3C-4052-B413-F2231F134ACF}"/>
              </a:ext>
            </a:extLst>
          </p:cNvPr>
          <p:cNvSpPr>
            <a:spLocks xmlns:a="http://schemas.openxmlformats.org/drawingml/2006/main" noGrp="1"/>
          </p:cNvSpPr>
          <p:nvPr/>
        </p:nvSpPr>
        <p:spPr>
          <a:xfrm xmlns:a="http://schemas.openxmlformats.org/drawingml/2006/main">
            <a:off x="12468225" y="7677150"/>
            <a:ext cx="4829175" cy="3905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1">
                <a:solidFill>
                  <a:srgbClr val="A35B17"/>
                </a:solidFill>
              </a:defRPr>
            </a:pPr>
            <a:r>
              <a:rPr sz="2550" b="1">
                <a:solidFill>
                  <a:srgbClr val="A35B17"/>
                </a:solidFill>
              </a:rPr>
              <a:t>3 · Offer moves to 2</a:t>
            </a:r>
          </a:p>
        </p:txBody>
      </p:sp>
      <p:sp>
        <p:nvSpPr>
          <p:cNvPr id="12" name="">
            <a:extLst xmlns:a="http://schemas.openxmlformats.org/drawingml/2006/main">
              <a:ext uri="{FF2B5EF4-FFF2-40B4-BE49-F238E27FC236}">
                <a16:creationId xmlns:a16="http://schemas.microsoft.com/office/drawing/2014/main" id="{9EE45157-767B-4088-816A-7916F11BA60E}"/>
              </a:ext>
            </a:extLst>
          </p:cNvPr>
          <p:cNvSpPr>
            <a:spLocks xmlns:a="http://schemas.openxmlformats.org/drawingml/2006/main" noGrp="1"/>
          </p:cNvSpPr>
          <p:nvPr/>
        </p:nvSpPr>
        <p:spPr>
          <a:xfrm xmlns:a="http://schemas.openxmlformats.org/drawingml/2006/main">
            <a:off x="12468225" y="8162925"/>
            <a:ext cx="4829175"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0">
                <a:solidFill>
                  <a:srgbClr val="173442"/>
                </a:solidFill>
              </a:defRPr>
            </a:pPr>
            <a:r>
              <a:rPr sz="2325" b="0">
                <a:solidFill>
                  <a:srgbClr val="173442"/>
                </a:solidFill>
              </a:rPr>
              <a:t>Bumped to band 3, the next urgency</a:t>
            </a:r>
          </a:p>
        </p:txBody>
      </p:sp>
      <p:sp>
        <p:nvSpPr>
          <p:cNvPr id="13" name="">
            <a:extLst xmlns:a="http://schemas.openxmlformats.org/drawingml/2006/main">
              <a:ext uri="{FF2B5EF4-FFF2-40B4-BE49-F238E27FC236}">
                <a16:creationId xmlns:a16="http://schemas.microsoft.com/office/drawing/2014/main" id="{5322E9FE-4DFC-4C45-9865-77CBCD01A7F4}"/>
              </a:ext>
            </a:extLst>
          </p:cNvPr>
          <p:cNvSpPr>
            <a:spLocks xmlns:a="http://schemas.openxmlformats.org/drawingml/2006/main" noGrp="1"/>
          </p:cNvSpPr>
          <p:nvPr/>
        </p:nvSpPr>
        <p:spPr>
          <a:xfrm xmlns:a="http://schemas.openxmlformats.org/drawingml/2006/main">
            <a:off x="666750" y="9353550"/>
            <a:ext cx="169545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a:solidFill>
                  <a:srgbClr val="526772"/>
                </a:solidFill>
              </a:defRPr>
            </a:pPr>
            <a:r>
              <a:rPr sz="1725" b="0">
                <a:solidFill>
                  <a:srgbClr val="526772"/>
                </a:solidFill>
              </a:rPr>
              <a:t>Bands reordered: band 0 is the least urgent. Bus values are hexadecimal.</a:t>
            </a:r>
          </a:p>
        </p:txBody>
      </p:sp>
      <p:sp>
        <p:nvSpPr>
          <p:cNvPr id="14" name="footer">
            <a:extLst xmlns:a="http://schemas.openxmlformats.org/drawingml/2006/main">
              <a:ext uri="{FF2B5EF4-FFF2-40B4-BE49-F238E27FC236}">
                <a16:creationId xmlns:a16="http://schemas.microsoft.com/office/drawing/2014/main" id="{3034A121-BAD0-4ECA-9731-608F2CD37330}"/>
              </a:ext>
            </a:extLst>
          </p:cNvPr>
          <p:cNvSpPr>
            <a:spLocks xmlns:a="http://schemas.openxmlformats.org/drawingml/2006/main" noGrp="1"/>
          </p:cNvSpPr>
          <p:nvPr/>
        </p:nvSpPr>
        <p:spPr>
          <a:xfrm xmlns:a="http://schemas.openxmlformats.org/drawingml/2006/main">
            <a:off x="666750" y="9772650"/>
            <a:ext cx="169545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526772"/>
                </a:solidFill>
              </a:defRPr>
            </a:pPr>
            <a:r>
              <a:rPr sz="1500" b="0">
                <a:solidFill>
                  <a:srgbClr val="526772"/>
                </a:solidFill>
              </a:rPr>
              <a:t>PIC   ·   07 / 08   ·   Critical scenario</a:t>
            </a:r>
          </a:p>
        </p:txBody>
      </p:sp>
    </p:spTree>
    <p:extLst>
      <p:ext uri="{BB962C8B-B14F-4D97-AF65-F5344CB8AC3E}">
        <p14:creationId xmlns:p14="http://schemas.microsoft.com/office/powerpoint/2010/main" val="138974689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A8D56FB6-7D9F-4DB2-885D-B81B0077981A}"/>
              </a:ext>
            </a:extLst>
          </p:cNvPr>
          <p:cNvSpPr>
            <a:spLocks xmlns:a="http://schemas.openxmlformats.org/drawingml/2006/main" noGrp="1"/>
          </p:cNvSpPr>
          <p:nvPr/>
        </p:nvSpPr>
        <p:spPr>
          <a:xfrm xmlns:a="http://schemas.openxmlformats.org/drawingml/2006/main">
            <a:off x="666750" y="419100"/>
            <a:ext cx="16954500" cy="571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750" b="1">
                <a:solidFill>
                  <a:srgbClr val="173442"/>
                </a:solidFill>
              </a:defRPr>
            </a:pPr>
            <a:r>
              <a:rPr sz="3750" b="1">
                <a:solidFill>
                  <a:srgbClr val="173442"/>
                </a:solidFill>
              </a:rPr>
              <a:t>Result: configurable arbitration with verified preemption</a:t>
            </a:r>
          </a:p>
        </p:txBody>
      </p:sp>
      <p:sp>
        <p:nvSpPr>
          <p:cNvPr id="2" name="">
            <a:extLst xmlns:a="http://schemas.openxmlformats.org/drawingml/2006/main">
              <a:ext uri="{FF2B5EF4-FFF2-40B4-BE49-F238E27FC236}">
                <a16:creationId xmlns:a16="http://schemas.microsoft.com/office/drawing/2014/main" id="{1BC87A70-7754-4E00-A87B-B37DEE2289C2}"/>
              </a:ext>
            </a:extLst>
          </p:cNvPr>
          <p:cNvSpPr>
            <a:spLocks xmlns:a="http://schemas.openxmlformats.org/drawingml/2006/main" noGrp="1"/>
          </p:cNvSpPr>
          <p:nvPr/>
        </p:nvSpPr>
        <p:spPr>
          <a:xfrm xmlns:a="http://schemas.openxmlformats.org/drawingml/2006/main">
            <a:off x="666750" y="1123950"/>
            <a:ext cx="1619250" cy="38100"/>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sp>
        <p:nvSpPr>
          <p:cNvPr id="3" name="">
            <a:extLst xmlns:a="http://schemas.openxmlformats.org/drawingml/2006/main">
              <a:ext uri="{FF2B5EF4-FFF2-40B4-BE49-F238E27FC236}">
                <a16:creationId xmlns:a16="http://schemas.microsoft.com/office/drawing/2014/main" id="{247FAB0D-A744-4311-82D3-9453FEB5C0FF}"/>
              </a:ext>
            </a:extLst>
          </p:cNvPr>
          <p:cNvSpPr>
            <a:spLocks xmlns:a="http://schemas.openxmlformats.org/drawingml/2006/main" noGrp="1"/>
          </p:cNvSpPr>
          <p:nvPr/>
        </p:nvSpPr>
        <p:spPr>
          <a:xfrm xmlns:a="http://schemas.openxmlformats.org/drawingml/2006/main">
            <a:off x="666750" y="1428750"/>
            <a:ext cx="8343900" cy="7219950"/>
          </a:xfrm>
          <a:prstGeom xmlns:a="http://schemas.openxmlformats.org/drawingml/2006/main" prst="roundRect">
            <a:avLst>
              <a:gd name="adj" fmla="val 1583"/>
            </a:avLst>
          </a:prstGeom>
          <a:solidFill xmlns:a="http://schemas.openxmlformats.org/drawingml/2006/main">
            <a:srgbClr val="EEF5F5"/>
          </a:solidFill>
        </p:spPr>
      </p:sp>
      <p:sp>
        <p:nvSpPr>
          <p:cNvPr id="4" name="">
            <a:extLst xmlns:a="http://schemas.openxmlformats.org/drawingml/2006/main">
              <a:ext uri="{FF2B5EF4-FFF2-40B4-BE49-F238E27FC236}">
                <a16:creationId xmlns:a16="http://schemas.microsoft.com/office/drawing/2014/main" id="{4DE26EBB-6769-4E3A-9E4A-DDC7B6FEC81F}"/>
              </a:ext>
            </a:extLst>
          </p:cNvPr>
          <p:cNvSpPr>
            <a:spLocks xmlns:a="http://schemas.openxmlformats.org/drawingml/2006/main" noGrp="1"/>
          </p:cNvSpPr>
          <p:nvPr/>
        </p:nvSpPr>
        <p:spPr>
          <a:xfrm xmlns:a="http://schemas.openxmlformats.org/drawingml/2006/main">
            <a:off x="1047750" y="1733550"/>
            <a:ext cx="758190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006B75"/>
                </a:solidFill>
              </a:defRPr>
            </a:pPr>
            <a:r>
              <a:rPr sz="2250" b="1">
                <a:solidFill>
                  <a:srgbClr val="006B75"/>
                </a:solidFill>
              </a:rPr>
              <a:t>WHAT I BUILT</a:t>
            </a:r>
          </a:p>
        </p:txBody>
      </p:sp>
      <p:sp>
        <p:nvSpPr>
          <p:cNvPr id="5" name="">
            <a:extLst xmlns:a="http://schemas.openxmlformats.org/drawingml/2006/main">
              <a:ext uri="{FF2B5EF4-FFF2-40B4-BE49-F238E27FC236}">
                <a16:creationId xmlns:a16="http://schemas.microsoft.com/office/drawing/2014/main" id="{8578E0DE-736E-4561-947A-BE111B583073}"/>
              </a:ext>
            </a:extLst>
          </p:cNvPr>
          <p:cNvSpPr>
            <a:spLocks xmlns:a="http://schemas.openxmlformats.org/drawingml/2006/main" noGrp="1"/>
          </p:cNvSpPr>
          <p:nvPr/>
        </p:nvSpPr>
        <p:spPr>
          <a:xfrm xmlns:a="http://schemas.openxmlformats.org/drawingml/2006/main">
            <a:off x="1047750" y="3048000"/>
            <a:ext cx="419100" cy="400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1">
                <a:solidFill>
                  <a:srgbClr val="006B75"/>
                </a:solidFill>
              </a:defRPr>
            </a:pPr>
            <a:r>
              <a:rPr sz="2625" b="1">
                <a:solidFill>
                  <a:srgbClr val="006B75"/>
                </a:solidFill>
              </a:rPr>
              <a:t>1.</a:t>
            </a:r>
          </a:p>
        </p:txBody>
      </p:sp>
      <p:sp>
        <p:nvSpPr>
          <p:cNvPr id="6" name="">
            <a:extLst xmlns:a="http://schemas.openxmlformats.org/drawingml/2006/main">
              <a:ext uri="{FF2B5EF4-FFF2-40B4-BE49-F238E27FC236}">
                <a16:creationId xmlns:a16="http://schemas.microsoft.com/office/drawing/2014/main" id="{69166474-7D89-4663-A7CB-84D8BD902ED4}"/>
              </a:ext>
            </a:extLst>
          </p:cNvPr>
          <p:cNvSpPr>
            <a:spLocks xmlns:a="http://schemas.openxmlformats.org/drawingml/2006/main" noGrp="1"/>
          </p:cNvSpPr>
          <p:nvPr/>
        </p:nvSpPr>
        <p:spPr>
          <a:xfrm xmlns:a="http://schemas.openxmlformats.org/drawingml/2006/main">
            <a:off x="1657350" y="3048000"/>
            <a:ext cx="6972300" cy="400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0">
                <a:solidFill>
                  <a:srgbClr val="173442"/>
                </a:solidFill>
              </a:defRPr>
            </a:pPr>
            <a:r>
              <a:rPr sz="2625" b="0">
                <a:solidFill>
                  <a:srgbClr val="173442"/>
                </a:solidFill>
              </a:rPr>
              <a:t>Banded priority with programmable urgency</a:t>
            </a:r>
          </a:p>
        </p:txBody>
      </p:sp>
      <p:sp>
        <p:nvSpPr>
          <p:cNvPr id="7" name="">
            <a:extLst xmlns:a="http://schemas.openxmlformats.org/drawingml/2006/main">
              <a:ext uri="{FF2B5EF4-FFF2-40B4-BE49-F238E27FC236}">
                <a16:creationId xmlns:a16="http://schemas.microsoft.com/office/drawing/2014/main" id="{3D7B8C0C-9C7C-40D4-BF95-E01982F6960A}"/>
              </a:ext>
            </a:extLst>
          </p:cNvPr>
          <p:cNvSpPr>
            <a:spLocks xmlns:a="http://schemas.openxmlformats.org/drawingml/2006/main" noGrp="1"/>
          </p:cNvSpPr>
          <p:nvPr/>
        </p:nvSpPr>
        <p:spPr>
          <a:xfrm xmlns:a="http://schemas.openxmlformats.org/drawingml/2006/main">
            <a:off x="1047750" y="4933950"/>
            <a:ext cx="419100" cy="400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1">
                <a:solidFill>
                  <a:srgbClr val="006B75"/>
                </a:solidFill>
              </a:defRPr>
            </a:pPr>
            <a:r>
              <a:rPr sz="2625" b="1">
                <a:solidFill>
                  <a:srgbClr val="006B75"/>
                </a:solidFill>
              </a:rPr>
              <a:t>2.</a:t>
            </a:r>
          </a:p>
        </p:txBody>
      </p:sp>
      <p:sp>
        <p:nvSpPr>
          <p:cNvPr id="8" name="">
            <a:extLst xmlns:a="http://schemas.openxmlformats.org/drawingml/2006/main">
              <a:ext uri="{FF2B5EF4-FFF2-40B4-BE49-F238E27FC236}">
                <a16:creationId xmlns:a16="http://schemas.microsoft.com/office/drawing/2014/main" id="{AFA3FB19-9C80-40AC-880A-67CBC6A1D026}"/>
              </a:ext>
            </a:extLst>
          </p:cNvPr>
          <p:cNvSpPr>
            <a:spLocks xmlns:a="http://schemas.openxmlformats.org/drawingml/2006/main" noGrp="1"/>
          </p:cNvSpPr>
          <p:nvPr/>
        </p:nvSpPr>
        <p:spPr>
          <a:xfrm xmlns:a="http://schemas.openxmlformats.org/drawingml/2006/main">
            <a:off x="1657350" y="4933950"/>
            <a:ext cx="6972300" cy="800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0">
                <a:solidFill>
                  <a:srgbClr val="173442"/>
                </a:solidFill>
              </a:defRPr>
            </a:pPr>
            <a:r>
              <a:rPr sz="2625" b="0">
                <a:solidFill>
                  <a:srgbClr val="173442"/>
                </a:solidFill>
              </a:rPr>
              <a:t>Nesting stack, spurious handling, deadline escalation</a:t>
            </a:r>
          </a:p>
        </p:txBody>
      </p:sp>
      <p:sp>
        <p:nvSpPr>
          <p:cNvPr id="9" name="">
            <a:extLst xmlns:a="http://schemas.openxmlformats.org/drawingml/2006/main">
              <a:ext uri="{FF2B5EF4-FFF2-40B4-BE49-F238E27FC236}">
                <a16:creationId xmlns:a16="http://schemas.microsoft.com/office/drawing/2014/main" id="{FD07EBC4-EA5D-40EB-9663-25EDB8641B91}"/>
              </a:ext>
            </a:extLst>
          </p:cNvPr>
          <p:cNvSpPr>
            <a:spLocks xmlns:a="http://schemas.openxmlformats.org/drawingml/2006/main" noGrp="1"/>
          </p:cNvSpPr>
          <p:nvPr/>
        </p:nvSpPr>
        <p:spPr>
          <a:xfrm xmlns:a="http://schemas.openxmlformats.org/drawingml/2006/main">
            <a:off x="1047750" y="7219950"/>
            <a:ext cx="419100" cy="400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1">
                <a:solidFill>
                  <a:srgbClr val="006B75"/>
                </a:solidFill>
              </a:defRPr>
            </a:pPr>
            <a:r>
              <a:rPr sz="2625" b="1">
                <a:solidFill>
                  <a:srgbClr val="006B75"/>
                </a:solidFill>
              </a:rPr>
              <a:t>3.</a:t>
            </a:r>
          </a:p>
        </p:txBody>
      </p:sp>
      <p:sp>
        <p:nvSpPr>
          <p:cNvPr id="10" name="">
            <a:extLst xmlns:a="http://schemas.openxmlformats.org/drawingml/2006/main">
              <a:ext uri="{FF2B5EF4-FFF2-40B4-BE49-F238E27FC236}">
                <a16:creationId xmlns:a16="http://schemas.microsoft.com/office/drawing/2014/main" id="{F3747B74-4D66-40BA-9A4B-1C52A92C5AB1}"/>
              </a:ext>
            </a:extLst>
          </p:cNvPr>
          <p:cNvSpPr>
            <a:spLocks xmlns:a="http://schemas.openxmlformats.org/drawingml/2006/main" noGrp="1"/>
          </p:cNvSpPr>
          <p:nvPr/>
        </p:nvSpPr>
        <p:spPr>
          <a:xfrm xmlns:a="http://schemas.openxmlformats.org/drawingml/2006/main">
            <a:off x="1657350" y="7219950"/>
            <a:ext cx="6972300" cy="400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0">
                <a:solidFill>
                  <a:srgbClr val="173442"/>
                </a:solidFill>
              </a:defRPr>
            </a:pPr>
            <a:r>
              <a:rPr sz="2625" b="0">
                <a:solidFill>
                  <a:srgbClr val="173442"/>
                </a:solidFill>
              </a:rPr>
              <a:t>Priority model covering all 24 band orders</a:t>
            </a:r>
          </a:p>
        </p:txBody>
      </p:sp>
      <p:sp>
        <p:nvSpPr>
          <p:cNvPr id="11" name="">
            <a:extLst xmlns:a="http://schemas.openxmlformats.org/drawingml/2006/main">
              <a:ext uri="{FF2B5EF4-FFF2-40B4-BE49-F238E27FC236}">
                <a16:creationId xmlns:a16="http://schemas.microsoft.com/office/drawing/2014/main" id="{B52A25FA-E95E-486E-97E1-71EB4F7DFD19}"/>
              </a:ext>
            </a:extLst>
          </p:cNvPr>
          <p:cNvSpPr>
            <a:spLocks xmlns:a="http://schemas.openxmlformats.org/drawingml/2006/main" noGrp="1"/>
          </p:cNvSpPr>
          <p:nvPr/>
        </p:nvSpPr>
        <p:spPr>
          <a:xfrm xmlns:a="http://schemas.openxmlformats.org/drawingml/2006/main">
            <a:off x="9277350" y="1428750"/>
            <a:ext cx="8343900" cy="7219950"/>
          </a:xfrm>
          <a:prstGeom xmlns:a="http://schemas.openxmlformats.org/drawingml/2006/main" prst="roundRect">
            <a:avLst>
              <a:gd name="adj" fmla="val 1583"/>
            </a:avLst>
          </a:prstGeom>
          <a:solidFill xmlns:a="http://schemas.openxmlformats.org/drawingml/2006/main">
            <a:srgbClr val="EEF5F5"/>
          </a:solidFill>
        </p:spPr>
      </p:sp>
      <p:sp>
        <p:nvSpPr>
          <p:cNvPr id="12" name="">
            <a:extLst xmlns:a="http://schemas.openxmlformats.org/drawingml/2006/main">
              <a:ext uri="{FF2B5EF4-FFF2-40B4-BE49-F238E27FC236}">
                <a16:creationId xmlns:a16="http://schemas.microsoft.com/office/drawing/2014/main" id="{015A36C5-41A4-4EB3-B6DC-B13B223E5DE8}"/>
              </a:ext>
            </a:extLst>
          </p:cNvPr>
          <p:cNvSpPr>
            <a:spLocks xmlns:a="http://schemas.openxmlformats.org/drawingml/2006/main" noGrp="1"/>
          </p:cNvSpPr>
          <p:nvPr/>
        </p:nvSpPr>
        <p:spPr>
          <a:xfrm xmlns:a="http://schemas.openxmlformats.org/drawingml/2006/main">
            <a:off x="9658350" y="1733550"/>
            <a:ext cx="758190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006B75"/>
                </a:solidFill>
              </a:defRPr>
            </a:pPr>
            <a:r>
              <a:rPr sz="2250" b="1">
                <a:solidFill>
                  <a:srgbClr val="006B75"/>
                </a:solidFill>
              </a:rPr>
              <a:t>WHAT I LEARNED</a:t>
            </a:r>
          </a:p>
        </p:txBody>
      </p:sp>
      <p:sp>
        <p:nvSpPr>
          <p:cNvPr id="13" name="">
            <a:extLst xmlns:a="http://schemas.openxmlformats.org/drawingml/2006/main">
              <a:ext uri="{FF2B5EF4-FFF2-40B4-BE49-F238E27FC236}">
                <a16:creationId xmlns:a16="http://schemas.microsoft.com/office/drawing/2014/main" id="{D27F7D6E-A662-4346-ADD1-BE4E43F07837}"/>
              </a:ext>
            </a:extLst>
          </p:cNvPr>
          <p:cNvSpPr>
            <a:spLocks xmlns:a="http://schemas.openxmlformats.org/drawingml/2006/main" noGrp="1"/>
          </p:cNvSpPr>
          <p:nvPr/>
        </p:nvSpPr>
        <p:spPr>
          <a:xfrm xmlns:a="http://schemas.openxmlformats.org/drawingml/2006/main">
            <a:off x="9658350" y="3048000"/>
            <a:ext cx="419100" cy="400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0">
                <a:solidFill>
                  <a:srgbClr val="006B75"/>
                </a:solidFill>
              </a:defRPr>
            </a:pPr>
            <a:r>
              <a:rPr sz="2625" b="0">
                <a:solidFill>
                  <a:srgbClr val="006B75"/>
                </a:solidFill>
              </a:rPr>
              <a:t>–</a:t>
            </a:r>
          </a:p>
        </p:txBody>
      </p:sp>
      <p:sp>
        <p:nvSpPr>
          <p:cNvPr id="14" name="">
            <a:extLst xmlns:a="http://schemas.openxmlformats.org/drawingml/2006/main">
              <a:ext uri="{FF2B5EF4-FFF2-40B4-BE49-F238E27FC236}">
                <a16:creationId xmlns:a16="http://schemas.microsoft.com/office/drawing/2014/main" id="{FDB3CEC5-A29A-44D8-B635-3D00E2627B01}"/>
              </a:ext>
            </a:extLst>
          </p:cNvPr>
          <p:cNvSpPr>
            <a:spLocks xmlns:a="http://schemas.openxmlformats.org/drawingml/2006/main" noGrp="1"/>
          </p:cNvSpPr>
          <p:nvPr/>
        </p:nvSpPr>
        <p:spPr>
          <a:xfrm xmlns:a="http://schemas.openxmlformats.org/drawingml/2006/main">
            <a:off x="10267950" y="3048000"/>
            <a:ext cx="6972300" cy="400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0">
                <a:solidFill>
                  <a:srgbClr val="173442"/>
                </a:solidFill>
              </a:defRPr>
            </a:pPr>
            <a:r>
              <a:rPr sz="2625" b="0">
                <a:solidFill>
                  <a:srgbClr val="173442"/>
                </a:solidFill>
              </a:rPr>
              <a:t>Ties and same-cycle events need a written rule.</a:t>
            </a:r>
          </a:p>
        </p:txBody>
      </p:sp>
      <p:sp>
        <p:nvSpPr>
          <p:cNvPr id="15" name="">
            <a:extLst xmlns:a="http://schemas.openxmlformats.org/drawingml/2006/main">
              <a:ext uri="{FF2B5EF4-FFF2-40B4-BE49-F238E27FC236}">
                <a16:creationId xmlns:a16="http://schemas.microsoft.com/office/drawing/2014/main" id="{BFF56101-4465-46B7-86DA-8BAE1DE9C3D6}"/>
              </a:ext>
            </a:extLst>
          </p:cNvPr>
          <p:cNvSpPr>
            <a:spLocks xmlns:a="http://schemas.openxmlformats.org/drawingml/2006/main" noGrp="1"/>
          </p:cNvSpPr>
          <p:nvPr/>
        </p:nvSpPr>
        <p:spPr>
          <a:xfrm xmlns:a="http://schemas.openxmlformats.org/drawingml/2006/main">
            <a:off x="9658350" y="4933950"/>
            <a:ext cx="419100" cy="400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0">
                <a:solidFill>
                  <a:srgbClr val="006B75"/>
                </a:solidFill>
              </a:defRPr>
            </a:pPr>
            <a:r>
              <a:rPr sz="2625" b="0">
                <a:solidFill>
                  <a:srgbClr val="006B75"/>
                </a:solidFill>
              </a:rPr>
              <a:t>–</a:t>
            </a:r>
          </a:p>
        </p:txBody>
      </p:sp>
      <p:sp>
        <p:nvSpPr>
          <p:cNvPr id="16" name="">
            <a:extLst xmlns:a="http://schemas.openxmlformats.org/drawingml/2006/main">
              <a:ext uri="{FF2B5EF4-FFF2-40B4-BE49-F238E27FC236}">
                <a16:creationId xmlns:a16="http://schemas.microsoft.com/office/drawing/2014/main" id="{DDE37D2B-4625-4709-87C2-F4F6A671387E}"/>
              </a:ext>
            </a:extLst>
          </p:cNvPr>
          <p:cNvSpPr>
            <a:spLocks xmlns:a="http://schemas.openxmlformats.org/drawingml/2006/main" noGrp="1"/>
          </p:cNvSpPr>
          <p:nvPr/>
        </p:nvSpPr>
        <p:spPr>
          <a:xfrm xmlns:a="http://schemas.openxmlformats.org/drawingml/2006/main">
            <a:off x="10267950" y="4933950"/>
            <a:ext cx="6972300" cy="800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0">
                <a:solidFill>
                  <a:srgbClr val="173442"/>
                </a:solidFill>
              </a:defRPr>
            </a:pPr>
            <a:r>
              <a:rPr sz="2625" b="0">
                <a:solidFill>
                  <a:srgbClr val="173442"/>
                </a:solidFill>
              </a:rPr>
              <a:t>Saving the key at claim keeps the stack valid after reconfiguration.</a:t>
            </a:r>
          </a:p>
        </p:txBody>
      </p:sp>
      <p:sp>
        <p:nvSpPr>
          <p:cNvPr id="17" name="">
            <a:extLst xmlns:a="http://schemas.openxmlformats.org/drawingml/2006/main">
              <a:ext uri="{FF2B5EF4-FFF2-40B4-BE49-F238E27FC236}">
                <a16:creationId xmlns:a16="http://schemas.microsoft.com/office/drawing/2014/main" id="{9BF366A9-C3B2-4536-BD75-AA42700FF5D4}"/>
              </a:ext>
            </a:extLst>
          </p:cNvPr>
          <p:cNvSpPr>
            <a:spLocks xmlns:a="http://schemas.openxmlformats.org/drawingml/2006/main" noGrp="1"/>
          </p:cNvSpPr>
          <p:nvPr/>
        </p:nvSpPr>
        <p:spPr>
          <a:xfrm xmlns:a="http://schemas.openxmlformats.org/drawingml/2006/main">
            <a:off x="9658350" y="7019925"/>
            <a:ext cx="419100" cy="400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0">
                <a:solidFill>
                  <a:srgbClr val="006B75"/>
                </a:solidFill>
              </a:defRPr>
            </a:pPr>
            <a:r>
              <a:rPr sz="2625" b="0">
                <a:solidFill>
                  <a:srgbClr val="006B75"/>
                </a:solidFill>
              </a:rPr>
              <a:t>–</a:t>
            </a:r>
          </a:p>
        </p:txBody>
      </p:sp>
      <p:sp>
        <p:nvSpPr>
          <p:cNvPr id="18" name="">
            <a:extLst xmlns:a="http://schemas.openxmlformats.org/drawingml/2006/main">
              <a:ext uri="{FF2B5EF4-FFF2-40B4-BE49-F238E27FC236}">
                <a16:creationId xmlns:a16="http://schemas.microsoft.com/office/drawing/2014/main" id="{8F8A191B-C02B-423F-ABE3-49DB42DEDD44}"/>
              </a:ext>
            </a:extLst>
          </p:cNvPr>
          <p:cNvSpPr>
            <a:spLocks xmlns:a="http://schemas.openxmlformats.org/drawingml/2006/main" noGrp="1"/>
          </p:cNvSpPr>
          <p:nvPr/>
        </p:nvSpPr>
        <p:spPr>
          <a:xfrm xmlns:a="http://schemas.openxmlformats.org/drawingml/2006/main">
            <a:off x="10267950" y="7019925"/>
            <a:ext cx="6972300" cy="800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0">
                <a:solidFill>
                  <a:srgbClr val="173442"/>
                </a:solidFill>
              </a:defRPr>
            </a:pPr>
            <a:r>
              <a:rPr sz="2625" b="0">
                <a:solidFill>
                  <a:srgbClr val="173442"/>
                </a:solidFill>
              </a:rPr>
              <a:t>The CPU mask belongs inside the PIC, or a masked source holds back the others.</a:t>
            </a:r>
          </a:p>
        </p:txBody>
      </p:sp>
      <p:sp>
        <p:nvSpPr>
          <p:cNvPr id="19" name="">
            <a:extLst xmlns:a="http://schemas.openxmlformats.org/drawingml/2006/main">
              <a:ext uri="{FF2B5EF4-FFF2-40B4-BE49-F238E27FC236}">
                <a16:creationId xmlns:a16="http://schemas.microsoft.com/office/drawing/2014/main" id="{3A9866D9-CDD9-41F0-9673-9015FEB5EEB8}"/>
              </a:ext>
            </a:extLst>
          </p:cNvPr>
          <p:cNvSpPr>
            <a:spLocks xmlns:a="http://schemas.openxmlformats.org/drawingml/2006/main" noGrp="1"/>
          </p:cNvSpPr>
          <p:nvPr/>
        </p:nvSpPr>
        <p:spPr>
          <a:xfrm xmlns:a="http://schemas.openxmlformats.org/drawingml/2006/main">
            <a:off x="666750" y="8858250"/>
            <a:ext cx="16954500" cy="762000"/>
          </a:xfrm>
          <a:prstGeom xmlns:a="http://schemas.openxmlformats.org/drawingml/2006/main" prst="roundRect">
            <a:avLst>
              <a:gd name="adj" fmla="val 15000"/>
            </a:avLst>
          </a:prstGeom>
          <a:solidFill xmlns:a="http://schemas.openxmlformats.org/drawingml/2006/main">
            <a:srgbClr val="006B75"/>
          </a:solidFill>
        </p:spPr>
      </p:sp>
      <p:sp>
        <p:nvSpPr>
          <p:cNvPr id="20" name="">
            <a:extLst xmlns:a="http://schemas.openxmlformats.org/drawingml/2006/main">
              <a:ext uri="{FF2B5EF4-FFF2-40B4-BE49-F238E27FC236}">
                <a16:creationId xmlns:a16="http://schemas.microsoft.com/office/drawing/2014/main" id="{830A09BE-1AB2-4CF4-B13A-77F869948B2B}"/>
              </a:ext>
            </a:extLst>
          </p:cNvPr>
          <p:cNvSpPr>
            <a:spLocks xmlns:a="http://schemas.openxmlformats.org/drawingml/2006/main" noGrp="1"/>
          </p:cNvSpPr>
          <p:nvPr/>
        </p:nvSpPr>
        <p:spPr>
          <a:xfrm xmlns:a="http://schemas.openxmlformats.org/drawingml/2006/main">
            <a:off x="1047750" y="9067800"/>
            <a:ext cx="1619250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FFFFFF"/>
                </a:solidFill>
              </a:defRPr>
            </a:pPr>
            <a:r>
              <a:rPr sz="2250" b="1">
                <a:solidFill>
                  <a:srgbClr val="FFFFFF"/>
                </a:solidFill>
              </a:rPr>
              <a:t>Internship: brief → specification → RTL → verification, with a review at each step.</a:t>
            </a:r>
          </a:p>
        </p:txBody>
      </p:sp>
      <p:sp>
        <p:nvSpPr>
          <p:cNvPr id="21" name="footer">
            <a:extLst xmlns:a="http://schemas.openxmlformats.org/drawingml/2006/main">
              <a:ext uri="{FF2B5EF4-FFF2-40B4-BE49-F238E27FC236}">
                <a16:creationId xmlns:a16="http://schemas.microsoft.com/office/drawing/2014/main" id="{439A3B39-6E68-4775-A3E7-DFBD3F1E356A}"/>
              </a:ext>
            </a:extLst>
          </p:cNvPr>
          <p:cNvSpPr>
            <a:spLocks xmlns:a="http://schemas.openxmlformats.org/drawingml/2006/main" noGrp="1"/>
          </p:cNvSpPr>
          <p:nvPr/>
        </p:nvSpPr>
        <p:spPr>
          <a:xfrm xmlns:a="http://schemas.openxmlformats.org/drawingml/2006/main">
            <a:off x="666750" y="9772650"/>
            <a:ext cx="169545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526772"/>
                </a:solidFill>
              </a:defRPr>
            </a:pPr>
            <a:r>
              <a:rPr sz="1500" b="0">
                <a:solidFill>
                  <a:srgbClr val="526772"/>
                </a:solidFill>
              </a:rPr>
              <a:t>PIC   ·   08 / 08   ·   Conclusions</a:t>
            </a:r>
          </a:p>
        </p:txBody>
      </p:sp>
    </p:spTree>
    <p:extLst>
      <p:ext uri="{BB962C8B-B14F-4D97-AF65-F5344CB8AC3E}">
        <p14:creationId xmlns:p14="http://schemas.microsoft.com/office/powerpoint/2010/main" val="12180950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2026-09-21T20:45:32.0600000Z</dcterms:created>
  <dcterms:modified xsi:type="dcterms:W3CDTF">2026-09-21T20:45:32.0600000Z</dcterms:modified>
</coreProperties>
</file>