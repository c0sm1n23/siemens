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c4dfc740304678" /><Relationship Type="http://schemas.openxmlformats.org/officeDocument/2006/relationships/extended-properties" Target="/docProps/app.xml" Id="R4e24bc63144f4fde" /><Relationship Type="http://schemas.openxmlformats.org/officeDocument/2006/relationships/officeDocument" Target="/ppt/presentation.xml" Id="R4e89ae4eca4b44c6" /></Relationships>
</file>

<file path=ppt/presentation.xml><?xml version="1.0" encoding="utf-8"?>
<p:presentation xmlns:p="http://schemas.openxmlformats.org/presentationml/2006/main">
  <p:sldMasterIdLst>
    <p:sldMasterId xmlns:r="http://schemas.openxmlformats.org/officeDocument/2006/relationships" id="2147483648" r:id="R4c967d1cd8884234"/>
  </p:sldMasterIdLst>
  <p:notesMasterIdLst>
    <p:notesMasterId xmlns:r="http://schemas.openxmlformats.org/officeDocument/2006/relationships" r:id="R7315e87901d8468e"/>
  </p:notesMasterIdLst>
  <p:sldIdLst>
    <p:sldId xmlns:r="http://schemas.openxmlformats.org/officeDocument/2006/relationships" id="256" r:id="R2f2687565fe24fb5"/>
    <p:sldId xmlns:r="http://schemas.openxmlformats.org/officeDocument/2006/relationships" id="257" r:id="R044b5546a49c46a5"/>
    <p:sldId xmlns:r="http://schemas.openxmlformats.org/officeDocument/2006/relationships" id="258" r:id="R39b6ab6adefe4228"/>
    <p:sldId xmlns:r="http://schemas.openxmlformats.org/officeDocument/2006/relationships" id="259" r:id="R9cf900329e3340af"/>
    <p:sldId xmlns:r="http://schemas.openxmlformats.org/officeDocument/2006/relationships" id="260" r:id="R7239873d957842c3"/>
    <p:sldId xmlns:r="http://schemas.openxmlformats.org/officeDocument/2006/relationships" id="261" r:id="R392060c5b3f34bb3"/>
    <p:sldId xmlns:r="http://schemas.openxmlformats.org/officeDocument/2006/relationships" id="262" r:id="R3908107c955c4c3d"/>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4c967d1cd8884234" /><Relationship Type="http://schemas.openxmlformats.org/officeDocument/2006/relationships/theme" Target="/ppt/theme/theme1.xml" Id="R0e629596ce304120" /><Relationship Type="http://schemas.openxmlformats.org/officeDocument/2006/relationships/notesMaster" Target="/ppt/notesMasters/notesMaster1.xml" Id="R7315e87901d8468e" /><Relationship Type="http://schemas.openxmlformats.org/officeDocument/2006/relationships/presProps" Target="/ppt/presProps.xml" Id="R48eab5c113344439" /><Relationship Type="http://schemas.openxmlformats.org/officeDocument/2006/relationships/viewProps" Target="/ppt/viewProps.xml" Id="R4ef1a8d9aad54668" /><Relationship Type="http://schemas.openxmlformats.org/officeDocument/2006/relationships/tableStyles" Target="/ppt/tableStyles.xml" Id="R167e28f300884acf" /><Relationship Type="http://schemas.openxmlformats.org/officeDocument/2006/relationships/slide" Target="/ppt/slides/slide1.xml" Id="R2f2687565fe24fb5" /><Relationship Type="http://schemas.openxmlformats.org/officeDocument/2006/relationships/slide" Target="/ppt/slides/slide2.xml" Id="R044b5546a49c46a5" /><Relationship Type="http://schemas.openxmlformats.org/officeDocument/2006/relationships/slide" Target="/ppt/slides/slide3.xml" Id="R39b6ab6adefe4228" /><Relationship Type="http://schemas.openxmlformats.org/officeDocument/2006/relationships/slide" Target="/ppt/slides/slide4.xml" Id="R9cf900329e3340af" /><Relationship Type="http://schemas.openxmlformats.org/officeDocument/2006/relationships/slide" Target="/ppt/slides/slide5.xml" Id="R7239873d957842c3" /><Relationship Type="http://schemas.openxmlformats.org/officeDocument/2006/relationships/slide" Target="/ppt/slides/slide6.xml" Id="R392060c5b3f34bb3" /><Relationship Type="http://schemas.openxmlformats.org/officeDocument/2006/relationships/slide" Target="/ppt/slides/slide7.xml" Id="R3908107c955c4c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65b8bfe0027247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82188634e645d0" /><Relationship Type="http://schemas.openxmlformats.org/officeDocument/2006/relationships/notesMaster" Target="/ppt/notesMasters/notesMaster1.xml" Id="R1a4dc77033814f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2907b244c24ee3" /><Relationship Type="http://schemas.openxmlformats.org/officeDocument/2006/relationships/notesMaster" Target="/ppt/notesMasters/notesMaster1.xml" Id="Rccf41c65eb7444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2b3cbb70cd401c" /><Relationship Type="http://schemas.openxmlformats.org/officeDocument/2006/relationships/notesMaster" Target="/ppt/notesMasters/notesMaster1.xml" Id="Raeb6f34fba8c40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057d6c76af4f6c" /><Relationship Type="http://schemas.openxmlformats.org/officeDocument/2006/relationships/notesMaster" Target="/ppt/notesMasters/notesMaster1.xml" Id="R918ffd2257eb4f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b23901ac684cc3" /><Relationship Type="http://schemas.openxmlformats.org/officeDocument/2006/relationships/notesMaster" Target="/ppt/notesMasters/notesMaster1.xml" Id="Rb3531b19002d4e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db9436b6de4be9" /><Relationship Type="http://schemas.openxmlformats.org/officeDocument/2006/relationships/notesMaster" Target="/ppt/notesMasters/notesMaster1.xml" Id="Rc2fce8e085fc41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4e1523c0414c16" /><Relationship Type="http://schemas.openxmlformats.org/officeDocument/2006/relationships/notesMaster" Target="/ppt/notesMasters/notesMaster1.xml" Id="Ref6cef6fcd2146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 The project is the interrupt controller of the SoC: I specified it, wrote the RTL, connected it to the CPU and verified it. In the figure the PIC has a register port on the interconnect and a direct link to the CPU; its sources are the DMA, the SRAM and the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These are the eight requirements from the PIC brief. Sixteen hardware sources, each level- or edge-triggered, and sixteen software triggers that must be safe against accidental writes and, once pending, behave exactly like hardware; together they share sixteen arbitration slots. Priority bands instead of a flat priority, preemption with nesting, spurious detection with logging, and a deadline per source with automatic escalation. Towards the CPU, one request with a 4-bit vector, acknowledged by a claim; towards software, eleven registers over AXI4-Lite.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 The figure is the controller as built: a request is conditioned (level or edge, software trigger, enable), gets a 10-bit priority key, and the resolver offers the best eligible one to the CPU through a register; the nesting stack below holds the claimed contexts, and the register map configures everything over AXI4-Lite. The brief asked 21 questions about bands, nesting, spurious interrupts, deadlines and software triggers, and left the answers to me. Follow a request from the left: source conditioning, the priority key, the resolver and the registered offer to the CPU; a claim pushes the context on the nesting stack and EOI pops it. Bands: four bands, each with a 2-bit urgency in BAND_CONFIG; the 10-bit key is urgency, priority inside the band and the inverted ID, so one comparison decides and the lower ID wins ties. Reconfiguration: the claim stores the ID and the key on the stack, so changing the band of an active source affects only its next request. Nesting: 16 physical levels, NEST_MAX from 1 to 16, and only a strictly higher key may preempt; at the limit nothing is offered and the overflow flag is set. Spurious: a claim whose request has disappeared still opens a level, so the CPU and the PIC stay in step, and the event is logged. Escalation: a 16-bit counter per source measures the wait; on a missed deadline the source jumps to a target band or moves one urgency step up, optionally again.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These are the eleven registers the brief asked for, as I defined them. Each source has its configuration (level or edge, band, priority, 16-bit deadline), a software trigger and a status word with the elapsed time and the effective band. A software request needs the key 0xA5A5 written with both upper byte strobes, so a partial write cannot arm a channel; the claim clears it. BAND_CONFIG and ESCALATION_CFG set the shared policy, NEST_MAX the depth, INT_ENABLE the enables. NEST_STATUS and ACTIVE_VEC show the context in service; the logs are write-1-to-clear, and a hardware event in the same cycle wins. On the right is the order of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 On the right is one test end to end. The golden model is a Python script written from the priority rule, independently of the RTL. It produces 275 cases, every BAND_CONFIG value plus corner cases: the configuration of all 16 sources, the enables, the CPU mask and the active sources, with the expected winner and pending mask. The bench writes the 18 registers over AXI, drives the sources and the mask, and compares four cycles later; the offer itself is registered one cycle after the request. In case 72 source 9 is in the most urgent band but the CPU masks it, so it stays pending and source 15 wins; model and PIC agree. On the left, per type: the golden-model cases; the random traffic, fifteen runs of 20,000 cycles in which random register writes, sources, claims and EOIs drive the PIC and a separate Python cycle model must give the same outputs and state on every cycle; the feature and same-cycle benches; the register benches; the AXI front-end compared with PULP axi_lite_regs; ten properties proven with SymbiYosys for every input sequence, for example that the stack never exceeds sixteen levels and that a claim at the limit changes nothing, where each of five injected defects makes the proof fail; the SVA properties attached with bind; and mutation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 This case comes from the SoC run, where the CPU itself claims the sources. Source 8 is in band 1 and source 9 in band 3, so 8 is nominally more urgent; only 9 has a deadline, two cycles, and ESCALATION_CFG jumps to band 0. Both are raised while the CPU still has MIE cleared. At 1 source 9 misses its deadline and escalates to band 0. At 2 source 8 arrives, and the offer stays on 9. At 3 the CPU sets MIE and claims 9 first; the stack saves its ID and key. At 4, after the EOI of 9, the offer moves to 8 and the CPU claims it. The escalation changes which handler the processor runs first. On the left are the system-level numbers: sixteen nested interrupts climb and unwind in order with the real CPU, and a source that drops in the claim cycle is logged as spurious while its EOI still closes the level. All of it runs in CI on every push: lint, every bench with SVA, the coverage gate and the cover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On the left is what I built: four bands with programmable urgency and a 10-bit key, the nesting stack with spurious detection and escalation, and the checks around it: a priority model over every band configuration, a cycle model for random traffic and formal proofs of the stack. On the right is what I take away from it, in my own words: ties and same-cycle events need a rule before the RTL; saving the key at claim keeps the stack correct under reconfiguration; the CPU mask belongs inside the PIC; and a separate Python model made every rule clear twice.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9d769deb2594fd4"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61fdc5cc1d03475b" /><Relationship Type="http://schemas.openxmlformats.org/officeDocument/2006/relationships/slideLayout" Target="/ppt/slideLayouts/slideLayout2.xml" Id="R0af4321a531148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f4321a531148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2bdb9965cb204d12" /><Relationship Type="http://schemas.openxmlformats.org/officeDocument/2006/relationships/image" Target="/ppt/media/image.png" Id="Ra91e900dbed74b73" /><Relationship Type="http://schemas.openxmlformats.org/officeDocument/2006/relationships/image" Target="/ppt/media/image.svg" Id="R9dc7313e705f4684" /><Relationship Type="http://schemas.openxmlformats.org/officeDocument/2006/relationships/notesSlide" Target="/ppt/notesSlides/notesSlide1.xml" Id="R3ffd2ccaa73b42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bf32b82eb8f4504" /><Relationship Type="http://schemas.openxmlformats.org/officeDocument/2006/relationships/notesSlide" Target="/ppt/notesSlides/notesSlide2.xml" Id="R5a6765bf301c40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822f3bb97a446b3" /><Relationship Type="http://schemas.openxmlformats.org/officeDocument/2006/relationships/image" Target="/ppt/media/image2.png" Id="R11dcfe4809cd4ea4" /><Relationship Type="http://schemas.openxmlformats.org/officeDocument/2006/relationships/image" Target="/ppt/media/image2.svg" Id="R7db66ee8d1d84c22" /><Relationship Type="http://schemas.openxmlformats.org/officeDocument/2006/relationships/notesSlide" Target="/ppt/notesSlides/notesSlide3.xml" Id="R72b2703dcc2046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a2e2f9c195954acc" /><Relationship Type="http://schemas.openxmlformats.org/officeDocument/2006/relationships/image" Target="/ppt/media/image3.png" Id="R394b625918114959" /><Relationship Type="http://schemas.openxmlformats.org/officeDocument/2006/relationships/image" Target="/ppt/media/image3.svg" Id="R4f42abb4a26e4c01" /><Relationship Type="http://schemas.openxmlformats.org/officeDocument/2006/relationships/notesSlide" Target="/ppt/notesSlides/notesSlide4.xml" Id="Rde04e9b71b3044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c1a96def0d247f7" /><Relationship Type="http://schemas.openxmlformats.org/officeDocument/2006/relationships/image" Target="/ppt/media/image4.png" Id="R483bc27e0dad452e" /><Relationship Type="http://schemas.openxmlformats.org/officeDocument/2006/relationships/image" Target="/ppt/media/image4.svg" Id="R7c6981deb97e444b" /><Relationship Type="http://schemas.openxmlformats.org/officeDocument/2006/relationships/notesSlide" Target="/ppt/notesSlides/notesSlide5.xml" Id="R4f914985d9264c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374313ca61e245c3" /><Relationship Type="http://schemas.openxmlformats.org/officeDocument/2006/relationships/image" Target="/ppt/media/image5.png" Id="Rd51b6c78119d449a" /><Relationship Type="http://schemas.openxmlformats.org/officeDocument/2006/relationships/image" Target="/ppt/media/image5.svg" Id="R3798ff315f834651" /><Relationship Type="http://schemas.openxmlformats.org/officeDocument/2006/relationships/notesSlide" Target="/ppt/notesSlides/notesSlide6.xml" Id="R39e81c7dc55045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9e3d1908302d44d6" /><Relationship Type="http://schemas.openxmlformats.org/officeDocument/2006/relationships/notesSlide" Target="/ppt/notesSlides/notesSlide7.xml" Id="R2a202a868026405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1CDDFE2-9416-4D14-8270-1C3CB132BFCB}"/>
              </a:ext>
            </a:extLst>
          </p:cNvPr>
          <p:cNvSpPr>
            <a:spLocks xmlns:a="http://schemas.openxmlformats.org/drawingml/2006/main" noGrp="1"/>
          </p:cNvSpPr>
          <p:nvPr/>
        </p:nvSpPr>
        <p:spPr>
          <a:xfrm xmlns:a="http://schemas.openxmlformats.org/drawingml/2006/main">
            <a:off x="952500" y="2543175"/>
            <a:ext cx="64389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526772"/>
                </a:solidFill>
              </a:defRPr>
            </a:pPr>
            <a:r>
              <a:rPr sz="1950" b="0">
                <a:solidFill>
                  <a:srgbClr val="526772"/>
                </a:solidFill>
              </a:rPr>
              <a:t>INTERNSHIP · SIEMENS · 2026</a:t>
            </a:r>
          </a:p>
        </p:txBody>
      </p:sp>
      <p:sp>
        <p:nvSpPr>
          <p:cNvPr id="2" name="">
            <a:extLst xmlns:a="http://schemas.openxmlformats.org/drawingml/2006/main">
              <a:ext uri="{FF2B5EF4-FFF2-40B4-BE49-F238E27FC236}">
                <a16:creationId xmlns:a16="http://schemas.microsoft.com/office/drawing/2014/main" id="{9183F773-AAA3-4A87-99CD-7F8FDB0CB55C}"/>
              </a:ext>
            </a:extLst>
          </p:cNvPr>
          <p:cNvSpPr>
            <a:spLocks xmlns:a="http://schemas.openxmlformats.org/drawingml/2006/main" noGrp="1"/>
          </p:cNvSpPr>
          <p:nvPr/>
        </p:nvSpPr>
        <p:spPr>
          <a:xfrm xmlns:a="http://schemas.openxmlformats.org/drawingml/2006/main">
            <a:off x="952500" y="2990850"/>
            <a:ext cx="2095500" cy="47625"/>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
            <a:extLst xmlns:a="http://schemas.openxmlformats.org/drawingml/2006/main">
              <a:ext uri="{FF2B5EF4-FFF2-40B4-BE49-F238E27FC236}">
                <a16:creationId xmlns:a16="http://schemas.microsoft.com/office/drawing/2014/main" id="{1BC7C1C4-C343-4536-847C-A1E189FC22CF}"/>
              </a:ext>
            </a:extLst>
          </p:cNvPr>
          <p:cNvSpPr>
            <a:spLocks xmlns:a="http://schemas.openxmlformats.org/drawingml/2006/main" noGrp="1"/>
          </p:cNvSpPr>
          <p:nvPr/>
        </p:nvSpPr>
        <p:spPr>
          <a:xfrm xmlns:a="http://schemas.openxmlformats.org/drawingml/2006/main">
            <a:off x="952500" y="3381375"/>
            <a:ext cx="643890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100" b="1">
                <a:solidFill>
                  <a:srgbClr val="173442"/>
                </a:solidFill>
              </a:defRPr>
            </a:pPr>
            <a:r>
              <a:rPr sz="5100" b="1">
                <a:solidFill>
                  <a:srgbClr val="173442"/>
                </a:solidFill>
              </a:rPr>
              <a:t>Interrupt Controller</a:t>
            </a:r>
          </a:p>
        </p:txBody>
      </p:sp>
      <p:sp>
        <p:nvSpPr>
          <p:cNvPr id="4" name="">
            <a:extLst xmlns:a="http://schemas.openxmlformats.org/drawingml/2006/main">
              <a:ext uri="{FF2B5EF4-FFF2-40B4-BE49-F238E27FC236}">
                <a16:creationId xmlns:a16="http://schemas.microsoft.com/office/drawing/2014/main" id="{859B512C-52A1-454E-BD5A-1C026614E6CF}"/>
              </a:ext>
            </a:extLst>
          </p:cNvPr>
          <p:cNvSpPr>
            <a:spLocks xmlns:a="http://schemas.openxmlformats.org/drawingml/2006/main" noGrp="1"/>
          </p:cNvSpPr>
          <p:nvPr/>
        </p:nvSpPr>
        <p:spPr>
          <a:xfrm xmlns:a="http://schemas.openxmlformats.org/drawingml/2006/main">
            <a:off x="952500" y="4257675"/>
            <a:ext cx="6438900"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006B75"/>
                </a:solidFill>
              </a:defRPr>
            </a:pPr>
            <a:r>
              <a:rPr sz="2550" b="0">
                <a:solidFill>
                  <a:srgbClr val="006B75"/>
                </a:solidFill>
              </a:rPr>
              <a:t>Programmable priority and preemption</a:t>
            </a:r>
          </a:p>
        </p:txBody>
      </p:sp>
      <p:sp>
        <p:nvSpPr>
          <p:cNvPr id="5" name="">
            <a:extLst xmlns:a="http://schemas.openxmlformats.org/drawingml/2006/main">
              <a:ext uri="{FF2B5EF4-FFF2-40B4-BE49-F238E27FC236}">
                <a16:creationId xmlns:a16="http://schemas.microsoft.com/office/drawing/2014/main" id="{4B33B25E-8503-4F85-8E3D-8AED981CC0C2}"/>
              </a:ext>
            </a:extLst>
          </p:cNvPr>
          <p:cNvSpPr>
            <a:spLocks xmlns:a="http://schemas.openxmlformats.org/drawingml/2006/main" noGrp="1"/>
          </p:cNvSpPr>
          <p:nvPr/>
        </p:nvSpPr>
        <p:spPr>
          <a:xfrm xmlns:a="http://schemas.openxmlformats.org/drawingml/2006/main">
            <a:off x="952500" y="5314950"/>
            <a:ext cx="643890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173442"/>
                </a:solidFill>
              </a:defRPr>
            </a:pPr>
            <a:r>
              <a:rPr sz="2700" b="1">
                <a:solidFill>
                  <a:srgbClr val="173442"/>
                </a:solidFill>
              </a:rPr>
              <a:t>Bunea Cosmin-Andrei</a:t>
            </a:r>
          </a:p>
        </p:txBody>
      </p:sp>
      <p:sp>
        <p:nvSpPr>
          <p:cNvPr id="6" name="">
            <a:extLst xmlns:a="http://schemas.openxmlformats.org/drawingml/2006/main">
              <a:ext uri="{FF2B5EF4-FFF2-40B4-BE49-F238E27FC236}">
                <a16:creationId xmlns:a16="http://schemas.microsoft.com/office/drawing/2014/main" id="{9FFD369F-370A-42F3-B5E4-1CEF321CCC4D}"/>
              </a:ext>
            </a:extLst>
          </p:cNvPr>
          <p:cNvSpPr>
            <a:spLocks xmlns:a="http://schemas.openxmlformats.org/drawingml/2006/main" noGrp="1"/>
          </p:cNvSpPr>
          <p:nvPr/>
        </p:nvSpPr>
        <p:spPr>
          <a:xfrm xmlns:a="http://schemas.openxmlformats.org/drawingml/2006/main">
            <a:off x="952500" y="5800725"/>
            <a:ext cx="6438900" cy="1104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0">
                <a:solidFill>
                  <a:srgbClr val="173442"/>
                </a:solidFill>
              </a:defRPr>
            </a:pPr>
            <a:r>
              <a:rPr sz="2400" b="0">
                <a:solidFill>
                  <a:srgbClr val="173442"/>
                </a:solidFill>
              </a:rPr>
              <a:t>Computer Engineering, year III</a:t>
            </a:r>
          </a:p>
          <a:p xmlns:a="http://schemas.openxmlformats.org/drawingml/2006/main">
            <a:pPr>
              <a:defRPr sz="2400" b="0">
                <a:solidFill>
                  <a:srgbClr val="173442"/>
                </a:solidFill>
              </a:defRPr>
            </a:pPr>
            <a:r>
              <a:rPr sz="2400" b="0">
                <a:solidFill>
                  <a:srgbClr val="173442"/>
                </a:solidFill>
              </a:rPr>
              <a:t>Academic year 2025–2026</a:t>
            </a:r>
          </a:p>
          <a:p xmlns:a="http://schemas.openxmlformats.org/drawingml/2006/main">
            <a:pPr>
              <a:defRPr sz="2400" b="0">
                <a:solidFill>
                  <a:srgbClr val="173442"/>
                </a:solidFill>
              </a:defRPr>
            </a:pPr>
            <a:r>
              <a:rPr sz="2400" b="0">
                <a:solidFill>
                  <a:srgbClr val="173442"/>
                </a:solidFill>
              </a:rPr>
              <a:t>Transilvania University of Brașov</a:t>
            </a:r>
          </a:p>
        </p:txBody>
      </p:sp>
      <p:sp>
        <p:nvSpPr>
          <p:cNvPr id="7" name="">
            <a:extLst xmlns:a="http://schemas.openxmlformats.org/drawingml/2006/main">
              <a:ext uri="{FF2B5EF4-FFF2-40B4-BE49-F238E27FC236}">
                <a16:creationId xmlns:a16="http://schemas.microsoft.com/office/drawing/2014/main" id="{86AC0533-76A8-40F3-92D7-A2C587AA363A}"/>
              </a:ext>
            </a:extLst>
          </p:cNvPr>
          <p:cNvSpPr>
            <a:spLocks xmlns:a="http://schemas.openxmlformats.org/drawingml/2006/main" noGrp="1"/>
          </p:cNvSpPr>
          <p:nvPr/>
        </p:nvSpPr>
        <p:spPr>
          <a:xfrm xmlns:a="http://schemas.openxmlformats.org/drawingml/2006/main">
            <a:off x="952500" y="7429500"/>
            <a:ext cx="64389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a:solidFill>
                  <a:srgbClr val="526772"/>
                </a:solidFill>
              </a:defRPr>
            </a:pPr>
            <a:r>
              <a:rPr sz="2100" b="0">
                <a:solidFill>
                  <a:srgbClr val="526772"/>
                </a:solidFill>
              </a:rPr>
              <a:t>RTL implementation · interfaces · verification</a:t>
            </a:r>
          </a:p>
        </p:txBody>
      </p:sp>
      <p:pic>
        <p:nvPicPr>
          <p:cNvPr id="8" name="asset-presentations/assets/soc_context_v3_pic"/>
          <p:cNvPicPr>
            <a:picLocks xmlns:a="http://schemas.openxmlformats.org/drawingml/2006/main" noChangeAspect="1"/>
          </p:cNvPicPr>
          <p:nvPr/>
        </p:nvPicPr>
        <p:blipFill>
          <a:blip xmlns:r="http://schemas.openxmlformats.org/officeDocument/2006/relationships" xmlns:a="http://schemas.openxmlformats.org/drawingml/2006/main" r:embed="Ra91e900dbed74b73">
            <a:extLst>
              <a:ext uri="{96DAC541-7B7A-43D3-8B79-37D633B846F1}">
                <asvg:svgBlip xmlns:asvg="http://schemas.microsoft.com/office/drawing/2016/SVG/main" r:embed="R9dc7313e705f4684"/>
              </a:ext>
            </a:extLst>
          </a:blip>
          <a:stretch xmlns:a="http://schemas.openxmlformats.org/drawingml/2006/main"/>
        </p:blipFill>
        <p:spPr>
          <a:xfrm xmlns:a="http://schemas.openxmlformats.org/drawingml/2006/main">
            <a:off x="7962900" y="2000250"/>
            <a:ext cx="9525000" cy="6277841"/>
          </a:xfrm>
          <a:prstGeom xmlns:a="http://schemas.openxmlformats.org/drawingml/2006/main" prst="rect">
            <a:avLst/>
          </a:prstGeom>
        </p:spPr>
      </p:pic>
    </p:spTree>
    <p:extLst>
      <p:ext uri="{BB962C8B-B14F-4D97-AF65-F5344CB8AC3E}">
        <p14:creationId xmlns:p14="http://schemas.microsoft.com/office/powerpoint/2010/main" val="58828746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84157627-070C-4378-A89F-2BC5A1B9DDF9}"/>
              </a:ext>
            </a:extLst>
          </p:cNvPr>
          <p:cNvSpPr>
            <a:spLocks xmlns:a="http://schemas.openxmlformats.org/drawingml/2006/main" noGrp="1"/>
          </p:cNvSpPr>
          <p:nvPr/>
        </p:nvSpPr>
        <p:spPr>
          <a:xfrm xmlns:a="http://schemas.openxmlformats.org/drawingml/2006/main">
            <a:off x="666750" y="381000"/>
            <a:ext cx="169545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73442"/>
                </a:solidFill>
              </a:defRPr>
            </a:pPr>
            <a:r>
              <a:rPr sz="3600" b="1">
                <a:solidFill>
                  <a:srgbClr val="173442"/>
                </a:solidFill>
              </a:rPr>
              <a:t>The brief asks for a PIC with priority bands, nesting and deadlines</a:t>
            </a:r>
          </a:p>
        </p:txBody>
      </p:sp>
      <p:sp>
        <p:nvSpPr>
          <p:cNvPr id="2" name="">
            <a:extLst xmlns:a="http://schemas.openxmlformats.org/drawingml/2006/main">
              <a:ext uri="{FF2B5EF4-FFF2-40B4-BE49-F238E27FC236}">
                <a16:creationId xmlns:a16="http://schemas.microsoft.com/office/drawing/2014/main" id="{2B3FF6CD-82AA-46F0-BCF9-7BFB080E642B}"/>
              </a:ext>
            </a:extLst>
          </p:cNvPr>
          <p:cNvSpPr>
            <a:spLocks xmlns:a="http://schemas.openxmlformats.org/drawingml/2006/main" noGrp="1"/>
          </p:cNvSpPr>
          <p:nvPr/>
        </p:nvSpPr>
        <p:spPr>
          <a:xfrm xmlns:a="http://schemas.openxmlformats.org/drawingml/2006/main">
            <a:off x="666750" y="10477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
            <a:extLst xmlns:a="http://schemas.openxmlformats.org/drawingml/2006/main">
              <a:ext uri="{FF2B5EF4-FFF2-40B4-BE49-F238E27FC236}">
                <a16:creationId xmlns:a16="http://schemas.microsoft.com/office/drawing/2014/main" id="{96A47448-B2BC-43B1-AE7A-73AFADA05ECF}"/>
              </a:ext>
            </a:extLst>
          </p:cNvPr>
          <p:cNvSpPr>
            <a:spLocks xmlns:a="http://schemas.openxmlformats.org/drawingml/2006/main" noGrp="1"/>
          </p:cNvSpPr>
          <p:nvPr/>
        </p:nvSpPr>
        <p:spPr>
          <a:xfrm xmlns:a="http://schemas.openxmlformats.org/drawingml/2006/main">
            <a:off x="666750" y="1310640"/>
            <a:ext cx="8343900" cy="1944053"/>
          </a:xfrm>
          <a:prstGeom xmlns:a="http://schemas.openxmlformats.org/drawingml/2006/main" prst="roundRect">
            <a:avLst>
              <a:gd name="adj" fmla="val 5879"/>
            </a:avLst>
          </a:prstGeom>
          <a:solidFill xmlns:a="http://schemas.openxmlformats.org/drawingml/2006/main">
            <a:srgbClr val="EEF5F5"/>
          </a:solidFill>
        </p:spPr>
      </p:sp>
      <p:sp>
        <p:nvSpPr>
          <p:cNvPr id="4" name="">
            <a:extLst xmlns:a="http://schemas.openxmlformats.org/drawingml/2006/main">
              <a:ext uri="{FF2B5EF4-FFF2-40B4-BE49-F238E27FC236}">
                <a16:creationId xmlns:a16="http://schemas.microsoft.com/office/drawing/2014/main" id="{7F69AE5A-878C-44A8-BC4D-55D686BD1068}"/>
              </a:ext>
            </a:extLst>
          </p:cNvPr>
          <p:cNvSpPr>
            <a:spLocks xmlns:a="http://schemas.openxmlformats.org/drawingml/2006/main" noGrp="1"/>
          </p:cNvSpPr>
          <p:nvPr/>
        </p:nvSpPr>
        <p:spPr>
          <a:xfrm xmlns:a="http://schemas.openxmlformats.org/drawingml/2006/main">
            <a:off x="952500" y="2066925"/>
            <a:ext cx="62865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01</a:t>
            </a:r>
          </a:p>
        </p:txBody>
      </p:sp>
      <p:sp>
        <p:nvSpPr>
          <p:cNvPr id="5" name="">
            <a:extLst xmlns:a="http://schemas.openxmlformats.org/drawingml/2006/main">
              <a:ext uri="{FF2B5EF4-FFF2-40B4-BE49-F238E27FC236}">
                <a16:creationId xmlns:a16="http://schemas.microsoft.com/office/drawing/2014/main" id="{3807228F-7A29-4779-883C-4912754771EC}"/>
              </a:ext>
            </a:extLst>
          </p:cNvPr>
          <p:cNvSpPr>
            <a:spLocks xmlns:a="http://schemas.openxmlformats.org/drawingml/2006/main" noGrp="1"/>
          </p:cNvSpPr>
          <p:nvPr/>
        </p:nvSpPr>
        <p:spPr>
          <a:xfrm xmlns:a="http://schemas.openxmlformats.org/drawingml/2006/main">
            <a:off x="1828800" y="2105025"/>
            <a:ext cx="68961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0">
                <a:solidFill>
                  <a:srgbClr val="173442"/>
                </a:solidFill>
              </a:defRPr>
            </a:pPr>
            <a:r>
              <a:rPr sz="2400" b="0">
                <a:solidFill>
                  <a:srgbClr val="173442"/>
                </a:solidFill>
              </a:rPr>
              <a:t>16 hardware sources, each level- or edge-triggered</a:t>
            </a:r>
          </a:p>
        </p:txBody>
      </p:sp>
      <p:sp>
        <p:nvSpPr>
          <p:cNvPr id="6" name="">
            <a:extLst xmlns:a="http://schemas.openxmlformats.org/drawingml/2006/main">
              <a:ext uri="{FF2B5EF4-FFF2-40B4-BE49-F238E27FC236}">
                <a16:creationId xmlns:a16="http://schemas.microsoft.com/office/drawing/2014/main" id="{0DA80B19-17B2-4D36-BAA2-F4B6457C980D}"/>
              </a:ext>
            </a:extLst>
          </p:cNvPr>
          <p:cNvSpPr>
            <a:spLocks xmlns:a="http://schemas.openxmlformats.org/drawingml/2006/main" noGrp="1"/>
          </p:cNvSpPr>
          <p:nvPr/>
        </p:nvSpPr>
        <p:spPr>
          <a:xfrm xmlns:a="http://schemas.openxmlformats.org/drawingml/2006/main">
            <a:off x="9277350" y="1310640"/>
            <a:ext cx="8343900" cy="1944053"/>
          </a:xfrm>
          <a:prstGeom xmlns:a="http://schemas.openxmlformats.org/drawingml/2006/main" prst="roundRect">
            <a:avLst>
              <a:gd name="adj" fmla="val 5879"/>
            </a:avLst>
          </a:prstGeom>
          <a:solidFill xmlns:a="http://schemas.openxmlformats.org/drawingml/2006/main">
            <a:srgbClr val="EEF5F5"/>
          </a:solidFill>
        </p:spPr>
      </p:sp>
      <p:sp>
        <p:nvSpPr>
          <p:cNvPr id="7" name="">
            <a:extLst xmlns:a="http://schemas.openxmlformats.org/drawingml/2006/main">
              <a:ext uri="{FF2B5EF4-FFF2-40B4-BE49-F238E27FC236}">
                <a16:creationId xmlns:a16="http://schemas.microsoft.com/office/drawing/2014/main" id="{858CF973-08BD-433B-8585-AE64C9035C72}"/>
              </a:ext>
            </a:extLst>
          </p:cNvPr>
          <p:cNvSpPr>
            <a:spLocks xmlns:a="http://schemas.openxmlformats.org/drawingml/2006/main" noGrp="1"/>
          </p:cNvSpPr>
          <p:nvPr/>
        </p:nvSpPr>
        <p:spPr>
          <a:xfrm xmlns:a="http://schemas.openxmlformats.org/drawingml/2006/main">
            <a:off x="9563100" y="2066925"/>
            <a:ext cx="62865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05</a:t>
            </a:r>
          </a:p>
        </p:txBody>
      </p:sp>
      <p:sp>
        <p:nvSpPr>
          <p:cNvPr id="8" name="">
            <a:extLst xmlns:a="http://schemas.openxmlformats.org/drawingml/2006/main">
              <a:ext uri="{FF2B5EF4-FFF2-40B4-BE49-F238E27FC236}">
                <a16:creationId xmlns:a16="http://schemas.microsoft.com/office/drawing/2014/main" id="{CDD0D10F-4283-47E3-8398-085C7FCB4A7E}"/>
              </a:ext>
            </a:extLst>
          </p:cNvPr>
          <p:cNvSpPr>
            <a:spLocks xmlns:a="http://schemas.openxmlformats.org/drawingml/2006/main" noGrp="1"/>
          </p:cNvSpPr>
          <p:nvPr/>
        </p:nvSpPr>
        <p:spPr>
          <a:xfrm xmlns:a="http://schemas.openxmlformats.org/drawingml/2006/main">
            <a:off x="10439400" y="2105025"/>
            <a:ext cx="68961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0">
                <a:solidFill>
                  <a:srgbClr val="173442"/>
                </a:solidFill>
              </a:defRPr>
            </a:pPr>
            <a:r>
              <a:rPr sz="2400" b="0">
                <a:solidFill>
                  <a:srgbClr val="173442"/>
                </a:solidFill>
              </a:rPr>
              <a:t>Spurious interrupts detected, handled and logged</a:t>
            </a:r>
          </a:p>
        </p:txBody>
      </p:sp>
      <p:sp>
        <p:nvSpPr>
          <p:cNvPr id="9" name="">
            <a:extLst xmlns:a="http://schemas.openxmlformats.org/drawingml/2006/main">
              <a:ext uri="{FF2B5EF4-FFF2-40B4-BE49-F238E27FC236}">
                <a16:creationId xmlns:a16="http://schemas.microsoft.com/office/drawing/2014/main" id="{B7A49466-6233-4214-BEB9-92ADDCE14A69}"/>
              </a:ext>
            </a:extLst>
          </p:cNvPr>
          <p:cNvSpPr>
            <a:spLocks xmlns:a="http://schemas.openxmlformats.org/drawingml/2006/main" noGrp="1"/>
          </p:cNvSpPr>
          <p:nvPr/>
        </p:nvSpPr>
        <p:spPr>
          <a:xfrm xmlns:a="http://schemas.openxmlformats.org/drawingml/2006/main">
            <a:off x="666750" y="3445193"/>
            <a:ext cx="8343900" cy="1944053"/>
          </a:xfrm>
          <a:prstGeom xmlns:a="http://schemas.openxmlformats.org/drawingml/2006/main" prst="roundRect">
            <a:avLst>
              <a:gd name="adj" fmla="val 5879"/>
            </a:avLst>
          </a:prstGeom>
          <a:solidFill xmlns:a="http://schemas.openxmlformats.org/drawingml/2006/main">
            <a:srgbClr val="EEF5F5"/>
          </a:solidFill>
        </p:spPr>
      </p:sp>
      <p:sp>
        <p:nvSpPr>
          <p:cNvPr id="10" name="">
            <a:extLst xmlns:a="http://schemas.openxmlformats.org/drawingml/2006/main">
              <a:ext uri="{FF2B5EF4-FFF2-40B4-BE49-F238E27FC236}">
                <a16:creationId xmlns:a16="http://schemas.microsoft.com/office/drawing/2014/main" id="{31FF052D-B604-4F08-9961-5081C072C9EF}"/>
              </a:ext>
            </a:extLst>
          </p:cNvPr>
          <p:cNvSpPr>
            <a:spLocks xmlns:a="http://schemas.openxmlformats.org/drawingml/2006/main" noGrp="1"/>
          </p:cNvSpPr>
          <p:nvPr/>
        </p:nvSpPr>
        <p:spPr>
          <a:xfrm xmlns:a="http://schemas.openxmlformats.org/drawingml/2006/main">
            <a:off x="952500" y="4200525"/>
            <a:ext cx="62865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02</a:t>
            </a:r>
          </a:p>
        </p:txBody>
      </p:sp>
      <p:sp>
        <p:nvSpPr>
          <p:cNvPr id="11" name="">
            <a:extLst xmlns:a="http://schemas.openxmlformats.org/drawingml/2006/main">
              <a:ext uri="{FF2B5EF4-FFF2-40B4-BE49-F238E27FC236}">
                <a16:creationId xmlns:a16="http://schemas.microsoft.com/office/drawing/2014/main" id="{EA04681F-EA25-4E97-8DEB-01B6914D6D72}"/>
              </a:ext>
            </a:extLst>
          </p:cNvPr>
          <p:cNvSpPr>
            <a:spLocks xmlns:a="http://schemas.openxmlformats.org/drawingml/2006/main" noGrp="1"/>
          </p:cNvSpPr>
          <p:nvPr/>
        </p:nvSpPr>
        <p:spPr>
          <a:xfrm xmlns:a="http://schemas.openxmlformats.org/drawingml/2006/main">
            <a:off x="1828800" y="4048125"/>
            <a:ext cx="6896100" cy="7334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0">
                <a:solidFill>
                  <a:srgbClr val="173442"/>
                </a:solidFill>
              </a:defRPr>
            </a:pPr>
            <a:r>
              <a:rPr sz="2400" b="0">
                <a:solidFill>
                  <a:srgbClr val="173442"/>
                </a:solidFill>
              </a:rPr>
              <a:t>16 software triggers, safe against accidental</a:t>
            </a:r>
          </a:p>
          <a:p xmlns:a="http://schemas.openxmlformats.org/drawingml/2006/main">
            <a:pPr>
              <a:defRPr sz="2400" b="0">
                <a:solidFill>
                  <a:srgbClr val="173442"/>
                </a:solidFill>
              </a:defRPr>
            </a:pPr>
            <a:r>
              <a:rPr sz="2400" b="0">
                <a:solidFill>
                  <a:srgbClr val="173442"/>
                </a:solidFill>
              </a:rPr>
              <a:t>writes, arbitrated exactly like hardware</a:t>
            </a:r>
          </a:p>
        </p:txBody>
      </p:sp>
      <p:sp>
        <p:nvSpPr>
          <p:cNvPr id="12" name="">
            <a:extLst xmlns:a="http://schemas.openxmlformats.org/drawingml/2006/main">
              <a:ext uri="{FF2B5EF4-FFF2-40B4-BE49-F238E27FC236}">
                <a16:creationId xmlns:a16="http://schemas.microsoft.com/office/drawing/2014/main" id="{9B39187C-7B1F-4AF5-8EEE-7D6217E972C1}"/>
              </a:ext>
            </a:extLst>
          </p:cNvPr>
          <p:cNvSpPr>
            <a:spLocks xmlns:a="http://schemas.openxmlformats.org/drawingml/2006/main" noGrp="1"/>
          </p:cNvSpPr>
          <p:nvPr/>
        </p:nvSpPr>
        <p:spPr>
          <a:xfrm xmlns:a="http://schemas.openxmlformats.org/drawingml/2006/main">
            <a:off x="9277350" y="3445193"/>
            <a:ext cx="8343900" cy="1944053"/>
          </a:xfrm>
          <a:prstGeom xmlns:a="http://schemas.openxmlformats.org/drawingml/2006/main" prst="roundRect">
            <a:avLst>
              <a:gd name="adj" fmla="val 5879"/>
            </a:avLst>
          </a:prstGeom>
          <a:solidFill xmlns:a="http://schemas.openxmlformats.org/drawingml/2006/main">
            <a:srgbClr val="EEF5F5"/>
          </a:solidFill>
        </p:spPr>
      </p:sp>
      <p:sp>
        <p:nvSpPr>
          <p:cNvPr id="13" name="">
            <a:extLst xmlns:a="http://schemas.openxmlformats.org/drawingml/2006/main">
              <a:ext uri="{FF2B5EF4-FFF2-40B4-BE49-F238E27FC236}">
                <a16:creationId xmlns:a16="http://schemas.microsoft.com/office/drawing/2014/main" id="{B7C4EFC9-E445-4FBE-85E7-584F6D9C8291}"/>
              </a:ext>
            </a:extLst>
          </p:cNvPr>
          <p:cNvSpPr>
            <a:spLocks xmlns:a="http://schemas.openxmlformats.org/drawingml/2006/main" noGrp="1"/>
          </p:cNvSpPr>
          <p:nvPr/>
        </p:nvSpPr>
        <p:spPr>
          <a:xfrm xmlns:a="http://schemas.openxmlformats.org/drawingml/2006/main">
            <a:off x="9563100" y="4200525"/>
            <a:ext cx="62865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06</a:t>
            </a:r>
          </a:p>
        </p:txBody>
      </p:sp>
      <p:sp>
        <p:nvSpPr>
          <p:cNvPr id="14" name="">
            <a:extLst xmlns:a="http://schemas.openxmlformats.org/drawingml/2006/main">
              <a:ext uri="{FF2B5EF4-FFF2-40B4-BE49-F238E27FC236}">
                <a16:creationId xmlns:a16="http://schemas.microsoft.com/office/drawing/2014/main" id="{BA8415AB-A3F4-49CA-9A2A-08F763AA16DA}"/>
              </a:ext>
            </a:extLst>
          </p:cNvPr>
          <p:cNvSpPr>
            <a:spLocks xmlns:a="http://schemas.openxmlformats.org/drawingml/2006/main" noGrp="1"/>
          </p:cNvSpPr>
          <p:nvPr/>
        </p:nvSpPr>
        <p:spPr>
          <a:xfrm xmlns:a="http://schemas.openxmlformats.org/drawingml/2006/main">
            <a:off x="10439400" y="4048125"/>
            <a:ext cx="6896100" cy="7334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0">
                <a:solidFill>
                  <a:srgbClr val="173442"/>
                </a:solidFill>
              </a:defRPr>
            </a:pPr>
            <a:r>
              <a:rPr sz="2400" b="0">
                <a:solidFill>
                  <a:srgbClr val="173442"/>
                </a:solidFill>
              </a:rPr>
              <a:t>A deadline per source,</a:t>
            </a:r>
          </a:p>
          <a:p xmlns:a="http://schemas.openxmlformats.org/drawingml/2006/main">
            <a:pPr>
              <a:defRPr sz="2400" b="0">
                <a:solidFill>
                  <a:srgbClr val="173442"/>
                </a:solidFill>
              </a:defRPr>
            </a:pPr>
            <a:r>
              <a:rPr sz="2400" b="0">
                <a:solidFill>
                  <a:srgbClr val="173442"/>
                </a:solidFill>
              </a:rPr>
              <a:t>with automatic priority escalation</a:t>
            </a:r>
          </a:p>
        </p:txBody>
      </p:sp>
      <p:sp>
        <p:nvSpPr>
          <p:cNvPr id="15" name="">
            <a:extLst xmlns:a="http://schemas.openxmlformats.org/drawingml/2006/main">
              <a:ext uri="{FF2B5EF4-FFF2-40B4-BE49-F238E27FC236}">
                <a16:creationId xmlns:a16="http://schemas.microsoft.com/office/drawing/2014/main" id="{8144024F-DDC3-4CEA-90AA-AB3EE2006F01}"/>
              </a:ext>
            </a:extLst>
          </p:cNvPr>
          <p:cNvSpPr>
            <a:spLocks xmlns:a="http://schemas.openxmlformats.org/drawingml/2006/main" noGrp="1"/>
          </p:cNvSpPr>
          <p:nvPr/>
        </p:nvSpPr>
        <p:spPr>
          <a:xfrm xmlns:a="http://schemas.openxmlformats.org/drawingml/2006/main">
            <a:off x="666750" y="5579745"/>
            <a:ext cx="8343900" cy="1944053"/>
          </a:xfrm>
          <a:prstGeom xmlns:a="http://schemas.openxmlformats.org/drawingml/2006/main" prst="roundRect">
            <a:avLst>
              <a:gd name="adj" fmla="val 5879"/>
            </a:avLst>
          </a:prstGeom>
          <a:solidFill xmlns:a="http://schemas.openxmlformats.org/drawingml/2006/main">
            <a:srgbClr val="EEF5F5"/>
          </a:solidFill>
        </p:spPr>
      </p:sp>
      <p:sp>
        <p:nvSpPr>
          <p:cNvPr id="16" name="">
            <a:extLst xmlns:a="http://schemas.openxmlformats.org/drawingml/2006/main">
              <a:ext uri="{FF2B5EF4-FFF2-40B4-BE49-F238E27FC236}">
                <a16:creationId xmlns:a16="http://schemas.microsoft.com/office/drawing/2014/main" id="{FBEAD164-D7E2-4A14-B498-7DE57E8428D8}"/>
              </a:ext>
            </a:extLst>
          </p:cNvPr>
          <p:cNvSpPr>
            <a:spLocks xmlns:a="http://schemas.openxmlformats.org/drawingml/2006/main" noGrp="1"/>
          </p:cNvSpPr>
          <p:nvPr/>
        </p:nvSpPr>
        <p:spPr>
          <a:xfrm xmlns:a="http://schemas.openxmlformats.org/drawingml/2006/main">
            <a:off x="952500" y="6334125"/>
            <a:ext cx="62865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03</a:t>
            </a:r>
          </a:p>
        </p:txBody>
      </p:sp>
      <p:sp>
        <p:nvSpPr>
          <p:cNvPr id="17" name="">
            <a:extLst xmlns:a="http://schemas.openxmlformats.org/drawingml/2006/main">
              <a:ext uri="{FF2B5EF4-FFF2-40B4-BE49-F238E27FC236}">
                <a16:creationId xmlns:a16="http://schemas.microsoft.com/office/drawing/2014/main" id="{A927C5E9-EE07-4906-9AA3-80AF2693E88B}"/>
              </a:ext>
            </a:extLst>
          </p:cNvPr>
          <p:cNvSpPr>
            <a:spLocks xmlns:a="http://schemas.openxmlformats.org/drawingml/2006/main" noGrp="1"/>
          </p:cNvSpPr>
          <p:nvPr/>
        </p:nvSpPr>
        <p:spPr>
          <a:xfrm xmlns:a="http://schemas.openxmlformats.org/drawingml/2006/main">
            <a:off x="1828800" y="6372225"/>
            <a:ext cx="68961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0">
                <a:solidFill>
                  <a:srgbClr val="173442"/>
                </a:solidFill>
              </a:defRPr>
            </a:pPr>
            <a:r>
              <a:rPr sz="2400" b="0">
                <a:solidFill>
                  <a:srgbClr val="173442"/>
                </a:solidFill>
              </a:rPr>
              <a:t>Priority bands, with arbitration inside each band</a:t>
            </a:r>
          </a:p>
        </p:txBody>
      </p:sp>
      <p:sp>
        <p:nvSpPr>
          <p:cNvPr id="18" name="">
            <a:extLst xmlns:a="http://schemas.openxmlformats.org/drawingml/2006/main">
              <a:ext uri="{FF2B5EF4-FFF2-40B4-BE49-F238E27FC236}">
                <a16:creationId xmlns:a16="http://schemas.microsoft.com/office/drawing/2014/main" id="{8148BA40-9911-4F97-83D8-3F999D8A99CA}"/>
              </a:ext>
            </a:extLst>
          </p:cNvPr>
          <p:cNvSpPr>
            <a:spLocks xmlns:a="http://schemas.openxmlformats.org/drawingml/2006/main" noGrp="1"/>
          </p:cNvSpPr>
          <p:nvPr/>
        </p:nvSpPr>
        <p:spPr>
          <a:xfrm xmlns:a="http://schemas.openxmlformats.org/drawingml/2006/main">
            <a:off x="9277350" y="5579745"/>
            <a:ext cx="8343900" cy="1944053"/>
          </a:xfrm>
          <a:prstGeom xmlns:a="http://schemas.openxmlformats.org/drawingml/2006/main" prst="roundRect">
            <a:avLst>
              <a:gd name="adj" fmla="val 5879"/>
            </a:avLst>
          </a:prstGeom>
          <a:solidFill xmlns:a="http://schemas.openxmlformats.org/drawingml/2006/main">
            <a:srgbClr val="EEF5F5"/>
          </a:solidFill>
        </p:spPr>
      </p:sp>
      <p:sp>
        <p:nvSpPr>
          <p:cNvPr id="19" name="">
            <a:extLst xmlns:a="http://schemas.openxmlformats.org/drawingml/2006/main">
              <a:ext uri="{FF2B5EF4-FFF2-40B4-BE49-F238E27FC236}">
                <a16:creationId xmlns:a16="http://schemas.microsoft.com/office/drawing/2014/main" id="{5B3DC1E7-1AF5-464F-9A60-98E7031E21C9}"/>
              </a:ext>
            </a:extLst>
          </p:cNvPr>
          <p:cNvSpPr>
            <a:spLocks xmlns:a="http://schemas.openxmlformats.org/drawingml/2006/main" noGrp="1"/>
          </p:cNvSpPr>
          <p:nvPr/>
        </p:nvSpPr>
        <p:spPr>
          <a:xfrm xmlns:a="http://schemas.openxmlformats.org/drawingml/2006/main">
            <a:off x="9563100" y="6334125"/>
            <a:ext cx="62865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07</a:t>
            </a:r>
          </a:p>
        </p:txBody>
      </p:sp>
      <p:sp>
        <p:nvSpPr>
          <p:cNvPr id="20" name="">
            <a:extLst xmlns:a="http://schemas.openxmlformats.org/drawingml/2006/main">
              <a:ext uri="{FF2B5EF4-FFF2-40B4-BE49-F238E27FC236}">
                <a16:creationId xmlns:a16="http://schemas.microsoft.com/office/drawing/2014/main" id="{B7EA95B5-3E49-40A1-BA58-243329A17BCE}"/>
              </a:ext>
            </a:extLst>
          </p:cNvPr>
          <p:cNvSpPr>
            <a:spLocks xmlns:a="http://schemas.openxmlformats.org/drawingml/2006/main" noGrp="1"/>
          </p:cNvSpPr>
          <p:nvPr/>
        </p:nvSpPr>
        <p:spPr>
          <a:xfrm xmlns:a="http://schemas.openxmlformats.org/drawingml/2006/main">
            <a:off x="10439400" y="6181725"/>
            <a:ext cx="6896100" cy="7334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0">
                <a:solidFill>
                  <a:srgbClr val="173442"/>
                </a:solidFill>
              </a:defRPr>
            </a:pPr>
            <a:r>
              <a:rPr sz="2400" b="0">
                <a:solidFill>
                  <a:srgbClr val="173442"/>
                </a:solidFill>
              </a:rPr>
              <a:t>One request + 4-bit vector to the CPU,</a:t>
            </a:r>
          </a:p>
          <a:p xmlns:a="http://schemas.openxmlformats.org/drawingml/2006/main">
            <a:pPr>
              <a:defRPr sz="2400" b="0">
                <a:solidFill>
                  <a:srgbClr val="173442"/>
                </a:solidFill>
              </a:defRPr>
            </a:pPr>
            <a:r>
              <a:rPr sz="2400" b="0">
                <a:solidFill>
                  <a:srgbClr val="173442"/>
                </a:solidFill>
              </a:rPr>
              <a:t>acknowledged by a claim</a:t>
            </a:r>
          </a:p>
        </p:txBody>
      </p:sp>
      <p:sp>
        <p:nvSpPr>
          <p:cNvPr id="21" name="">
            <a:extLst xmlns:a="http://schemas.openxmlformats.org/drawingml/2006/main">
              <a:ext uri="{FF2B5EF4-FFF2-40B4-BE49-F238E27FC236}">
                <a16:creationId xmlns:a16="http://schemas.microsoft.com/office/drawing/2014/main" id="{7302593B-3431-4374-BB47-9F1806C4D479}"/>
              </a:ext>
            </a:extLst>
          </p:cNvPr>
          <p:cNvSpPr>
            <a:spLocks xmlns:a="http://schemas.openxmlformats.org/drawingml/2006/main" noGrp="1"/>
          </p:cNvSpPr>
          <p:nvPr/>
        </p:nvSpPr>
        <p:spPr>
          <a:xfrm xmlns:a="http://schemas.openxmlformats.org/drawingml/2006/main">
            <a:off x="666750" y="7714298"/>
            <a:ext cx="8343900" cy="1944053"/>
          </a:xfrm>
          <a:prstGeom xmlns:a="http://schemas.openxmlformats.org/drawingml/2006/main" prst="roundRect">
            <a:avLst>
              <a:gd name="adj" fmla="val 5879"/>
            </a:avLst>
          </a:prstGeom>
          <a:solidFill xmlns:a="http://schemas.openxmlformats.org/drawingml/2006/main">
            <a:srgbClr val="EEF5F5"/>
          </a:solidFill>
        </p:spPr>
      </p:sp>
      <p:sp>
        <p:nvSpPr>
          <p:cNvPr id="22" name="">
            <a:extLst xmlns:a="http://schemas.openxmlformats.org/drawingml/2006/main">
              <a:ext uri="{FF2B5EF4-FFF2-40B4-BE49-F238E27FC236}">
                <a16:creationId xmlns:a16="http://schemas.microsoft.com/office/drawing/2014/main" id="{FFD41F1E-E62B-4D19-80DA-3028A239D49C}"/>
              </a:ext>
            </a:extLst>
          </p:cNvPr>
          <p:cNvSpPr>
            <a:spLocks xmlns:a="http://schemas.openxmlformats.org/drawingml/2006/main" noGrp="1"/>
          </p:cNvSpPr>
          <p:nvPr/>
        </p:nvSpPr>
        <p:spPr>
          <a:xfrm xmlns:a="http://schemas.openxmlformats.org/drawingml/2006/main">
            <a:off x="952500" y="8467725"/>
            <a:ext cx="62865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04</a:t>
            </a:r>
          </a:p>
        </p:txBody>
      </p:sp>
      <p:sp>
        <p:nvSpPr>
          <p:cNvPr id="23" name="">
            <a:extLst xmlns:a="http://schemas.openxmlformats.org/drawingml/2006/main">
              <a:ext uri="{FF2B5EF4-FFF2-40B4-BE49-F238E27FC236}">
                <a16:creationId xmlns:a16="http://schemas.microsoft.com/office/drawing/2014/main" id="{C056A334-DFA2-4F35-BDFB-E65881818084}"/>
              </a:ext>
            </a:extLst>
          </p:cNvPr>
          <p:cNvSpPr>
            <a:spLocks xmlns:a="http://schemas.openxmlformats.org/drawingml/2006/main" noGrp="1"/>
          </p:cNvSpPr>
          <p:nvPr/>
        </p:nvSpPr>
        <p:spPr>
          <a:xfrm xmlns:a="http://schemas.openxmlformats.org/drawingml/2006/main">
            <a:off x="1828800" y="8315325"/>
            <a:ext cx="6896100" cy="7334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0">
                <a:solidFill>
                  <a:srgbClr val="173442"/>
                </a:solidFill>
              </a:defRPr>
            </a:pPr>
            <a:r>
              <a:rPr sz="2400" b="0">
                <a:solidFill>
                  <a:srgbClr val="173442"/>
                </a:solidFill>
              </a:rPr>
              <a:t>Preemption with nesting;</a:t>
            </a:r>
          </a:p>
          <a:p xmlns:a="http://schemas.openxmlformats.org/drawingml/2006/main">
            <a:pPr>
              <a:defRPr sz="2400" b="0">
                <a:solidFill>
                  <a:srgbClr val="173442"/>
                </a:solidFill>
              </a:defRPr>
            </a:pPr>
            <a:r>
              <a:rPr sz="2400" b="0">
                <a:solidFill>
                  <a:srgbClr val="173442"/>
                </a:solidFill>
              </a:rPr>
              <a:t>the interrupted context is kept</a:t>
            </a:r>
          </a:p>
        </p:txBody>
      </p:sp>
      <p:sp>
        <p:nvSpPr>
          <p:cNvPr id="24" name="">
            <a:extLst xmlns:a="http://schemas.openxmlformats.org/drawingml/2006/main">
              <a:ext uri="{FF2B5EF4-FFF2-40B4-BE49-F238E27FC236}">
                <a16:creationId xmlns:a16="http://schemas.microsoft.com/office/drawing/2014/main" id="{8E32A70E-492E-4846-8451-51CC0EF0E897}"/>
              </a:ext>
            </a:extLst>
          </p:cNvPr>
          <p:cNvSpPr>
            <a:spLocks xmlns:a="http://schemas.openxmlformats.org/drawingml/2006/main" noGrp="1"/>
          </p:cNvSpPr>
          <p:nvPr/>
        </p:nvSpPr>
        <p:spPr>
          <a:xfrm xmlns:a="http://schemas.openxmlformats.org/drawingml/2006/main">
            <a:off x="9277350" y="7714298"/>
            <a:ext cx="8343900" cy="1944053"/>
          </a:xfrm>
          <a:prstGeom xmlns:a="http://schemas.openxmlformats.org/drawingml/2006/main" prst="roundRect">
            <a:avLst>
              <a:gd name="adj" fmla="val 5879"/>
            </a:avLst>
          </a:prstGeom>
          <a:solidFill xmlns:a="http://schemas.openxmlformats.org/drawingml/2006/main">
            <a:srgbClr val="EEF5F5"/>
          </a:solidFill>
        </p:spPr>
      </p:sp>
      <p:sp>
        <p:nvSpPr>
          <p:cNvPr id="25" name="">
            <a:extLst xmlns:a="http://schemas.openxmlformats.org/drawingml/2006/main">
              <a:ext uri="{FF2B5EF4-FFF2-40B4-BE49-F238E27FC236}">
                <a16:creationId xmlns:a16="http://schemas.microsoft.com/office/drawing/2014/main" id="{C7227A67-0BFE-4D5F-971A-03631C293AB4}"/>
              </a:ext>
            </a:extLst>
          </p:cNvPr>
          <p:cNvSpPr>
            <a:spLocks xmlns:a="http://schemas.openxmlformats.org/drawingml/2006/main" noGrp="1"/>
          </p:cNvSpPr>
          <p:nvPr/>
        </p:nvSpPr>
        <p:spPr>
          <a:xfrm xmlns:a="http://schemas.openxmlformats.org/drawingml/2006/main">
            <a:off x="9563100" y="8467725"/>
            <a:ext cx="62865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08</a:t>
            </a:r>
          </a:p>
        </p:txBody>
      </p:sp>
      <p:sp>
        <p:nvSpPr>
          <p:cNvPr id="26" name="">
            <a:extLst xmlns:a="http://schemas.openxmlformats.org/drawingml/2006/main">
              <a:ext uri="{FF2B5EF4-FFF2-40B4-BE49-F238E27FC236}">
                <a16:creationId xmlns:a16="http://schemas.microsoft.com/office/drawing/2014/main" id="{0D511FC1-768D-4F9A-B559-CD11FEA66133}"/>
              </a:ext>
            </a:extLst>
          </p:cNvPr>
          <p:cNvSpPr>
            <a:spLocks xmlns:a="http://schemas.openxmlformats.org/drawingml/2006/main" noGrp="1"/>
          </p:cNvSpPr>
          <p:nvPr/>
        </p:nvSpPr>
        <p:spPr>
          <a:xfrm xmlns:a="http://schemas.openxmlformats.org/drawingml/2006/main">
            <a:off x="10439400" y="8315325"/>
            <a:ext cx="6896100" cy="7334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0">
                <a:solidFill>
                  <a:srgbClr val="173442"/>
                </a:solidFill>
              </a:defRPr>
            </a:pPr>
            <a:r>
              <a:rPr sz="2400" b="0">
                <a:solidFill>
                  <a:srgbClr val="173442"/>
                </a:solidFill>
              </a:rPr>
              <a:t>AXI4-Lite register map:</a:t>
            </a:r>
          </a:p>
          <a:p xmlns:a="http://schemas.openxmlformats.org/drawingml/2006/main">
            <a:pPr>
              <a:defRPr sz="2400" b="0">
                <a:solidFill>
                  <a:srgbClr val="173442"/>
                </a:solidFill>
              </a:defRPr>
            </a:pPr>
            <a:r>
              <a:rPr sz="2400" b="0">
                <a:solidFill>
                  <a:srgbClr val="173442"/>
                </a:solidFill>
              </a:rPr>
              <a:t>11 registers, OKAY / SLVERR / DECERR</a:t>
            </a:r>
          </a:p>
        </p:txBody>
      </p:sp>
      <p:sp>
        <p:nvSpPr>
          <p:cNvPr id="27" name="footer">
            <a:extLst xmlns:a="http://schemas.openxmlformats.org/drawingml/2006/main">
              <a:ext uri="{FF2B5EF4-FFF2-40B4-BE49-F238E27FC236}">
                <a16:creationId xmlns:a16="http://schemas.microsoft.com/office/drawing/2014/main" id="{15650852-60C8-4C51-956F-71F2EF9EF2F4}"/>
              </a:ext>
            </a:extLst>
          </p:cNvPr>
          <p:cNvSpPr>
            <a:spLocks xmlns:a="http://schemas.openxmlformats.org/drawingml/2006/main" noGrp="1"/>
          </p:cNvSpPr>
          <p:nvPr/>
        </p:nvSpPr>
        <p:spPr>
          <a:xfrm xmlns:a="http://schemas.openxmlformats.org/drawingml/2006/main">
            <a:off x="666750" y="979170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PIC   ·   02 / 07   ·   Requirements</a:t>
            </a:r>
          </a:p>
        </p:txBody>
      </p:sp>
    </p:spTree>
    <p:extLst>
      <p:ext uri="{BB962C8B-B14F-4D97-AF65-F5344CB8AC3E}">
        <p14:creationId xmlns:p14="http://schemas.microsoft.com/office/powerpoint/2010/main" val="39126547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B7AA4283-FE75-4553-8486-13139D0E1471}"/>
              </a:ext>
            </a:extLst>
          </p:cNvPr>
          <p:cNvSpPr>
            <a:spLocks xmlns:a="http://schemas.openxmlformats.org/drawingml/2006/main" noGrp="1"/>
          </p:cNvSpPr>
          <p:nvPr/>
        </p:nvSpPr>
        <p:spPr>
          <a:xfrm xmlns:a="http://schemas.openxmlformats.org/drawingml/2006/main">
            <a:off x="666750" y="381000"/>
            <a:ext cx="169545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73442"/>
                </a:solidFill>
              </a:defRPr>
            </a:pPr>
            <a:r>
              <a:rPr sz="3600" b="1">
                <a:solidFill>
                  <a:srgbClr val="173442"/>
                </a:solidFill>
              </a:rPr>
              <a:t>A request is conditioned, ranked by its key and offered to the CPU</a:t>
            </a:r>
          </a:p>
        </p:txBody>
      </p:sp>
      <p:sp>
        <p:nvSpPr>
          <p:cNvPr id="2" name="">
            <a:extLst xmlns:a="http://schemas.openxmlformats.org/drawingml/2006/main">
              <a:ext uri="{FF2B5EF4-FFF2-40B4-BE49-F238E27FC236}">
                <a16:creationId xmlns:a16="http://schemas.microsoft.com/office/drawing/2014/main" id="{7078E58D-6FA4-4210-8599-C98F04285A39}"/>
              </a:ext>
            </a:extLst>
          </p:cNvPr>
          <p:cNvSpPr>
            <a:spLocks xmlns:a="http://schemas.openxmlformats.org/drawingml/2006/main" noGrp="1"/>
          </p:cNvSpPr>
          <p:nvPr/>
        </p:nvSpPr>
        <p:spPr>
          <a:xfrm xmlns:a="http://schemas.openxmlformats.org/drawingml/2006/main">
            <a:off x="666750" y="10477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pic>
        <p:nvPicPr>
          <p:cNvPr id="3" name="asset-presentations/assets/pic_arch_v3"/>
          <p:cNvPicPr>
            <a:picLocks xmlns:a="http://schemas.openxmlformats.org/drawingml/2006/main" noChangeAspect="1"/>
          </p:cNvPicPr>
          <p:nvPr/>
        </p:nvPicPr>
        <p:blipFill>
          <a:blip xmlns:r="http://schemas.openxmlformats.org/officeDocument/2006/relationships" xmlns:a="http://schemas.openxmlformats.org/drawingml/2006/main" r:embed="R11dcfe4809cd4ea4">
            <a:extLst>
              <a:ext uri="{96DAC541-7B7A-43D3-8B79-37D633B846F1}">
                <asvg:svgBlip xmlns:asvg="http://schemas.microsoft.com/office/drawing/2016/SVG/main" r:embed="R7db66ee8d1d84c22"/>
              </a:ext>
            </a:extLst>
          </a:blip>
          <a:stretch xmlns:a="http://schemas.openxmlformats.org/drawingml/2006/main"/>
        </p:blipFill>
        <p:spPr>
          <a:xfrm xmlns:a="http://schemas.openxmlformats.org/drawingml/2006/main">
            <a:off x="1222635" y="1314450"/>
            <a:ext cx="15842730" cy="5429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A2668BE-2BC0-4497-8714-D00F3267FD17}"/>
              </a:ext>
            </a:extLst>
          </p:cNvPr>
          <p:cNvSpPr>
            <a:spLocks xmlns:a="http://schemas.openxmlformats.org/drawingml/2006/main" noGrp="1"/>
          </p:cNvSpPr>
          <p:nvPr/>
        </p:nvSpPr>
        <p:spPr>
          <a:xfrm xmlns:a="http://schemas.openxmlformats.org/drawingml/2006/main">
            <a:off x="666750" y="6858000"/>
            <a:ext cx="16954500" cy="2571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a:solidFill>
                  <a:srgbClr val="526772"/>
                </a:solidFill>
              </a:defRPr>
            </a:pPr>
            <a:r>
              <a:rPr sz="1650" b="1">
                <a:solidFill>
                  <a:srgbClr val="526772"/>
                </a:solidFill>
              </a:rPr>
              <a:t>THE BRIEF LEFT 21 QUESTIONS OPEN  ·  THE FIVE THAT SHAPED THE CONTROLLER</a:t>
            </a:r>
          </a:p>
        </p:txBody>
      </p:sp>
      <p:sp>
        <p:nvSpPr>
          <p:cNvPr id="5" name="">
            <a:extLst xmlns:a="http://schemas.openxmlformats.org/drawingml/2006/main">
              <a:ext uri="{FF2B5EF4-FFF2-40B4-BE49-F238E27FC236}">
                <a16:creationId xmlns:a16="http://schemas.microsoft.com/office/drawing/2014/main" id="{8A9ACB07-D764-45AB-B499-85155C2735FB}"/>
              </a:ext>
            </a:extLst>
          </p:cNvPr>
          <p:cNvSpPr>
            <a:spLocks xmlns:a="http://schemas.openxmlformats.org/drawingml/2006/main" noGrp="1"/>
          </p:cNvSpPr>
          <p:nvPr/>
        </p:nvSpPr>
        <p:spPr>
          <a:xfrm xmlns:a="http://schemas.openxmlformats.org/drawingml/2006/main">
            <a:off x="666750" y="7200900"/>
            <a:ext cx="3253740" cy="2457450"/>
          </a:xfrm>
          <a:prstGeom xmlns:a="http://schemas.openxmlformats.org/drawingml/2006/main" prst="roundRect">
            <a:avLst>
              <a:gd name="adj" fmla="val 4651"/>
            </a:avLst>
          </a:prstGeom>
          <a:solidFill xmlns:a="http://schemas.openxmlformats.org/drawingml/2006/main">
            <a:srgbClr val="EEF5F5"/>
          </a:solidFill>
        </p:spPr>
      </p:sp>
      <p:sp>
        <p:nvSpPr>
          <p:cNvPr id="6" name="">
            <a:extLst xmlns:a="http://schemas.openxmlformats.org/drawingml/2006/main">
              <a:ext uri="{FF2B5EF4-FFF2-40B4-BE49-F238E27FC236}">
                <a16:creationId xmlns:a16="http://schemas.microsoft.com/office/drawing/2014/main" id="{F48F5DFD-2853-4FCB-9B6C-557ED8DDBD00}"/>
              </a:ext>
            </a:extLst>
          </p:cNvPr>
          <p:cNvSpPr>
            <a:spLocks xmlns:a="http://schemas.openxmlformats.org/drawingml/2006/main" noGrp="1"/>
          </p:cNvSpPr>
          <p:nvPr/>
        </p:nvSpPr>
        <p:spPr>
          <a:xfrm xmlns:a="http://schemas.openxmlformats.org/drawingml/2006/main">
            <a:off x="857250" y="7581900"/>
            <a:ext cx="2914650" cy="3143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Bands</a:t>
            </a:r>
          </a:p>
        </p:txBody>
      </p:sp>
      <p:sp>
        <p:nvSpPr>
          <p:cNvPr id="7" name="">
            <a:extLst xmlns:a="http://schemas.openxmlformats.org/drawingml/2006/main">
              <a:ext uri="{FF2B5EF4-FFF2-40B4-BE49-F238E27FC236}">
                <a16:creationId xmlns:a16="http://schemas.microsoft.com/office/drawing/2014/main" id="{F26D782B-23A4-4288-85A1-A47A64C6A00C}"/>
              </a:ext>
            </a:extLst>
          </p:cNvPr>
          <p:cNvSpPr>
            <a:spLocks xmlns:a="http://schemas.openxmlformats.org/drawingml/2006/main" noGrp="1"/>
          </p:cNvSpPr>
          <p:nvPr/>
        </p:nvSpPr>
        <p:spPr>
          <a:xfrm xmlns:a="http://schemas.openxmlformats.org/drawingml/2006/main">
            <a:off x="857250" y="7962900"/>
            <a:ext cx="2914650" cy="1314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4 bands, 2-bit urgency each (BAND_CONFIG). 10-bit key: urgency · priority in band · inverted ID, so the lower ID wins ties.</a:t>
            </a:r>
          </a:p>
        </p:txBody>
      </p:sp>
      <p:sp>
        <p:nvSpPr>
          <p:cNvPr id="8" name="">
            <a:extLst xmlns:a="http://schemas.openxmlformats.org/drawingml/2006/main">
              <a:ext uri="{FF2B5EF4-FFF2-40B4-BE49-F238E27FC236}">
                <a16:creationId xmlns:a16="http://schemas.microsoft.com/office/drawing/2014/main" id="{72AD0E5C-6B8F-47FA-B208-10ED1D519CC7}"/>
              </a:ext>
            </a:extLst>
          </p:cNvPr>
          <p:cNvSpPr>
            <a:spLocks xmlns:a="http://schemas.openxmlformats.org/drawingml/2006/main" noGrp="1"/>
          </p:cNvSpPr>
          <p:nvPr/>
        </p:nvSpPr>
        <p:spPr>
          <a:xfrm xmlns:a="http://schemas.openxmlformats.org/drawingml/2006/main">
            <a:off x="4091940" y="7200900"/>
            <a:ext cx="3253740" cy="2457450"/>
          </a:xfrm>
          <a:prstGeom xmlns:a="http://schemas.openxmlformats.org/drawingml/2006/main" prst="roundRect">
            <a:avLst>
              <a:gd name="adj" fmla="val 4651"/>
            </a:avLst>
          </a:prstGeom>
          <a:solidFill xmlns:a="http://schemas.openxmlformats.org/drawingml/2006/main">
            <a:srgbClr val="EEF5F5"/>
          </a:solidFill>
        </p:spPr>
      </p:sp>
      <p:sp>
        <p:nvSpPr>
          <p:cNvPr id="9" name="">
            <a:extLst xmlns:a="http://schemas.openxmlformats.org/drawingml/2006/main">
              <a:ext uri="{FF2B5EF4-FFF2-40B4-BE49-F238E27FC236}">
                <a16:creationId xmlns:a16="http://schemas.microsoft.com/office/drawing/2014/main" id="{E7167A69-B1F3-40A1-800B-D489DB27AB7E}"/>
              </a:ext>
            </a:extLst>
          </p:cNvPr>
          <p:cNvSpPr>
            <a:spLocks xmlns:a="http://schemas.openxmlformats.org/drawingml/2006/main" noGrp="1"/>
          </p:cNvSpPr>
          <p:nvPr/>
        </p:nvSpPr>
        <p:spPr>
          <a:xfrm xmlns:a="http://schemas.openxmlformats.org/drawingml/2006/main">
            <a:off x="4286250" y="7715250"/>
            <a:ext cx="2914650" cy="3143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Reconfiguration</a:t>
            </a:r>
          </a:p>
        </p:txBody>
      </p:sp>
      <p:sp>
        <p:nvSpPr>
          <p:cNvPr id="10" name="">
            <a:extLst xmlns:a="http://schemas.openxmlformats.org/drawingml/2006/main">
              <a:ext uri="{FF2B5EF4-FFF2-40B4-BE49-F238E27FC236}">
                <a16:creationId xmlns:a16="http://schemas.microsoft.com/office/drawing/2014/main" id="{3D012FDB-1C78-41E5-A1D3-3173011FA04B}"/>
              </a:ext>
            </a:extLst>
          </p:cNvPr>
          <p:cNvSpPr>
            <a:spLocks xmlns:a="http://schemas.openxmlformats.org/drawingml/2006/main" noGrp="1"/>
          </p:cNvSpPr>
          <p:nvPr/>
        </p:nvSpPr>
        <p:spPr>
          <a:xfrm xmlns:a="http://schemas.openxmlformats.org/drawingml/2006/main">
            <a:off x="4286250" y="8096250"/>
            <a:ext cx="2914650" cy="1057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Claim pushes ID + key onto the stack. An active source keeps its saved key; a new band counts from its next request.</a:t>
            </a:r>
          </a:p>
        </p:txBody>
      </p:sp>
      <p:sp>
        <p:nvSpPr>
          <p:cNvPr id="11" name="">
            <a:extLst xmlns:a="http://schemas.openxmlformats.org/drawingml/2006/main">
              <a:ext uri="{FF2B5EF4-FFF2-40B4-BE49-F238E27FC236}">
                <a16:creationId xmlns:a16="http://schemas.microsoft.com/office/drawing/2014/main" id="{EA449DB6-5616-4DBF-AACD-640B94AFC357}"/>
              </a:ext>
            </a:extLst>
          </p:cNvPr>
          <p:cNvSpPr>
            <a:spLocks xmlns:a="http://schemas.openxmlformats.org/drawingml/2006/main" noGrp="1"/>
          </p:cNvSpPr>
          <p:nvPr/>
        </p:nvSpPr>
        <p:spPr>
          <a:xfrm xmlns:a="http://schemas.openxmlformats.org/drawingml/2006/main">
            <a:off x="7517130" y="7200900"/>
            <a:ext cx="3253740" cy="2457450"/>
          </a:xfrm>
          <a:prstGeom xmlns:a="http://schemas.openxmlformats.org/drawingml/2006/main" prst="roundRect">
            <a:avLst>
              <a:gd name="adj" fmla="val 4651"/>
            </a:avLst>
          </a:prstGeom>
          <a:solidFill xmlns:a="http://schemas.openxmlformats.org/drawingml/2006/main">
            <a:srgbClr val="EEF5F5"/>
          </a:solidFill>
        </p:spPr>
      </p:sp>
      <p:sp>
        <p:nvSpPr>
          <p:cNvPr id="12" name="">
            <a:extLst xmlns:a="http://schemas.openxmlformats.org/drawingml/2006/main">
              <a:ext uri="{FF2B5EF4-FFF2-40B4-BE49-F238E27FC236}">
                <a16:creationId xmlns:a16="http://schemas.microsoft.com/office/drawing/2014/main" id="{4F30E416-4FF9-489E-A6E2-053A5D00985F}"/>
              </a:ext>
            </a:extLst>
          </p:cNvPr>
          <p:cNvSpPr>
            <a:spLocks xmlns:a="http://schemas.openxmlformats.org/drawingml/2006/main" noGrp="1"/>
          </p:cNvSpPr>
          <p:nvPr/>
        </p:nvSpPr>
        <p:spPr>
          <a:xfrm xmlns:a="http://schemas.openxmlformats.org/drawingml/2006/main">
            <a:off x="7705725" y="7715250"/>
            <a:ext cx="2914650" cy="3143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Nesting</a:t>
            </a:r>
          </a:p>
        </p:txBody>
      </p:sp>
      <p:sp>
        <p:nvSpPr>
          <p:cNvPr id="13" name="">
            <a:extLst xmlns:a="http://schemas.openxmlformats.org/drawingml/2006/main">
              <a:ext uri="{FF2B5EF4-FFF2-40B4-BE49-F238E27FC236}">
                <a16:creationId xmlns:a16="http://schemas.microsoft.com/office/drawing/2014/main" id="{9B96886E-050E-463D-B9AC-C31156142E9B}"/>
              </a:ext>
            </a:extLst>
          </p:cNvPr>
          <p:cNvSpPr>
            <a:spLocks xmlns:a="http://schemas.openxmlformats.org/drawingml/2006/main" noGrp="1"/>
          </p:cNvSpPr>
          <p:nvPr/>
        </p:nvSpPr>
        <p:spPr>
          <a:xfrm xmlns:a="http://schemas.openxmlformats.org/drawingml/2006/main">
            <a:off x="7705725" y="8096250"/>
            <a:ext cx="2914650" cy="1057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16-entry stack, NEST_MAX 1–16 (reset 8). Only a strictly higher key preempts; at the limit no offer, overflow flag.</a:t>
            </a:r>
          </a:p>
        </p:txBody>
      </p:sp>
      <p:sp>
        <p:nvSpPr>
          <p:cNvPr id="14" name="">
            <a:extLst xmlns:a="http://schemas.openxmlformats.org/drawingml/2006/main">
              <a:ext uri="{FF2B5EF4-FFF2-40B4-BE49-F238E27FC236}">
                <a16:creationId xmlns:a16="http://schemas.microsoft.com/office/drawing/2014/main" id="{99740608-B5D5-4765-9A8B-974071B8E46A}"/>
              </a:ext>
            </a:extLst>
          </p:cNvPr>
          <p:cNvSpPr>
            <a:spLocks xmlns:a="http://schemas.openxmlformats.org/drawingml/2006/main" noGrp="1"/>
          </p:cNvSpPr>
          <p:nvPr/>
        </p:nvSpPr>
        <p:spPr>
          <a:xfrm xmlns:a="http://schemas.openxmlformats.org/drawingml/2006/main">
            <a:off x="10942320" y="7200900"/>
            <a:ext cx="3253740" cy="2457450"/>
          </a:xfrm>
          <a:prstGeom xmlns:a="http://schemas.openxmlformats.org/drawingml/2006/main" prst="roundRect">
            <a:avLst>
              <a:gd name="adj" fmla="val 4651"/>
            </a:avLst>
          </a:prstGeom>
          <a:solidFill xmlns:a="http://schemas.openxmlformats.org/drawingml/2006/main">
            <a:srgbClr val="EEF5F5"/>
          </a:solidFill>
        </p:spPr>
      </p:sp>
      <p:sp>
        <p:nvSpPr>
          <p:cNvPr id="15" name="">
            <a:extLst xmlns:a="http://schemas.openxmlformats.org/drawingml/2006/main">
              <a:ext uri="{FF2B5EF4-FFF2-40B4-BE49-F238E27FC236}">
                <a16:creationId xmlns:a16="http://schemas.microsoft.com/office/drawing/2014/main" id="{9134B7CE-9945-40B7-ACBD-DC44212A737E}"/>
              </a:ext>
            </a:extLst>
          </p:cNvPr>
          <p:cNvSpPr>
            <a:spLocks xmlns:a="http://schemas.openxmlformats.org/drawingml/2006/main" noGrp="1"/>
          </p:cNvSpPr>
          <p:nvPr/>
        </p:nvSpPr>
        <p:spPr>
          <a:xfrm xmlns:a="http://schemas.openxmlformats.org/drawingml/2006/main">
            <a:off x="11134725" y="7715250"/>
            <a:ext cx="2914650" cy="3143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Spurious</a:t>
            </a:r>
          </a:p>
        </p:txBody>
      </p:sp>
      <p:sp>
        <p:nvSpPr>
          <p:cNvPr id="16" name="">
            <a:extLst xmlns:a="http://schemas.openxmlformats.org/drawingml/2006/main">
              <a:ext uri="{FF2B5EF4-FFF2-40B4-BE49-F238E27FC236}">
                <a16:creationId xmlns:a16="http://schemas.microsoft.com/office/drawing/2014/main" id="{562B7719-F0FB-4DC2-9DFC-6DA186696712}"/>
              </a:ext>
            </a:extLst>
          </p:cNvPr>
          <p:cNvSpPr>
            <a:spLocks xmlns:a="http://schemas.openxmlformats.org/drawingml/2006/main" noGrp="1"/>
          </p:cNvSpPr>
          <p:nvPr/>
        </p:nvSpPr>
        <p:spPr>
          <a:xfrm xmlns:a="http://schemas.openxmlformats.org/drawingml/2006/main">
            <a:off x="11134725" y="8096250"/>
            <a:ext cx="2914650" cy="1057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Detected at claim, when the request is gone. The level still opens and EOI closes it; logged in SPURIOUS_LOG.</a:t>
            </a:r>
          </a:p>
        </p:txBody>
      </p:sp>
      <p:sp>
        <p:nvSpPr>
          <p:cNvPr id="17" name="">
            <a:extLst xmlns:a="http://schemas.openxmlformats.org/drawingml/2006/main">
              <a:ext uri="{FF2B5EF4-FFF2-40B4-BE49-F238E27FC236}">
                <a16:creationId xmlns:a16="http://schemas.microsoft.com/office/drawing/2014/main" id="{3B7185D6-C40E-49DA-91DC-F9FD274FC7C6}"/>
              </a:ext>
            </a:extLst>
          </p:cNvPr>
          <p:cNvSpPr>
            <a:spLocks xmlns:a="http://schemas.openxmlformats.org/drawingml/2006/main" noGrp="1"/>
          </p:cNvSpPr>
          <p:nvPr/>
        </p:nvSpPr>
        <p:spPr>
          <a:xfrm xmlns:a="http://schemas.openxmlformats.org/drawingml/2006/main">
            <a:off x="14367510" y="7200900"/>
            <a:ext cx="3253740" cy="2457450"/>
          </a:xfrm>
          <a:prstGeom xmlns:a="http://schemas.openxmlformats.org/drawingml/2006/main" prst="roundRect">
            <a:avLst>
              <a:gd name="adj" fmla="val 4651"/>
            </a:avLst>
          </a:prstGeom>
          <a:solidFill xmlns:a="http://schemas.openxmlformats.org/drawingml/2006/main">
            <a:srgbClr val="EEF5F5"/>
          </a:solidFill>
        </p:spPr>
      </p:sp>
      <p:sp>
        <p:nvSpPr>
          <p:cNvPr id="18" name="">
            <a:extLst xmlns:a="http://schemas.openxmlformats.org/drawingml/2006/main">
              <a:ext uri="{FF2B5EF4-FFF2-40B4-BE49-F238E27FC236}">
                <a16:creationId xmlns:a16="http://schemas.microsoft.com/office/drawing/2014/main" id="{342AACA6-C9DC-403A-B9BB-C480267114BB}"/>
              </a:ext>
            </a:extLst>
          </p:cNvPr>
          <p:cNvSpPr>
            <a:spLocks xmlns:a="http://schemas.openxmlformats.org/drawingml/2006/main" noGrp="1"/>
          </p:cNvSpPr>
          <p:nvPr/>
        </p:nvSpPr>
        <p:spPr>
          <a:xfrm xmlns:a="http://schemas.openxmlformats.org/drawingml/2006/main">
            <a:off x="14554200" y="7715250"/>
            <a:ext cx="2914650" cy="3143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Escalation</a:t>
            </a:r>
          </a:p>
        </p:txBody>
      </p:sp>
      <p:sp>
        <p:nvSpPr>
          <p:cNvPr id="19" name="">
            <a:extLst xmlns:a="http://schemas.openxmlformats.org/drawingml/2006/main">
              <a:ext uri="{FF2B5EF4-FFF2-40B4-BE49-F238E27FC236}">
                <a16:creationId xmlns:a16="http://schemas.microsoft.com/office/drawing/2014/main" id="{84191392-CEFC-446D-8E84-DA0C781C9BB6}"/>
              </a:ext>
            </a:extLst>
          </p:cNvPr>
          <p:cNvSpPr>
            <a:spLocks xmlns:a="http://schemas.openxmlformats.org/drawingml/2006/main" noGrp="1"/>
          </p:cNvSpPr>
          <p:nvPr/>
        </p:nvSpPr>
        <p:spPr>
          <a:xfrm xmlns:a="http://schemas.openxmlformats.org/drawingml/2006/main">
            <a:off x="14554200" y="8096250"/>
            <a:ext cx="2914650" cy="1057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16-bit deadline counter per source. On a miss: jump to a target band or one urgency step up; optional repeat.</a:t>
            </a:r>
          </a:p>
        </p:txBody>
      </p:sp>
      <p:sp>
        <p:nvSpPr>
          <p:cNvPr id="20" name="footer">
            <a:extLst xmlns:a="http://schemas.openxmlformats.org/drawingml/2006/main">
              <a:ext uri="{FF2B5EF4-FFF2-40B4-BE49-F238E27FC236}">
                <a16:creationId xmlns:a16="http://schemas.microsoft.com/office/drawing/2014/main" id="{397CD62E-DC52-40F1-B4D7-7E7D20E83E37}"/>
              </a:ext>
            </a:extLst>
          </p:cNvPr>
          <p:cNvSpPr>
            <a:spLocks xmlns:a="http://schemas.openxmlformats.org/drawingml/2006/main" noGrp="1"/>
          </p:cNvSpPr>
          <p:nvPr/>
        </p:nvSpPr>
        <p:spPr>
          <a:xfrm xmlns:a="http://schemas.openxmlformats.org/drawingml/2006/main">
            <a:off x="666750" y="979170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PIC   ·   03 / 07   ·   Architecture and decisions</a:t>
            </a:r>
          </a:p>
        </p:txBody>
      </p:sp>
    </p:spTree>
    <p:extLst>
      <p:ext uri="{BB962C8B-B14F-4D97-AF65-F5344CB8AC3E}">
        <p14:creationId xmlns:p14="http://schemas.microsoft.com/office/powerpoint/2010/main" val="107919383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716AD67C-B937-4085-B7E5-47F060E570E7}"/>
              </a:ext>
            </a:extLst>
          </p:cNvPr>
          <p:cNvSpPr>
            <a:spLocks xmlns:a="http://schemas.openxmlformats.org/drawingml/2006/main" noGrp="1"/>
          </p:cNvSpPr>
          <p:nvPr/>
        </p:nvSpPr>
        <p:spPr>
          <a:xfrm xmlns:a="http://schemas.openxmlformats.org/drawingml/2006/main">
            <a:off x="666750" y="381000"/>
            <a:ext cx="169545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73442"/>
                </a:solidFill>
              </a:defRPr>
            </a:pPr>
            <a:r>
              <a:rPr sz="3600" b="1">
                <a:solidFill>
                  <a:srgbClr val="173442"/>
                </a:solidFill>
              </a:rPr>
              <a:t>The registers set the policy and make the state observable</a:t>
            </a:r>
          </a:p>
        </p:txBody>
      </p:sp>
      <p:sp>
        <p:nvSpPr>
          <p:cNvPr id="2" name="">
            <a:extLst xmlns:a="http://schemas.openxmlformats.org/drawingml/2006/main">
              <a:ext uri="{FF2B5EF4-FFF2-40B4-BE49-F238E27FC236}">
                <a16:creationId xmlns:a16="http://schemas.microsoft.com/office/drawing/2014/main" id="{883D59D2-A3E7-4038-BFAC-186AE74918DE}"/>
              </a:ext>
            </a:extLst>
          </p:cNvPr>
          <p:cNvSpPr>
            <a:spLocks xmlns:a="http://schemas.openxmlformats.org/drawingml/2006/main" noGrp="1"/>
          </p:cNvSpPr>
          <p:nvPr/>
        </p:nvSpPr>
        <p:spPr>
          <a:xfrm xmlns:a="http://schemas.openxmlformats.org/drawingml/2006/main">
            <a:off x="666750" y="10477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
            <a:extLst xmlns:a="http://schemas.openxmlformats.org/drawingml/2006/main">
              <a:ext uri="{FF2B5EF4-FFF2-40B4-BE49-F238E27FC236}">
                <a16:creationId xmlns:a16="http://schemas.microsoft.com/office/drawing/2014/main" id="{15B2D8C9-E04F-40B8-8A68-48C5D16C1BF7}"/>
              </a:ext>
            </a:extLst>
          </p:cNvPr>
          <p:cNvSpPr>
            <a:spLocks xmlns:a="http://schemas.openxmlformats.org/drawingml/2006/main" noGrp="1"/>
          </p:cNvSpPr>
          <p:nvPr/>
        </p:nvSpPr>
        <p:spPr>
          <a:xfrm xmlns:a="http://schemas.openxmlformats.org/drawingml/2006/main">
            <a:off x="876300" y="1381125"/>
            <a:ext cx="4495800" cy="2762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526772"/>
                </a:solidFill>
              </a:defRPr>
            </a:pPr>
            <a:r>
              <a:rPr sz="1800" b="1">
                <a:solidFill>
                  <a:srgbClr val="526772"/>
                </a:solidFill>
              </a:rPr>
              <a:t>Register</a:t>
            </a:r>
          </a:p>
        </p:txBody>
      </p:sp>
      <p:sp>
        <p:nvSpPr>
          <p:cNvPr id="4" name="">
            <a:extLst xmlns:a="http://schemas.openxmlformats.org/drawingml/2006/main">
              <a:ext uri="{FF2B5EF4-FFF2-40B4-BE49-F238E27FC236}">
                <a16:creationId xmlns:a16="http://schemas.microsoft.com/office/drawing/2014/main" id="{FF7AEB6B-A885-4243-8515-AA7BC1BE9B6F}"/>
              </a:ext>
            </a:extLst>
          </p:cNvPr>
          <p:cNvSpPr>
            <a:spLocks xmlns:a="http://schemas.openxmlformats.org/drawingml/2006/main" noGrp="1"/>
          </p:cNvSpPr>
          <p:nvPr/>
        </p:nvSpPr>
        <p:spPr>
          <a:xfrm xmlns:a="http://schemas.openxmlformats.org/drawingml/2006/main">
            <a:off x="5753100" y="1381125"/>
            <a:ext cx="6210300" cy="2762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526772"/>
                </a:solidFill>
              </a:defRPr>
            </a:pPr>
            <a:r>
              <a:rPr sz="1800" b="1">
                <a:solidFill>
                  <a:srgbClr val="526772"/>
                </a:solidFill>
              </a:rPr>
              <a:t>What it does</a:t>
            </a:r>
          </a:p>
        </p:txBody>
      </p:sp>
      <p:sp>
        <p:nvSpPr>
          <p:cNvPr id="5" name="">
            <a:extLst xmlns:a="http://schemas.openxmlformats.org/drawingml/2006/main">
              <a:ext uri="{FF2B5EF4-FFF2-40B4-BE49-F238E27FC236}">
                <a16:creationId xmlns:a16="http://schemas.microsoft.com/office/drawing/2014/main" id="{76378B48-0DAF-4267-A31A-8BE14A3B0CEC}"/>
              </a:ext>
            </a:extLst>
          </p:cNvPr>
          <p:cNvSpPr>
            <a:spLocks xmlns:a="http://schemas.openxmlformats.org/drawingml/2006/main" noGrp="1"/>
          </p:cNvSpPr>
          <p:nvPr/>
        </p:nvSpPr>
        <p:spPr>
          <a:xfrm xmlns:a="http://schemas.openxmlformats.org/drawingml/2006/main">
            <a:off x="666750" y="1762125"/>
            <a:ext cx="4873943" cy="835025"/>
          </a:xfrm>
          <a:prstGeom xmlns:a="http://schemas.openxmlformats.org/drawingml/2006/main" prst="rect">
            <a:avLst/>
          </a:prstGeom>
          <a:solidFill xmlns:a="http://schemas.openxmlformats.org/drawingml/2006/main">
            <a:srgbClr val="FFFFFF"/>
          </a:solidFill>
        </p:spPr>
      </p:sp>
      <p:sp>
        <p:nvSpPr>
          <p:cNvPr id="6" name="">
            <a:extLst xmlns:a="http://schemas.openxmlformats.org/drawingml/2006/main">
              <a:ext uri="{FF2B5EF4-FFF2-40B4-BE49-F238E27FC236}">
                <a16:creationId xmlns:a16="http://schemas.microsoft.com/office/drawing/2014/main" id="{E25B485B-B3C7-4CE0-9594-6CB61C489175}"/>
              </a:ext>
            </a:extLst>
          </p:cNvPr>
          <p:cNvSpPr>
            <a:spLocks xmlns:a="http://schemas.openxmlformats.org/drawingml/2006/main" noGrp="1"/>
          </p:cNvSpPr>
          <p:nvPr/>
        </p:nvSpPr>
        <p:spPr>
          <a:xfrm xmlns:a="http://schemas.openxmlformats.org/drawingml/2006/main">
            <a:off x="876300" y="2028825"/>
            <a:ext cx="44958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SRCx_CONFIG ×16</a:t>
            </a:r>
          </a:p>
        </p:txBody>
      </p:sp>
      <p:sp>
        <p:nvSpPr>
          <p:cNvPr id="7" name="">
            <a:extLst xmlns:a="http://schemas.openxmlformats.org/drawingml/2006/main">
              <a:ext uri="{FF2B5EF4-FFF2-40B4-BE49-F238E27FC236}">
                <a16:creationId xmlns:a16="http://schemas.microsoft.com/office/drawing/2014/main" id="{CAF0B1BA-1669-42F9-85FC-175B003FF9FC}"/>
              </a:ext>
            </a:extLst>
          </p:cNvPr>
          <p:cNvSpPr>
            <a:spLocks xmlns:a="http://schemas.openxmlformats.org/drawingml/2006/main" noGrp="1"/>
          </p:cNvSpPr>
          <p:nvPr/>
        </p:nvSpPr>
        <p:spPr>
          <a:xfrm xmlns:a="http://schemas.openxmlformats.org/drawingml/2006/main">
            <a:off x="5540693" y="1762125"/>
            <a:ext cx="6594158" cy="835025"/>
          </a:xfrm>
          <a:prstGeom xmlns:a="http://schemas.openxmlformats.org/drawingml/2006/main" prst="rect">
            <a:avLst/>
          </a:prstGeom>
          <a:solidFill xmlns:a="http://schemas.openxmlformats.org/drawingml/2006/main">
            <a:srgbClr val="FFFFFF"/>
          </a:solidFill>
        </p:spPr>
      </p:sp>
      <p:sp>
        <p:nvSpPr>
          <p:cNvPr id="8" name="">
            <a:extLst xmlns:a="http://schemas.openxmlformats.org/drawingml/2006/main">
              <a:ext uri="{FF2B5EF4-FFF2-40B4-BE49-F238E27FC236}">
                <a16:creationId xmlns:a16="http://schemas.microsoft.com/office/drawing/2014/main" id="{96D5D760-C103-4998-835F-A487E0C3C157}"/>
              </a:ext>
            </a:extLst>
          </p:cNvPr>
          <p:cNvSpPr>
            <a:spLocks xmlns:a="http://schemas.openxmlformats.org/drawingml/2006/main" noGrp="1"/>
          </p:cNvSpPr>
          <p:nvPr/>
        </p:nvSpPr>
        <p:spPr>
          <a:xfrm xmlns:a="http://schemas.openxmlformats.org/drawingml/2006/main">
            <a:off x="5753100" y="2028825"/>
            <a:ext cx="6210300" cy="295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173442"/>
                </a:solidFill>
              </a:defRPr>
            </a:pPr>
            <a:r>
              <a:rPr sz="1950" b="0">
                <a:solidFill>
                  <a:srgbClr val="173442"/>
                </a:solidFill>
              </a:rPr>
              <a:t>Level / edge, band, priority in band, 16-bit deadline</a:t>
            </a:r>
          </a:p>
        </p:txBody>
      </p:sp>
      <p:sp>
        <p:nvSpPr>
          <p:cNvPr id="9" name="">
            <a:extLst xmlns:a="http://schemas.openxmlformats.org/drawingml/2006/main">
              <a:ext uri="{FF2B5EF4-FFF2-40B4-BE49-F238E27FC236}">
                <a16:creationId xmlns:a16="http://schemas.microsoft.com/office/drawing/2014/main" id="{842D81C6-6A57-401F-914C-879C168E158F}"/>
              </a:ext>
            </a:extLst>
          </p:cNvPr>
          <p:cNvSpPr>
            <a:spLocks xmlns:a="http://schemas.openxmlformats.org/drawingml/2006/main" noGrp="1"/>
          </p:cNvSpPr>
          <p:nvPr/>
        </p:nvSpPr>
        <p:spPr>
          <a:xfrm xmlns:a="http://schemas.openxmlformats.org/drawingml/2006/main">
            <a:off x="666750" y="2644775"/>
            <a:ext cx="4873943" cy="835025"/>
          </a:xfrm>
          <a:prstGeom xmlns:a="http://schemas.openxmlformats.org/drawingml/2006/main" prst="rect">
            <a:avLst/>
          </a:prstGeom>
          <a:solidFill xmlns:a="http://schemas.openxmlformats.org/drawingml/2006/main">
            <a:srgbClr val="F5F9F9"/>
          </a:solidFill>
        </p:spPr>
      </p:sp>
      <p:sp>
        <p:nvSpPr>
          <p:cNvPr id="10" name="">
            <a:extLst xmlns:a="http://schemas.openxmlformats.org/drawingml/2006/main">
              <a:ext uri="{FF2B5EF4-FFF2-40B4-BE49-F238E27FC236}">
                <a16:creationId xmlns:a16="http://schemas.microsoft.com/office/drawing/2014/main" id="{293379F0-4CE1-4324-99AD-0D8340F14156}"/>
              </a:ext>
            </a:extLst>
          </p:cNvPr>
          <p:cNvSpPr>
            <a:spLocks xmlns:a="http://schemas.openxmlformats.org/drawingml/2006/main" noGrp="1"/>
          </p:cNvSpPr>
          <p:nvPr/>
        </p:nvSpPr>
        <p:spPr>
          <a:xfrm xmlns:a="http://schemas.openxmlformats.org/drawingml/2006/main">
            <a:off x="876300" y="2914650"/>
            <a:ext cx="44958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SRCx_SW_TRIG ×16</a:t>
            </a:r>
          </a:p>
        </p:txBody>
      </p:sp>
      <p:sp>
        <p:nvSpPr>
          <p:cNvPr id="11" name="">
            <a:extLst xmlns:a="http://schemas.openxmlformats.org/drawingml/2006/main">
              <a:ext uri="{FF2B5EF4-FFF2-40B4-BE49-F238E27FC236}">
                <a16:creationId xmlns:a16="http://schemas.microsoft.com/office/drawing/2014/main" id="{AF975944-0D38-4836-83DC-820D907C6BFC}"/>
              </a:ext>
            </a:extLst>
          </p:cNvPr>
          <p:cNvSpPr>
            <a:spLocks xmlns:a="http://schemas.openxmlformats.org/drawingml/2006/main" noGrp="1"/>
          </p:cNvSpPr>
          <p:nvPr/>
        </p:nvSpPr>
        <p:spPr>
          <a:xfrm xmlns:a="http://schemas.openxmlformats.org/drawingml/2006/main">
            <a:off x="5540693" y="2644775"/>
            <a:ext cx="6594158" cy="835025"/>
          </a:xfrm>
          <a:prstGeom xmlns:a="http://schemas.openxmlformats.org/drawingml/2006/main" prst="rect">
            <a:avLst/>
          </a:prstGeom>
          <a:solidFill xmlns:a="http://schemas.openxmlformats.org/drawingml/2006/main">
            <a:srgbClr val="F5F9F9"/>
          </a:solidFill>
        </p:spPr>
      </p:sp>
      <p:sp>
        <p:nvSpPr>
          <p:cNvPr id="12" name="">
            <a:extLst xmlns:a="http://schemas.openxmlformats.org/drawingml/2006/main">
              <a:ext uri="{FF2B5EF4-FFF2-40B4-BE49-F238E27FC236}">
                <a16:creationId xmlns:a16="http://schemas.microsoft.com/office/drawing/2014/main" id="{85DF7C09-3E4F-47F5-9483-05AEE1EF758A}"/>
              </a:ext>
            </a:extLst>
          </p:cNvPr>
          <p:cNvSpPr>
            <a:spLocks xmlns:a="http://schemas.openxmlformats.org/drawingml/2006/main" noGrp="1"/>
          </p:cNvSpPr>
          <p:nvPr/>
        </p:nvSpPr>
        <p:spPr>
          <a:xfrm xmlns:a="http://schemas.openxmlformats.org/drawingml/2006/main">
            <a:off x="5753100" y="2771775"/>
            <a:ext cx="621030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173442"/>
                </a:solidFill>
              </a:defRPr>
            </a:pPr>
            <a:r>
              <a:rPr sz="1950" b="0">
                <a:solidFill>
                  <a:srgbClr val="173442"/>
                </a:solidFill>
              </a:rPr>
              <a:t>Software request: key 0xA5A5 + both upper strobes; cleared by claim or write</a:t>
            </a:r>
          </a:p>
        </p:txBody>
      </p:sp>
      <p:sp>
        <p:nvSpPr>
          <p:cNvPr id="13" name="">
            <a:extLst xmlns:a="http://schemas.openxmlformats.org/drawingml/2006/main">
              <a:ext uri="{FF2B5EF4-FFF2-40B4-BE49-F238E27FC236}">
                <a16:creationId xmlns:a16="http://schemas.microsoft.com/office/drawing/2014/main" id="{FA92B518-B1BF-46C4-93DE-F7D5A680E036}"/>
              </a:ext>
            </a:extLst>
          </p:cNvPr>
          <p:cNvSpPr>
            <a:spLocks xmlns:a="http://schemas.openxmlformats.org/drawingml/2006/main" noGrp="1"/>
          </p:cNvSpPr>
          <p:nvPr/>
        </p:nvSpPr>
        <p:spPr>
          <a:xfrm xmlns:a="http://schemas.openxmlformats.org/drawingml/2006/main">
            <a:off x="666750" y="3527425"/>
            <a:ext cx="4873943" cy="835025"/>
          </a:xfrm>
          <a:prstGeom xmlns:a="http://schemas.openxmlformats.org/drawingml/2006/main" prst="rect">
            <a:avLst/>
          </a:prstGeom>
          <a:solidFill xmlns:a="http://schemas.openxmlformats.org/drawingml/2006/main">
            <a:srgbClr val="FFFFFF"/>
          </a:solidFill>
        </p:spPr>
      </p:sp>
      <p:sp>
        <p:nvSpPr>
          <p:cNvPr id="14" name="">
            <a:extLst xmlns:a="http://schemas.openxmlformats.org/drawingml/2006/main">
              <a:ext uri="{FF2B5EF4-FFF2-40B4-BE49-F238E27FC236}">
                <a16:creationId xmlns:a16="http://schemas.microsoft.com/office/drawing/2014/main" id="{19674482-A377-4F74-BC20-F724E30B04F0}"/>
              </a:ext>
            </a:extLst>
          </p:cNvPr>
          <p:cNvSpPr>
            <a:spLocks xmlns:a="http://schemas.openxmlformats.org/drawingml/2006/main" noGrp="1"/>
          </p:cNvSpPr>
          <p:nvPr/>
        </p:nvSpPr>
        <p:spPr>
          <a:xfrm xmlns:a="http://schemas.openxmlformats.org/drawingml/2006/main">
            <a:off x="876300" y="3790950"/>
            <a:ext cx="44958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SRCx_STATUS ×16</a:t>
            </a:r>
          </a:p>
        </p:txBody>
      </p:sp>
      <p:sp>
        <p:nvSpPr>
          <p:cNvPr id="15" name="">
            <a:extLst xmlns:a="http://schemas.openxmlformats.org/drawingml/2006/main">
              <a:ext uri="{FF2B5EF4-FFF2-40B4-BE49-F238E27FC236}">
                <a16:creationId xmlns:a16="http://schemas.microsoft.com/office/drawing/2014/main" id="{5C259F88-9629-45AC-9544-EBF0622A9CC1}"/>
              </a:ext>
            </a:extLst>
          </p:cNvPr>
          <p:cNvSpPr>
            <a:spLocks xmlns:a="http://schemas.openxmlformats.org/drawingml/2006/main" noGrp="1"/>
          </p:cNvSpPr>
          <p:nvPr/>
        </p:nvSpPr>
        <p:spPr>
          <a:xfrm xmlns:a="http://schemas.openxmlformats.org/drawingml/2006/main">
            <a:off x="5540693" y="3527425"/>
            <a:ext cx="6594158" cy="835025"/>
          </a:xfrm>
          <a:prstGeom xmlns:a="http://schemas.openxmlformats.org/drawingml/2006/main" prst="rect">
            <a:avLst/>
          </a:prstGeom>
          <a:solidFill xmlns:a="http://schemas.openxmlformats.org/drawingml/2006/main">
            <a:srgbClr val="FFFFFF"/>
          </a:solidFill>
        </p:spPr>
      </p:sp>
      <p:sp>
        <p:nvSpPr>
          <p:cNvPr id="16" name="">
            <a:extLst xmlns:a="http://schemas.openxmlformats.org/drawingml/2006/main">
              <a:ext uri="{FF2B5EF4-FFF2-40B4-BE49-F238E27FC236}">
                <a16:creationId xmlns:a16="http://schemas.microsoft.com/office/drawing/2014/main" id="{9DC7B4C5-34E2-4888-8C1C-DDE6D0DBCE39}"/>
              </a:ext>
            </a:extLst>
          </p:cNvPr>
          <p:cNvSpPr>
            <a:spLocks xmlns:a="http://schemas.openxmlformats.org/drawingml/2006/main" noGrp="1"/>
          </p:cNvSpPr>
          <p:nvPr/>
        </p:nvSpPr>
        <p:spPr>
          <a:xfrm xmlns:a="http://schemas.openxmlformats.org/drawingml/2006/main">
            <a:off x="5753100" y="3648075"/>
            <a:ext cx="621030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173442"/>
                </a:solidFill>
              </a:defRPr>
            </a:pPr>
            <a:r>
              <a:rPr sz="1950" b="0">
                <a:solidFill>
                  <a:srgbClr val="173442"/>
                </a:solidFill>
              </a:rPr>
              <a:t>Pending, active, escalated, spurious, elapsed cycles, effective band</a:t>
            </a:r>
          </a:p>
        </p:txBody>
      </p:sp>
      <p:sp>
        <p:nvSpPr>
          <p:cNvPr id="17" name="">
            <a:extLst xmlns:a="http://schemas.openxmlformats.org/drawingml/2006/main">
              <a:ext uri="{FF2B5EF4-FFF2-40B4-BE49-F238E27FC236}">
                <a16:creationId xmlns:a16="http://schemas.microsoft.com/office/drawing/2014/main" id="{700DB838-85EF-49AF-8C5C-C133C78A50C1}"/>
              </a:ext>
            </a:extLst>
          </p:cNvPr>
          <p:cNvSpPr>
            <a:spLocks xmlns:a="http://schemas.openxmlformats.org/drawingml/2006/main" noGrp="1"/>
          </p:cNvSpPr>
          <p:nvPr/>
        </p:nvSpPr>
        <p:spPr>
          <a:xfrm xmlns:a="http://schemas.openxmlformats.org/drawingml/2006/main">
            <a:off x="666750" y="4410075"/>
            <a:ext cx="4873943" cy="835025"/>
          </a:xfrm>
          <a:prstGeom xmlns:a="http://schemas.openxmlformats.org/drawingml/2006/main" prst="rect">
            <a:avLst/>
          </a:prstGeom>
          <a:solidFill xmlns:a="http://schemas.openxmlformats.org/drawingml/2006/main">
            <a:srgbClr val="F5F9F9"/>
          </a:solidFill>
        </p:spPr>
      </p:sp>
      <p:sp>
        <p:nvSpPr>
          <p:cNvPr id="18" name="">
            <a:extLst xmlns:a="http://schemas.openxmlformats.org/drawingml/2006/main">
              <a:ext uri="{FF2B5EF4-FFF2-40B4-BE49-F238E27FC236}">
                <a16:creationId xmlns:a16="http://schemas.microsoft.com/office/drawing/2014/main" id="{96A95CE8-4512-40C5-A42F-320F8AC25F45}"/>
              </a:ext>
            </a:extLst>
          </p:cNvPr>
          <p:cNvSpPr>
            <a:spLocks xmlns:a="http://schemas.openxmlformats.org/drawingml/2006/main" noGrp="1"/>
          </p:cNvSpPr>
          <p:nvPr/>
        </p:nvSpPr>
        <p:spPr>
          <a:xfrm xmlns:a="http://schemas.openxmlformats.org/drawingml/2006/main">
            <a:off x="876300" y="4676775"/>
            <a:ext cx="44958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BAND_CONFIG</a:t>
            </a:r>
          </a:p>
        </p:txBody>
      </p:sp>
      <p:sp>
        <p:nvSpPr>
          <p:cNvPr id="19" name="">
            <a:extLst xmlns:a="http://schemas.openxmlformats.org/drawingml/2006/main">
              <a:ext uri="{FF2B5EF4-FFF2-40B4-BE49-F238E27FC236}">
                <a16:creationId xmlns:a16="http://schemas.microsoft.com/office/drawing/2014/main" id="{9CE7949E-0490-4286-98FF-8858484B75D3}"/>
              </a:ext>
            </a:extLst>
          </p:cNvPr>
          <p:cNvSpPr>
            <a:spLocks xmlns:a="http://schemas.openxmlformats.org/drawingml/2006/main" noGrp="1"/>
          </p:cNvSpPr>
          <p:nvPr/>
        </p:nvSpPr>
        <p:spPr>
          <a:xfrm xmlns:a="http://schemas.openxmlformats.org/drawingml/2006/main">
            <a:off x="5540693" y="4410075"/>
            <a:ext cx="6594158" cy="835025"/>
          </a:xfrm>
          <a:prstGeom xmlns:a="http://schemas.openxmlformats.org/drawingml/2006/main" prst="rect">
            <a:avLst/>
          </a:prstGeom>
          <a:solidFill xmlns:a="http://schemas.openxmlformats.org/drawingml/2006/main">
            <a:srgbClr val="F5F9F9"/>
          </a:solidFill>
        </p:spPr>
      </p:sp>
      <p:sp>
        <p:nvSpPr>
          <p:cNvPr id="20" name="">
            <a:extLst xmlns:a="http://schemas.openxmlformats.org/drawingml/2006/main">
              <a:ext uri="{FF2B5EF4-FFF2-40B4-BE49-F238E27FC236}">
                <a16:creationId xmlns:a16="http://schemas.microsoft.com/office/drawing/2014/main" id="{5323F1BD-E250-48D2-A512-545C4DD6D1D6}"/>
              </a:ext>
            </a:extLst>
          </p:cNvPr>
          <p:cNvSpPr>
            <a:spLocks xmlns:a="http://schemas.openxmlformats.org/drawingml/2006/main" noGrp="1"/>
          </p:cNvSpPr>
          <p:nvPr/>
        </p:nvSpPr>
        <p:spPr>
          <a:xfrm xmlns:a="http://schemas.openxmlformats.org/drawingml/2006/main">
            <a:off x="5753100" y="4676775"/>
            <a:ext cx="6210300" cy="295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173442"/>
                </a:solidFill>
              </a:defRPr>
            </a:pPr>
            <a:r>
              <a:rPr sz="1950" b="0">
                <a:solidFill>
                  <a:srgbClr val="173442"/>
                </a:solidFill>
              </a:rPr>
              <a:t>2-bit urgency for each of the 4 bands</a:t>
            </a:r>
          </a:p>
        </p:txBody>
      </p:sp>
      <p:sp>
        <p:nvSpPr>
          <p:cNvPr id="21" name="">
            <a:extLst xmlns:a="http://schemas.openxmlformats.org/drawingml/2006/main">
              <a:ext uri="{FF2B5EF4-FFF2-40B4-BE49-F238E27FC236}">
                <a16:creationId xmlns:a16="http://schemas.microsoft.com/office/drawing/2014/main" id="{4508D752-4545-4D21-8DD5-F78A4A3CC122}"/>
              </a:ext>
            </a:extLst>
          </p:cNvPr>
          <p:cNvSpPr>
            <a:spLocks xmlns:a="http://schemas.openxmlformats.org/drawingml/2006/main" noGrp="1"/>
          </p:cNvSpPr>
          <p:nvPr/>
        </p:nvSpPr>
        <p:spPr>
          <a:xfrm xmlns:a="http://schemas.openxmlformats.org/drawingml/2006/main">
            <a:off x="666750" y="5292725"/>
            <a:ext cx="4873943" cy="835025"/>
          </a:xfrm>
          <a:prstGeom xmlns:a="http://schemas.openxmlformats.org/drawingml/2006/main" prst="rect">
            <a:avLst/>
          </a:prstGeom>
          <a:solidFill xmlns:a="http://schemas.openxmlformats.org/drawingml/2006/main">
            <a:srgbClr val="FFFFFF"/>
          </a:solidFill>
        </p:spPr>
      </p:sp>
      <p:sp>
        <p:nvSpPr>
          <p:cNvPr id="22" name="">
            <a:extLst xmlns:a="http://schemas.openxmlformats.org/drawingml/2006/main">
              <a:ext uri="{FF2B5EF4-FFF2-40B4-BE49-F238E27FC236}">
                <a16:creationId xmlns:a16="http://schemas.microsoft.com/office/drawing/2014/main" id="{8DE08D8B-9C57-4E9C-91E4-16F01CFA9617}"/>
              </a:ext>
            </a:extLst>
          </p:cNvPr>
          <p:cNvSpPr>
            <a:spLocks xmlns:a="http://schemas.openxmlformats.org/drawingml/2006/main" noGrp="1"/>
          </p:cNvSpPr>
          <p:nvPr/>
        </p:nvSpPr>
        <p:spPr>
          <a:xfrm xmlns:a="http://schemas.openxmlformats.org/drawingml/2006/main">
            <a:off x="876300" y="5562600"/>
            <a:ext cx="44958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ESCALATION_CFG</a:t>
            </a:r>
          </a:p>
        </p:txBody>
      </p:sp>
      <p:sp>
        <p:nvSpPr>
          <p:cNvPr id="23" name="">
            <a:extLst xmlns:a="http://schemas.openxmlformats.org/drawingml/2006/main">
              <a:ext uri="{FF2B5EF4-FFF2-40B4-BE49-F238E27FC236}">
                <a16:creationId xmlns:a16="http://schemas.microsoft.com/office/drawing/2014/main" id="{85637AB8-449D-4177-8FA7-EB0A500C3697}"/>
              </a:ext>
            </a:extLst>
          </p:cNvPr>
          <p:cNvSpPr>
            <a:spLocks xmlns:a="http://schemas.openxmlformats.org/drawingml/2006/main" noGrp="1"/>
          </p:cNvSpPr>
          <p:nvPr/>
        </p:nvSpPr>
        <p:spPr>
          <a:xfrm xmlns:a="http://schemas.openxmlformats.org/drawingml/2006/main">
            <a:off x="5540693" y="5292725"/>
            <a:ext cx="6594158" cy="835025"/>
          </a:xfrm>
          <a:prstGeom xmlns:a="http://schemas.openxmlformats.org/drawingml/2006/main" prst="rect">
            <a:avLst/>
          </a:prstGeom>
          <a:solidFill xmlns:a="http://schemas.openxmlformats.org/drawingml/2006/main">
            <a:srgbClr val="FFFFFF"/>
          </a:solidFill>
        </p:spPr>
      </p:sp>
      <p:sp>
        <p:nvSpPr>
          <p:cNvPr id="24" name="">
            <a:extLst xmlns:a="http://schemas.openxmlformats.org/drawingml/2006/main">
              <a:ext uri="{FF2B5EF4-FFF2-40B4-BE49-F238E27FC236}">
                <a16:creationId xmlns:a16="http://schemas.microsoft.com/office/drawing/2014/main" id="{F68241D6-4349-44D4-9D98-0B1C79A4A973}"/>
              </a:ext>
            </a:extLst>
          </p:cNvPr>
          <p:cNvSpPr>
            <a:spLocks xmlns:a="http://schemas.openxmlformats.org/drawingml/2006/main" noGrp="1"/>
          </p:cNvSpPr>
          <p:nvPr/>
        </p:nvSpPr>
        <p:spPr>
          <a:xfrm xmlns:a="http://schemas.openxmlformats.org/drawingml/2006/main">
            <a:off x="5753100" y="5562600"/>
            <a:ext cx="6210300" cy="295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173442"/>
                </a:solidFill>
              </a:defRPr>
            </a:pPr>
            <a:r>
              <a:rPr sz="1950" b="0">
                <a:solidFill>
                  <a:srgbClr val="173442"/>
                </a:solidFill>
              </a:rPr>
              <a:t>Jump to a target band or one step up; single or repeated</a:t>
            </a:r>
          </a:p>
        </p:txBody>
      </p:sp>
      <p:sp>
        <p:nvSpPr>
          <p:cNvPr id="25" name="">
            <a:extLst xmlns:a="http://schemas.openxmlformats.org/drawingml/2006/main">
              <a:ext uri="{FF2B5EF4-FFF2-40B4-BE49-F238E27FC236}">
                <a16:creationId xmlns:a16="http://schemas.microsoft.com/office/drawing/2014/main" id="{B8A6771C-C6FE-475E-8A1F-E6848BFC8832}"/>
              </a:ext>
            </a:extLst>
          </p:cNvPr>
          <p:cNvSpPr>
            <a:spLocks xmlns:a="http://schemas.openxmlformats.org/drawingml/2006/main" noGrp="1"/>
          </p:cNvSpPr>
          <p:nvPr/>
        </p:nvSpPr>
        <p:spPr>
          <a:xfrm xmlns:a="http://schemas.openxmlformats.org/drawingml/2006/main">
            <a:off x="666750" y="6175375"/>
            <a:ext cx="4873943" cy="835025"/>
          </a:xfrm>
          <a:prstGeom xmlns:a="http://schemas.openxmlformats.org/drawingml/2006/main" prst="rect">
            <a:avLst/>
          </a:prstGeom>
          <a:solidFill xmlns:a="http://schemas.openxmlformats.org/drawingml/2006/main">
            <a:srgbClr val="F5F9F9"/>
          </a:solidFill>
        </p:spPr>
      </p:sp>
      <p:sp>
        <p:nvSpPr>
          <p:cNvPr id="26" name="">
            <a:extLst xmlns:a="http://schemas.openxmlformats.org/drawingml/2006/main">
              <a:ext uri="{FF2B5EF4-FFF2-40B4-BE49-F238E27FC236}">
                <a16:creationId xmlns:a16="http://schemas.microsoft.com/office/drawing/2014/main" id="{77F9995C-EC6E-474B-890A-43ECF4310672}"/>
              </a:ext>
            </a:extLst>
          </p:cNvPr>
          <p:cNvSpPr>
            <a:spLocks xmlns:a="http://schemas.openxmlformats.org/drawingml/2006/main" noGrp="1"/>
          </p:cNvSpPr>
          <p:nvPr/>
        </p:nvSpPr>
        <p:spPr>
          <a:xfrm xmlns:a="http://schemas.openxmlformats.org/drawingml/2006/main">
            <a:off x="876300" y="6438900"/>
            <a:ext cx="44958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NEST_MAX</a:t>
            </a:r>
          </a:p>
        </p:txBody>
      </p:sp>
      <p:sp>
        <p:nvSpPr>
          <p:cNvPr id="27" name="">
            <a:extLst xmlns:a="http://schemas.openxmlformats.org/drawingml/2006/main">
              <a:ext uri="{FF2B5EF4-FFF2-40B4-BE49-F238E27FC236}">
                <a16:creationId xmlns:a16="http://schemas.microsoft.com/office/drawing/2014/main" id="{070D56BC-AA60-417A-AB60-D21366859C1F}"/>
              </a:ext>
            </a:extLst>
          </p:cNvPr>
          <p:cNvSpPr>
            <a:spLocks xmlns:a="http://schemas.openxmlformats.org/drawingml/2006/main" noGrp="1"/>
          </p:cNvSpPr>
          <p:nvPr/>
        </p:nvSpPr>
        <p:spPr>
          <a:xfrm xmlns:a="http://schemas.openxmlformats.org/drawingml/2006/main">
            <a:off x="5540693" y="6175375"/>
            <a:ext cx="6594158" cy="835025"/>
          </a:xfrm>
          <a:prstGeom xmlns:a="http://schemas.openxmlformats.org/drawingml/2006/main" prst="rect">
            <a:avLst/>
          </a:prstGeom>
          <a:solidFill xmlns:a="http://schemas.openxmlformats.org/drawingml/2006/main">
            <a:srgbClr val="F5F9F9"/>
          </a:solidFill>
        </p:spPr>
      </p:sp>
      <p:sp>
        <p:nvSpPr>
          <p:cNvPr id="28" name="">
            <a:extLst xmlns:a="http://schemas.openxmlformats.org/drawingml/2006/main">
              <a:ext uri="{FF2B5EF4-FFF2-40B4-BE49-F238E27FC236}">
                <a16:creationId xmlns:a16="http://schemas.microsoft.com/office/drawing/2014/main" id="{C9312971-34B0-42C2-8F70-4AE5710070D6}"/>
              </a:ext>
            </a:extLst>
          </p:cNvPr>
          <p:cNvSpPr>
            <a:spLocks xmlns:a="http://schemas.openxmlformats.org/drawingml/2006/main" noGrp="1"/>
          </p:cNvSpPr>
          <p:nvPr/>
        </p:nvSpPr>
        <p:spPr>
          <a:xfrm xmlns:a="http://schemas.openxmlformats.org/drawingml/2006/main">
            <a:off x="5753100" y="6448425"/>
            <a:ext cx="6210300" cy="295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173442"/>
                </a:solidFill>
              </a:defRPr>
            </a:pPr>
            <a:r>
              <a:rPr sz="1950" b="0">
                <a:solidFill>
                  <a:srgbClr val="173442"/>
                </a:solidFill>
              </a:rPr>
              <a:t>Nesting limit 1–16, reset 8; out-of-range writes clamped</a:t>
            </a:r>
          </a:p>
        </p:txBody>
      </p:sp>
      <p:sp>
        <p:nvSpPr>
          <p:cNvPr id="29" name="">
            <a:extLst xmlns:a="http://schemas.openxmlformats.org/drawingml/2006/main">
              <a:ext uri="{FF2B5EF4-FFF2-40B4-BE49-F238E27FC236}">
                <a16:creationId xmlns:a16="http://schemas.microsoft.com/office/drawing/2014/main" id="{25677080-6631-4422-BEB9-FB99D7B3DD3D}"/>
              </a:ext>
            </a:extLst>
          </p:cNvPr>
          <p:cNvSpPr>
            <a:spLocks xmlns:a="http://schemas.openxmlformats.org/drawingml/2006/main" noGrp="1"/>
          </p:cNvSpPr>
          <p:nvPr/>
        </p:nvSpPr>
        <p:spPr>
          <a:xfrm xmlns:a="http://schemas.openxmlformats.org/drawingml/2006/main">
            <a:off x="666750" y="7058025"/>
            <a:ext cx="4873943" cy="835025"/>
          </a:xfrm>
          <a:prstGeom xmlns:a="http://schemas.openxmlformats.org/drawingml/2006/main" prst="rect">
            <a:avLst/>
          </a:prstGeom>
          <a:solidFill xmlns:a="http://schemas.openxmlformats.org/drawingml/2006/main">
            <a:srgbClr val="FFFFFF"/>
          </a:solidFill>
        </p:spPr>
      </p:sp>
      <p:sp>
        <p:nvSpPr>
          <p:cNvPr id="30" name="">
            <a:extLst xmlns:a="http://schemas.openxmlformats.org/drawingml/2006/main">
              <a:ext uri="{FF2B5EF4-FFF2-40B4-BE49-F238E27FC236}">
                <a16:creationId xmlns:a16="http://schemas.microsoft.com/office/drawing/2014/main" id="{335951C1-D34C-498F-891F-4B55F025D0AE}"/>
              </a:ext>
            </a:extLst>
          </p:cNvPr>
          <p:cNvSpPr>
            <a:spLocks xmlns:a="http://schemas.openxmlformats.org/drawingml/2006/main" noGrp="1"/>
          </p:cNvSpPr>
          <p:nvPr/>
        </p:nvSpPr>
        <p:spPr>
          <a:xfrm xmlns:a="http://schemas.openxmlformats.org/drawingml/2006/main">
            <a:off x="876300" y="7324725"/>
            <a:ext cx="44958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INT_ENABLE</a:t>
            </a:r>
          </a:p>
        </p:txBody>
      </p:sp>
      <p:sp>
        <p:nvSpPr>
          <p:cNvPr id="31" name="">
            <a:extLst xmlns:a="http://schemas.openxmlformats.org/drawingml/2006/main">
              <a:ext uri="{FF2B5EF4-FFF2-40B4-BE49-F238E27FC236}">
                <a16:creationId xmlns:a16="http://schemas.microsoft.com/office/drawing/2014/main" id="{84690B73-3B01-46C5-A725-0E7DA8A6B0C0}"/>
              </a:ext>
            </a:extLst>
          </p:cNvPr>
          <p:cNvSpPr>
            <a:spLocks xmlns:a="http://schemas.openxmlformats.org/drawingml/2006/main" noGrp="1"/>
          </p:cNvSpPr>
          <p:nvPr/>
        </p:nvSpPr>
        <p:spPr>
          <a:xfrm xmlns:a="http://schemas.openxmlformats.org/drawingml/2006/main">
            <a:off x="5540693" y="7058025"/>
            <a:ext cx="6594158" cy="835025"/>
          </a:xfrm>
          <a:prstGeom xmlns:a="http://schemas.openxmlformats.org/drawingml/2006/main" prst="rect">
            <a:avLst/>
          </a:prstGeom>
          <a:solidFill xmlns:a="http://schemas.openxmlformats.org/drawingml/2006/main">
            <a:srgbClr val="FFFFFF"/>
          </a:solidFill>
        </p:spPr>
      </p:sp>
      <p:sp>
        <p:nvSpPr>
          <p:cNvPr id="32" name="">
            <a:extLst xmlns:a="http://schemas.openxmlformats.org/drawingml/2006/main">
              <a:ext uri="{FF2B5EF4-FFF2-40B4-BE49-F238E27FC236}">
                <a16:creationId xmlns:a16="http://schemas.microsoft.com/office/drawing/2014/main" id="{D94CC59B-408D-4120-AD43-3D3B1B3C7BED}"/>
              </a:ext>
            </a:extLst>
          </p:cNvPr>
          <p:cNvSpPr>
            <a:spLocks xmlns:a="http://schemas.openxmlformats.org/drawingml/2006/main" noGrp="1"/>
          </p:cNvSpPr>
          <p:nvPr/>
        </p:nvSpPr>
        <p:spPr>
          <a:xfrm xmlns:a="http://schemas.openxmlformats.org/drawingml/2006/main">
            <a:off x="5753100" y="7324725"/>
            <a:ext cx="6210300" cy="295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173442"/>
                </a:solidFill>
              </a:defRPr>
            </a:pPr>
            <a:r>
              <a:rPr sz="1950" b="0">
                <a:solidFill>
                  <a:srgbClr val="173442"/>
                </a:solidFill>
              </a:rPr>
              <a:t>Per-source enable before arbitration</a:t>
            </a:r>
          </a:p>
        </p:txBody>
      </p:sp>
      <p:sp>
        <p:nvSpPr>
          <p:cNvPr id="33" name="">
            <a:extLst xmlns:a="http://schemas.openxmlformats.org/drawingml/2006/main">
              <a:ext uri="{FF2B5EF4-FFF2-40B4-BE49-F238E27FC236}">
                <a16:creationId xmlns:a16="http://schemas.microsoft.com/office/drawing/2014/main" id="{29FC4880-EF56-4E31-A0F4-7A397D1E02C5}"/>
              </a:ext>
            </a:extLst>
          </p:cNvPr>
          <p:cNvSpPr>
            <a:spLocks xmlns:a="http://schemas.openxmlformats.org/drawingml/2006/main" noGrp="1"/>
          </p:cNvSpPr>
          <p:nvPr/>
        </p:nvSpPr>
        <p:spPr>
          <a:xfrm xmlns:a="http://schemas.openxmlformats.org/drawingml/2006/main">
            <a:off x="666750" y="7940675"/>
            <a:ext cx="4873943" cy="835025"/>
          </a:xfrm>
          <a:prstGeom xmlns:a="http://schemas.openxmlformats.org/drawingml/2006/main" prst="rect">
            <a:avLst/>
          </a:prstGeom>
          <a:solidFill xmlns:a="http://schemas.openxmlformats.org/drawingml/2006/main">
            <a:srgbClr val="F5F9F9"/>
          </a:solidFill>
        </p:spPr>
      </p:sp>
      <p:sp>
        <p:nvSpPr>
          <p:cNvPr id="34" name="">
            <a:extLst xmlns:a="http://schemas.openxmlformats.org/drawingml/2006/main">
              <a:ext uri="{FF2B5EF4-FFF2-40B4-BE49-F238E27FC236}">
                <a16:creationId xmlns:a16="http://schemas.microsoft.com/office/drawing/2014/main" id="{6ED1A037-909C-4FE2-92E0-2F61B1516672}"/>
              </a:ext>
            </a:extLst>
          </p:cNvPr>
          <p:cNvSpPr>
            <a:spLocks xmlns:a="http://schemas.openxmlformats.org/drawingml/2006/main" noGrp="1"/>
          </p:cNvSpPr>
          <p:nvPr/>
        </p:nvSpPr>
        <p:spPr>
          <a:xfrm xmlns:a="http://schemas.openxmlformats.org/drawingml/2006/main">
            <a:off x="876300" y="8210550"/>
            <a:ext cx="44958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NEST_STATUS · ACTIVE_VEC</a:t>
            </a:r>
          </a:p>
        </p:txBody>
      </p:sp>
      <p:sp>
        <p:nvSpPr>
          <p:cNvPr id="35" name="">
            <a:extLst xmlns:a="http://schemas.openxmlformats.org/drawingml/2006/main">
              <a:ext uri="{FF2B5EF4-FFF2-40B4-BE49-F238E27FC236}">
                <a16:creationId xmlns:a16="http://schemas.microsoft.com/office/drawing/2014/main" id="{7D707C3D-2E0E-4C6B-8721-0C7DC3A431E4}"/>
              </a:ext>
            </a:extLst>
          </p:cNvPr>
          <p:cNvSpPr>
            <a:spLocks xmlns:a="http://schemas.openxmlformats.org/drawingml/2006/main" noGrp="1"/>
          </p:cNvSpPr>
          <p:nvPr/>
        </p:nvSpPr>
        <p:spPr>
          <a:xfrm xmlns:a="http://schemas.openxmlformats.org/drawingml/2006/main">
            <a:off x="5540693" y="7940675"/>
            <a:ext cx="6594158" cy="835025"/>
          </a:xfrm>
          <a:prstGeom xmlns:a="http://schemas.openxmlformats.org/drawingml/2006/main" prst="rect">
            <a:avLst/>
          </a:prstGeom>
          <a:solidFill xmlns:a="http://schemas.openxmlformats.org/drawingml/2006/main">
            <a:srgbClr val="F5F9F9"/>
          </a:solidFill>
        </p:spPr>
      </p:sp>
      <p:sp>
        <p:nvSpPr>
          <p:cNvPr id="36" name="">
            <a:extLst xmlns:a="http://schemas.openxmlformats.org/drawingml/2006/main">
              <a:ext uri="{FF2B5EF4-FFF2-40B4-BE49-F238E27FC236}">
                <a16:creationId xmlns:a16="http://schemas.microsoft.com/office/drawing/2014/main" id="{A25D768A-EDFD-45E2-A133-14B4C907A836}"/>
              </a:ext>
            </a:extLst>
          </p:cNvPr>
          <p:cNvSpPr>
            <a:spLocks xmlns:a="http://schemas.openxmlformats.org/drawingml/2006/main" noGrp="1"/>
          </p:cNvSpPr>
          <p:nvPr/>
        </p:nvSpPr>
        <p:spPr>
          <a:xfrm xmlns:a="http://schemas.openxmlformats.org/drawingml/2006/main">
            <a:off x="5753100" y="8210550"/>
            <a:ext cx="6210300" cy="295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173442"/>
                </a:solidFill>
              </a:defRPr>
            </a:pPr>
            <a:r>
              <a:rPr sz="1950" b="0">
                <a:solidFill>
                  <a:srgbClr val="173442"/>
                </a:solidFill>
              </a:rPr>
              <a:t>Depth, source on top, overflow · source in service</a:t>
            </a:r>
          </a:p>
        </p:txBody>
      </p:sp>
      <p:sp>
        <p:nvSpPr>
          <p:cNvPr id="37" name="">
            <a:extLst xmlns:a="http://schemas.openxmlformats.org/drawingml/2006/main">
              <a:ext uri="{FF2B5EF4-FFF2-40B4-BE49-F238E27FC236}">
                <a16:creationId xmlns:a16="http://schemas.microsoft.com/office/drawing/2014/main" id="{1C263348-B160-44C4-9EF5-5FEA7A6E7A45}"/>
              </a:ext>
            </a:extLst>
          </p:cNvPr>
          <p:cNvSpPr>
            <a:spLocks xmlns:a="http://schemas.openxmlformats.org/drawingml/2006/main" noGrp="1"/>
          </p:cNvSpPr>
          <p:nvPr/>
        </p:nvSpPr>
        <p:spPr>
          <a:xfrm xmlns:a="http://schemas.openxmlformats.org/drawingml/2006/main">
            <a:off x="666750" y="8823325"/>
            <a:ext cx="4873943" cy="835025"/>
          </a:xfrm>
          <a:prstGeom xmlns:a="http://schemas.openxmlformats.org/drawingml/2006/main" prst="rect">
            <a:avLst/>
          </a:prstGeom>
          <a:solidFill xmlns:a="http://schemas.openxmlformats.org/drawingml/2006/main">
            <a:srgbClr val="FFFFFF"/>
          </a:solidFill>
        </p:spPr>
      </p:sp>
      <p:sp>
        <p:nvSpPr>
          <p:cNvPr id="38" name="">
            <a:extLst xmlns:a="http://schemas.openxmlformats.org/drawingml/2006/main">
              <a:ext uri="{FF2B5EF4-FFF2-40B4-BE49-F238E27FC236}">
                <a16:creationId xmlns:a16="http://schemas.microsoft.com/office/drawing/2014/main" id="{37E8BCD6-9842-4B41-A54F-F26D7887E12D}"/>
              </a:ext>
            </a:extLst>
          </p:cNvPr>
          <p:cNvSpPr>
            <a:spLocks xmlns:a="http://schemas.openxmlformats.org/drawingml/2006/main" noGrp="1"/>
          </p:cNvSpPr>
          <p:nvPr/>
        </p:nvSpPr>
        <p:spPr>
          <a:xfrm xmlns:a="http://schemas.openxmlformats.org/drawingml/2006/main">
            <a:off x="876300" y="9086850"/>
            <a:ext cx="44958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SPURIOUS_LOG · INT_STATUS</a:t>
            </a:r>
          </a:p>
        </p:txBody>
      </p:sp>
      <p:sp>
        <p:nvSpPr>
          <p:cNvPr id="39" name="">
            <a:extLst xmlns:a="http://schemas.openxmlformats.org/drawingml/2006/main">
              <a:ext uri="{FF2B5EF4-FFF2-40B4-BE49-F238E27FC236}">
                <a16:creationId xmlns:a16="http://schemas.microsoft.com/office/drawing/2014/main" id="{A11A310C-D1A6-4949-805F-441E758184A6}"/>
              </a:ext>
            </a:extLst>
          </p:cNvPr>
          <p:cNvSpPr>
            <a:spLocks xmlns:a="http://schemas.openxmlformats.org/drawingml/2006/main" noGrp="1"/>
          </p:cNvSpPr>
          <p:nvPr/>
        </p:nvSpPr>
        <p:spPr>
          <a:xfrm xmlns:a="http://schemas.openxmlformats.org/drawingml/2006/main">
            <a:off x="5540693" y="8823325"/>
            <a:ext cx="6594158" cy="835025"/>
          </a:xfrm>
          <a:prstGeom xmlns:a="http://schemas.openxmlformats.org/drawingml/2006/main" prst="rect">
            <a:avLst/>
          </a:prstGeom>
          <a:solidFill xmlns:a="http://schemas.openxmlformats.org/drawingml/2006/main">
            <a:srgbClr val="FFFFFF"/>
          </a:solidFill>
        </p:spPr>
      </p:sp>
      <p:sp>
        <p:nvSpPr>
          <p:cNvPr id="40" name="">
            <a:extLst xmlns:a="http://schemas.openxmlformats.org/drawingml/2006/main">
              <a:ext uri="{FF2B5EF4-FFF2-40B4-BE49-F238E27FC236}">
                <a16:creationId xmlns:a16="http://schemas.microsoft.com/office/drawing/2014/main" id="{514EA954-C808-4156-9F39-6495C1812D6F}"/>
              </a:ext>
            </a:extLst>
          </p:cNvPr>
          <p:cNvSpPr>
            <a:spLocks xmlns:a="http://schemas.openxmlformats.org/drawingml/2006/main" noGrp="1"/>
          </p:cNvSpPr>
          <p:nvPr/>
        </p:nvSpPr>
        <p:spPr>
          <a:xfrm xmlns:a="http://schemas.openxmlformats.org/drawingml/2006/main">
            <a:off x="5753100" y="9096375"/>
            <a:ext cx="6210300" cy="295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173442"/>
                </a:solidFill>
              </a:defRPr>
            </a:pPr>
            <a:r>
              <a:rPr sz="1950" b="0">
                <a:solidFill>
                  <a:srgbClr val="173442"/>
                </a:solidFill>
              </a:rPr>
              <a:t>Sticky events, write 1 to clear; a hardware set wins</a:t>
            </a:r>
          </a:p>
        </p:txBody>
      </p:sp>
      <p:pic>
        <p:nvPicPr>
          <p:cNvPr id="41" name="asset-presentations/assets/pic_flow_v3"/>
          <p:cNvPicPr>
            <a:picLocks xmlns:a="http://schemas.openxmlformats.org/drawingml/2006/main" noChangeAspect="1"/>
          </p:cNvPicPr>
          <p:nvPr/>
        </p:nvPicPr>
        <p:blipFill>
          <a:blip xmlns:r="http://schemas.openxmlformats.org/officeDocument/2006/relationships" xmlns:a="http://schemas.openxmlformats.org/drawingml/2006/main" r:embed="R394b625918114959">
            <a:extLst>
              <a:ext uri="{96DAC541-7B7A-43D3-8B79-37D633B846F1}">
                <asvg:svgBlip xmlns:asvg="http://schemas.microsoft.com/office/drawing/2016/SVG/main" r:embed="R4f42abb4a26e4c01"/>
              </a:ext>
            </a:extLst>
          </a:blip>
          <a:stretch xmlns:a="http://schemas.openxmlformats.org/drawingml/2006/main"/>
        </p:blipFill>
        <p:spPr>
          <a:xfrm xmlns:a="http://schemas.openxmlformats.org/drawingml/2006/main">
            <a:off x="12668250" y="1685925"/>
            <a:ext cx="4953000" cy="7606393"/>
          </a:xfrm>
          <a:prstGeom xmlns:a="http://schemas.openxmlformats.org/drawingml/2006/main" prst="rect">
            <a:avLst/>
          </a:prstGeom>
        </p:spPr>
      </p:pic>
      <p:sp>
        <p:nvSpPr>
          <p:cNvPr id="42" name="footer">
            <a:extLst xmlns:a="http://schemas.openxmlformats.org/drawingml/2006/main">
              <a:ext uri="{FF2B5EF4-FFF2-40B4-BE49-F238E27FC236}">
                <a16:creationId xmlns:a16="http://schemas.microsoft.com/office/drawing/2014/main" id="{ED43629E-85BD-4086-A04E-334F1C03A64A}"/>
              </a:ext>
            </a:extLst>
          </p:cNvPr>
          <p:cNvSpPr>
            <a:spLocks xmlns:a="http://schemas.openxmlformats.org/drawingml/2006/main" noGrp="1"/>
          </p:cNvSpPr>
          <p:nvPr/>
        </p:nvSpPr>
        <p:spPr>
          <a:xfrm xmlns:a="http://schemas.openxmlformats.org/drawingml/2006/main">
            <a:off x="666750" y="979170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PIC   ·   04 / 07   ·   Registers</a:t>
            </a:r>
          </a:p>
        </p:txBody>
      </p:sp>
    </p:spTree>
    <p:extLst>
      <p:ext uri="{BB962C8B-B14F-4D97-AF65-F5344CB8AC3E}">
        <p14:creationId xmlns:p14="http://schemas.microsoft.com/office/powerpoint/2010/main" val="156408526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615A9D2A-76BE-4A76-9AE5-85B813DE812A}"/>
              </a:ext>
            </a:extLst>
          </p:cNvPr>
          <p:cNvSpPr>
            <a:spLocks xmlns:a="http://schemas.openxmlformats.org/drawingml/2006/main" noGrp="1"/>
          </p:cNvSpPr>
          <p:nvPr/>
        </p:nvSpPr>
        <p:spPr>
          <a:xfrm xmlns:a="http://schemas.openxmlformats.org/drawingml/2006/main">
            <a:off x="666750" y="381000"/>
            <a:ext cx="169545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73442"/>
                </a:solidFill>
              </a:defRPr>
            </a:pPr>
            <a:r>
              <a:rPr sz="3600" b="1">
                <a:solidFill>
                  <a:srgbClr val="173442"/>
                </a:solidFill>
              </a:rPr>
              <a:t>An independent model predicts every priority decision</a:t>
            </a:r>
          </a:p>
        </p:txBody>
      </p:sp>
      <p:sp>
        <p:nvSpPr>
          <p:cNvPr id="2" name="">
            <a:extLst xmlns:a="http://schemas.openxmlformats.org/drawingml/2006/main">
              <a:ext uri="{FF2B5EF4-FFF2-40B4-BE49-F238E27FC236}">
                <a16:creationId xmlns:a16="http://schemas.microsoft.com/office/drawing/2014/main" id="{EC6D51FA-75C9-405E-9735-CD67E500C0A2}"/>
              </a:ext>
            </a:extLst>
          </p:cNvPr>
          <p:cNvSpPr>
            <a:spLocks xmlns:a="http://schemas.openxmlformats.org/drawingml/2006/main" noGrp="1"/>
          </p:cNvSpPr>
          <p:nvPr/>
        </p:nvSpPr>
        <p:spPr>
          <a:xfrm xmlns:a="http://schemas.openxmlformats.org/drawingml/2006/main">
            <a:off x="666750" y="10477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
            <a:extLst xmlns:a="http://schemas.openxmlformats.org/drawingml/2006/main">
              <a:ext uri="{FF2B5EF4-FFF2-40B4-BE49-F238E27FC236}">
                <a16:creationId xmlns:a16="http://schemas.microsoft.com/office/drawing/2014/main" id="{CAFCBD78-2D2E-44A8-AA1B-197C05F20019}"/>
              </a:ext>
            </a:extLst>
          </p:cNvPr>
          <p:cNvSpPr>
            <a:spLocks xmlns:a="http://schemas.openxmlformats.org/drawingml/2006/main" noGrp="1"/>
          </p:cNvSpPr>
          <p:nvPr/>
        </p:nvSpPr>
        <p:spPr>
          <a:xfrm xmlns:a="http://schemas.openxmlformats.org/drawingml/2006/main">
            <a:off x="666750" y="1314450"/>
            <a:ext cx="5905500" cy="2762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526772"/>
                </a:solidFill>
              </a:defRPr>
            </a:pPr>
            <a:r>
              <a:rPr sz="1800" b="1">
                <a:solidFill>
                  <a:srgbClr val="526772"/>
                </a:solidFill>
              </a:rPr>
              <a:t>THE PIC ALONE</a:t>
            </a:r>
          </a:p>
        </p:txBody>
      </p:sp>
      <p:sp>
        <p:nvSpPr>
          <p:cNvPr id="4" name="">
            <a:extLst xmlns:a="http://schemas.openxmlformats.org/drawingml/2006/main">
              <a:ext uri="{FF2B5EF4-FFF2-40B4-BE49-F238E27FC236}">
                <a16:creationId xmlns:a16="http://schemas.microsoft.com/office/drawing/2014/main" id="{B696D2C3-F100-4B55-886C-35A92866FF3E}"/>
              </a:ext>
            </a:extLst>
          </p:cNvPr>
          <p:cNvSpPr>
            <a:spLocks xmlns:a="http://schemas.openxmlformats.org/drawingml/2006/main" noGrp="1"/>
          </p:cNvSpPr>
          <p:nvPr/>
        </p:nvSpPr>
        <p:spPr>
          <a:xfrm xmlns:a="http://schemas.openxmlformats.org/drawingml/2006/main">
            <a:off x="666750" y="1703070"/>
            <a:ext cx="5905500" cy="911066"/>
          </a:xfrm>
          <a:prstGeom xmlns:a="http://schemas.openxmlformats.org/drawingml/2006/main" prst="roundRect">
            <a:avLst>
              <a:gd name="adj" fmla="val 12546"/>
            </a:avLst>
          </a:prstGeom>
          <a:solidFill xmlns:a="http://schemas.openxmlformats.org/drawingml/2006/main">
            <a:srgbClr val="EEF5F5"/>
          </a:solidFill>
        </p:spPr>
      </p:sp>
      <p:sp>
        <p:nvSpPr>
          <p:cNvPr id="5" name="">
            <a:extLst xmlns:a="http://schemas.openxmlformats.org/drawingml/2006/main">
              <a:ext uri="{FF2B5EF4-FFF2-40B4-BE49-F238E27FC236}">
                <a16:creationId xmlns:a16="http://schemas.microsoft.com/office/drawing/2014/main" id="{B2542EB8-3771-43A6-A814-E174C02C8DCF}"/>
              </a:ext>
            </a:extLst>
          </p:cNvPr>
          <p:cNvSpPr>
            <a:spLocks xmlns:a="http://schemas.openxmlformats.org/drawingml/2006/main" noGrp="1"/>
          </p:cNvSpPr>
          <p:nvPr/>
        </p:nvSpPr>
        <p:spPr>
          <a:xfrm xmlns:a="http://schemas.openxmlformats.org/drawingml/2006/main">
            <a:off x="876300" y="1933575"/>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275</a:t>
            </a:r>
          </a:p>
        </p:txBody>
      </p:sp>
      <p:sp>
        <p:nvSpPr>
          <p:cNvPr id="6" name="">
            <a:extLst xmlns:a="http://schemas.openxmlformats.org/drawingml/2006/main">
              <a:ext uri="{FF2B5EF4-FFF2-40B4-BE49-F238E27FC236}">
                <a16:creationId xmlns:a16="http://schemas.microsoft.com/office/drawing/2014/main" id="{0B9EFB34-7604-429F-AFA4-848491482C23}"/>
              </a:ext>
            </a:extLst>
          </p:cNvPr>
          <p:cNvSpPr>
            <a:spLocks xmlns:a="http://schemas.openxmlformats.org/drawingml/2006/main" noGrp="1"/>
          </p:cNvSpPr>
          <p:nvPr/>
        </p:nvSpPr>
        <p:spPr>
          <a:xfrm xmlns:a="http://schemas.openxmlformats.org/drawingml/2006/main">
            <a:off x="2171700" y="1895475"/>
            <a:ext cx="421005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golden-model cases: all 256 BAND_CONFIG values + 19 corners · 5,741 checks</a:t>
            </a:r>
          </a:p>
        </p:txBody>
      </p:sp>
      <p:sp>
        <p:nvSpPr>
          <p:cNvPr id="7" name="">
            <a:extLst xmlns:a="http://schemas.openxmlformats.org/drawingml/2006/main">
              <a:ext uri="{FF2B5EF4-FFF2-40B4-BE49-F238E27FC236}">
                <a16:creationId xmlns:a16="http://schemas.microsoft.com/office/drawing/2014/main" id="{066FB5E1-8518-45F2-94FB-6593AD503403}"/>
              </a:ext>
            </a:extLst>
          </p:cNvPr>
          <p:cNvSpPr>
            <a:spLocks xmlns:a="http://schemas.openxmlformats.org/drawingml/2006/main" noGrp="1"/>
          </p:cNvSpPr>
          <p:nvPr/>
        </p:nvSpPr>
        <p:spPr>
          <a:xfrm xmlns:a="http://schemas.openxmlformats.org/drawingml/2006/main">
            <a:off x="666750" y="2709386"/>
            <a:ext cx="5905500" cy="911066"/>
          </a:xfrm>
          <a:prstGeom xmlns:a="http://schemas.openxmlformats.org/drawingml/2006/main" prst="roundRect">
            <a:avLst>
              <a:gd name="adj" fmla="val 12546"/>
            </a:avLst>
          </a:prstGeom>
          <a:solidFill xmlns:a="http://schemas.openxmlformats.org/drawingml/2006/main">
            <a:srgbClr val="EEF5F5"/>
          </a:solidFill>
        </p:spPr>
      </p:sp>
      <p:sp>
        <p:nvSpPr>
          <p:cNvPr id="8" name="">
            <a:extLst xmlns:a="http://schemas.openxmlformats.org/drawingml/2006/main">
              <a:ext uri="{FF2B5EF4-FFF2-40B4-BE49-F238E27FC236}">
                <a16:creationId xmlns:a16="http://schemas.microsoft.com/office/drawing/2014/main" id="{76308F71-799C-4033-81C4-D28E5B8B1524}"/>
              </a:ext>
            </a:extLst>
          </p:cNvPr>
          <p:cNvSpPr>
            <a:spLocks xmlns:a="http://schemas.openxmlformats.org/drawingml/2006/main" noGrp="1"/>
          </p:cNvSpPr>
          <p:nvPr/>
        </p:nvSpPr>
        <p:spPr>
          <a:xfrm xmlns:a="http://schemas.openxmlformats.org/drawingml/2006/main">
            <a:off x="876300" y="2943225"/>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15</a:t>
            </a:r>
          </a:p>
        </p:txBody>
      </p:sp>
      <p:sp>
        <p:nvSpPr>
          <p:cNvPr id="9" name="">
            <a:extLst xmlns:a="http://schemas.openxmlformats.org/drawingml/2006/main">
              <a:ext uri="{FF2B5EF4-FFF2-40B4-BE49-F238E27FC236}">
                <a16:creationId xmlns:a16="http://schemas.microsoft.com/office/drawing/2014/main" id="{0770DF08-60DA-4C95-98CC-5D69E05A669B}"/>
              </a:ext>
            </a:extLst>
          </p:cNvPr>
          <p:cNvSpPr>
            <a:spLocks xmlns:a="http://schemas.openxmlformats.org/drawingml/2006/main" noGrp="1"/>
          </p:cNvSpPr>
          <p:nvPr/>
        </p:nvSpPr>
        <p:spPr>
          <a:xfrm xmlns:a="http://schemas.openxmlformats.org/drawingml/2006/main">
            <a:off x="2171700" y="2905125"/>
            <a:ext cx="421005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random runs of 20,000 cycles, each cycle equal to a Python cycle model</a:t>
            </a:r>
          </a:p>
        </p:txBody>
      </p:sp>
      <p:sp>
        <p:nvSpPr>
          <p:cNvPr id="10" name="">
            <a:extLst xmlns:a="http://schemas.openxmlformats.org/drawingml/2006/main">
              <a:ext uri="{FF2B5EF4-FFF2-40B4-BE49-F238E27FC236}">
                <a16:creationId xmlns:a16="http://schemas.microsoft.com/office/drawing/2014/main" id="{A5060920-BE10-496E-A68C-8ACF05A47502}"/>
              </a:ext>
            </a:extLst>
          </p:cNvPr>
          <p:cNvSpPr>
            <a:spLocks xmlns:a="http://schemas.openxmlformats.org/drawingml/2006/main" noGrp="1"/>
          </p:cNvSpPr>
          <p:nvPr/>
        </p:nvSpPr>
        <p:spPr>
          <a:xfrm xmlns:a="http://schemas.openxmlformats.org/drawingml/2006/main">
            <a:off x="666750" y="3715703"/>
            <a:ext cx="5905500" cy="911066"/>
          </a:xfrm>
          <a:prstGeom xmlns:a="http://schemas.openxmlformats.org/drawingml/2006/main" prst="roundRect">
            <a:avLst>
              <a:gd name="adj" fmla="val 12546"/>
            </a:avLst>
          </a:prstGeom>
          <a:solidFill xmlns:a="http://schemas.openxmlformats.org/drawingml/2006/main">
            <a:srgbClr val="EEF5F5"/>
          </a:solidFill>
        </p:spPr>
      </p:sp>
      <p:sp>
        <p:nvSpPr>
          <p:cNvPr id="11" name="">
            <a:extLst xmlns:a="http://schemas.openxmlformats.org/drawingml/2006/main">
              <a:ext uri="{FF2B5EF4-FFF2-40B4-BE49-F238E27FC236}">
                <a16:creationId xmlns:a16="http://schemas.microsoft.com/office/drawing/2014/main" id="{D2ACA553-B70B-4180-9189-44DD62ECC202}"/>
              </a:ext>
            </a:extLst>
          </p:cNvPr>
          <p:cNvSpPr>
            <a:spLocks xmlns:a="http://schemas.openxmlformats.org/drawingml/2006/main" noGrp="1"/>
          </p:cNvSpPr>
          <p:nvPr/>
        </p:nvSpPr>
        <p:spPr>
          <a:xfrm xmlns:a="http://schemas.openxmlformats.org/drawingml/2006/main">
            <a:off x="876300" y="3943350"/>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171</a:t>
            </a:r>
          </a:p>
        </p:txBody>
      </p:sp>
      <p:sp>
        <p:nvSpPr>
          <p:cNvPr id="12" name="">
            <a:extLst xmlns:a="http://schemas.openxmlformats.org/drawingml/2006/main">
              <a:ext uri="{FF2B5EF4-FFF2-40B4-BE49-F238E27FC236}">
                <a16:creationId xmlns:a16="http://schemas.microsoft.com/office/drawing/2014/main" id="{4E132853-16B5-410F-8783-F9B369E3F244}"/>
              </a:ext>
            </a:extLst>
          </p:cNvPr>
          <p:cNvSpPr>
            <a:spLocks xmlns:a="http://schemas.openxmlformats.org/drawingml/2006/main" noGrp="1"/>
          </p:cNvSpPr>
          <p:nvPr/>
        </p:nvSpPr>
        <p:spPr>
          <a:xfrm xmlns:a="http://schemas.openxmlformats.org/drawingml/2006/main">
            <a:off x="2171700" y="3905250"/>
            <a:ext cx="421005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feature and same-cycle checks: nesting, spurious, escalation, triggers</a:t>
            </a:r>
          </a:p>
        </p:txBody>
      </p:sp>
      <p:sp>
        <p:nvSpPr>
          <p:cNvPr id="13" name="">
            <a:extLst xmlns:a="http://schemas.openxmlformats.org/drawingml/2006/main">
              <a:ext uri="{FF2B5EF4-FFF2-40B4-BE49-F238E27FC236}">
                <a16:creationId xmlns:a16="http://schemas.microsoft.com/office/drawing/2014/main" id="{E094AF38-03BC-4D21-BA1A-3F562CAB0B87}"/>
              </a:ext>
            </a:extLst>
          </p:cNvPr>
          <p:cNvSpPr>
            <a:spLocks xmlns:a="http://schemas.openxmlformats.org/drawingml/2006/main" noGrp="1"/>
          </p:cNvSpPr>
          <p:nvPr/>
        </p:nvSpPr>
        <p:spPr>
          <a:xfrm xmlns:a="http://schemas.openxmlformats.org/drawingml/2006/main">
            <a:off x="666750" y="4722019"/>
            <a:ext cx="5905500" cy="911066"/>
          </a:xfrm>
          <a:prstGeom xmlns:a="http://schemas.openxmlformats.org/drawingml/2006/main" prst="roundRect">
            <a:avLst>
              <a:gd name="adj" fmla="val 12546"/>
            </a:avLst>
          </a:prstGeom>
          <a:solidFill xmlns:a="http://schemas.openxmlformats.org/drawingml/2006/main">
            <a:srgbClr val="EEF5F5"/>
          </a:solidFill>
        </p:spPr>
      </p:sp>
      <p:sp>
        <p:nvSpPr>
          <p:cNvPr id="14" name="">
            <a:extLst xmlns:a="http://schemas.openxmlformats.org/drawingml/2006/main">
              <a:ext uri="{FF2B5EF4-FFF2-40B4-BE49-F238E27FC236}">
                <a16:creationId xmlns:a16="http://schemas.microsoft.com/office/drawing/2014/main" id="{97F85CA6-E61F-48FE-AAE0-CF0C8882AC30}"/>
              </a:ext>
            </a:extLst>
          </p:cNvPr>
          <p:cNvSpPr>
            <a:spLocks xmlns:a="http://schemas.openxmlformats.org/drawingml/2006/main" noGrp="1"/>
          </p:cNvSpPr>
          <p:nvPr/>
        </p:nvSpPr>
        <p:spPr>
          <a:xfrm xmlns:a="http://schemas.openxmlformats.org/drawingml/2006/main">
            <a:off x="876300" y="4953000"/>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1,290</a:t>
            </a:r>
          </a:p>
        </p:txBody>
      </p:sp>
      <p:sp>
        <p:nvSpPr>
          <p:cNvPr id="15" name="">
            <a:extLst xmlns:a="http://schemas.openxmlformats.org/drawingml/2006/main">
              <a:ext uri="{FF2B5EF4-FFF2-40B4-BE49-F238E27FC236}">
                <a16:creationId xmlns:a16="http://schemas.microsoft.com/office/drawing/2014/main" id="{1BA21C9A-CB62-48BF-A5F0-2966AA7A8F74}"/>
              </a:ext>
            </a:extLst>
          </p:cNvPr>
          <p:cNvSpPr>
            <a:spLocks xmlns:a="http://schemas.openxmlformats.org/drawingml/2006/main" noGrp="1"/>
          </p:cNvSpPr>
          <p:nvPr/>
        </p:nvSpPr>
        <p:spPr>
          <a:xfrm xmlns:a="http://schemas.openxmlformats.org/drawingml/2006/main">
            <a:off x="2171700" y="4914900"/>
            <a:ext cx="421005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register checks: access rules 478</a:t>
            </a:r>
          </a:p>
          <a:p xmlns:a="http://schemas.openxmlformats.org/drawingml/2006/main">
            <a:pPr>
              <a:defRPr sz="1725" b="0">
                <a:solidFill>
                  <a:srgbClr val="173442"/>
                </a:solidFill>
              </a:defRPr>
            </a:pPr>
            <a:r>
              <a:rPr sz="1725" b="0">
                <a:solidFill>
                  <a:srgbClr val="173442"/>
                </a:solidFill>
              </a:rPr>
              <a:t>status 424 · reset 388</a:t>
            </a:r>
          </a:p>
        </p:txBody>
      </p:sp>
      <p:sp>
        <p:nvSpPr>
          <p:cNvPr id="16" name="">
            <a:extLst xmlns:a="http://schemas.openxmlformats.org/drawingml/2006/main">
              <a:ext uri="{FF2B5EF4-FFF2-40B4-BE49-F238E27FC236}">
                <a16:creationId xmlns:a16="http://schemas.microsoft.com/office/drawing/2014/main" id="{0F7F0FBE-2909-4A17-83E5-444E6470A035}"/>
              </a:ext>
            </a:extLst>
          </p:cNvPr>
          <p:cNvSpPr>
            <a:spLocks xmlns:a="http://schemas.openxmlformats.org/drawingml/2006/main" noGrp="1"/>
          </p:cNvSpPr>
          <p:nvPr/>
        </p:nvSpPr>
        <p:spPr>
          <a:xfrm xmlns:a="http://schemas.openxmlformats.org/drawingml/2006/main">
            <a:off x="666750" y="5728335"/>
            <a:ext cx="5905500" cy="911066"/>
          </a:xfrm>
          <a:prstGeom xmlns:a="http://schemas.openxmlformats.org/drawingml/2006/main" prst="roundRect">
            <a:avLst>
              <a:gd name="adj" fmla="val 12546"/>
            </a:avLst>
          </a:prstGeom>
          <a:solidFill xmlns:a="http://schemas.openxmlformats.org/drawingml/2006/main">
            <a:srgbClr val="EEF5F5"/>
          </a:solidFill>
        </p:spPr>
      </p:sp>
      <p:sp>
        <p:nvSpPr>
          <p:cNvPr id="17" name="">
            <a:extLst xmlns:a="http://schemas.openxmlformats.org/drawingml/2006/main">
              <a:ext uri="{FF2B5EF4-FFF2-40B4-BE49-F238E27FC236}">
                <a16:creationId xmlns:a16="http://schemas.microsoft.com/office/drawing/2014/main" id="{754A3CC3-27F0-4C1F-92DF-D42000006EC6}"/>
              </a:ext>
            </a:extLst>
          </p:cNvPr>
          <p:cNvSpPr>
            <a:spLocks xmlns:a="http://schemas.openxmlformats.org/drawingml/2006/main" noGrp="1"/>
          </p:cNvSpPr>
          <p:nvPr/>
        </p:nvSpPr>
        <p:spPr>
          <a:xfrm xmlns:a="http://schemas.openxmlformats.org/drawingml/2006/main">
            <a:off x="876300" y="5962650"/>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96</a:t>
            </a:r>
          </a:p>
        </p:txBody>
      </p:sp>
      <p:sp>
        <p:nvSpPr>
          <p:cNvPr id="18" name="">
            <a:extLst xmlns:a="http://schemas.openxmlformats.org/drawingml/2006/main">
              <a:ext uri="{FF2B5EF4-FFF2-40B4-BE49-F238E27FC236}">
                <a16:creationId xmlns:a16="http://schemas.microsoft.com/office/drawing/2014/main" id="{81B1E848-5509-4027-8F68-999092004EAC}"/>
              </a:ext>
            </a:extLst>
          </p:cNvPr>
          <p:cNvSpPr>
            <a:spLocks xmlns:a="http://schemas.openxmlformats.org/drawingml/2006/main" noGrp="1"/>
          </p:cNvSpPr>
          <p:nvPr/>
        </p:nvSpPr>
        <p:spPr>
          <a:xfrm xmlns:a="http://schemas.openxmlformats.org/drawingml/2006/main">
            <a:off x="2171700" y="5924550"/>
            <a:ext cx="421005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AXI4-Lite writes vs PULP axi_lite_regs: 16 WSTRB × 3 orders × 2 stalls</a:t>
            </a:r>
          </a:p>
        </p:txBody>
      </p:sp>
      <p:sp>
        <p:nvSpPr>
          <p:cNvPr id="19" name="">
            <a:extLst xmlns:a="http://schemas.openxmlformats.org/drawingml/2006/main">
              <a:ext uri="{FF2B5EF4-FFF2-40B4-BE49-F238E27FC236}">
                <a16:creationId xmlns:a16="http://schemas.microsoft.com/office/drawing/2014/main" id="{3C122FA7-B264-47BB-B896-57D85D2B1B1A}"/>
              </a:ext>
            </a:extLst>
          </p:cNvPr>
          <p:cNvSpPr>
            <a:spLocks xmlns:a="http://schemas.openxmlformats.org/drawingml/2006/main" noGrp="1"/>
          </p:cNvSpPr>
          <p:nvPr/>
        </p:nvSpPr>
        <p:spPr>
          <a:xfrm xmlns:a="http://schemas.openxmlformats.org/drawingml/2006/main">
            <a:off x="666750" y="6734651"/>
            <a:ext cx="5905500" cy="911066"/>
          </a:xfrm>
          <a:prstGeom xmlns:a="http://schemas.openxmlformats.org/drawingml/2006/main" prst="roundRect">
            <a:avLst>
              <a:gd name="adj" fmla="val 12546"/>
            </a:avLst>
          </a:prstGeom>
          <a:solidFill xmlns:a="http://schemas.openxmlformats.org/drawingml/2006/main">
            <a:srgbClr val="EEF5F5"/>
          </a:solidFill>
        </p:spPr>
      </p:sp>
      <p:sp>
        <p:nvSpPr>
          <p:cNvPr id="20" name="">
            <a:extLst xmlns:a="http://schemas.openxmlformats.org/drawingml/2006/main">
              <a:ext uri="{FF2B5EF4-FFF2-40B4-BE49-F238E27FC236}">
                <a16:creationId xmlns:a16="http://schemas.microsoft.com/office/drawing/2014/main" id="{6EB03540-6C7B-4958-B615-4FE9CBC2B19C}"/>
              </a:ext>
            </a:extLst>
          </p:cNvPr>
          <p:cNvSpPr>
            <a:spLocks xmlns:a="http://schemas.openxmlformats.org/drawingml/2006/main" noGrp="1"/>
          </p:cNvSpPr>
          <p:nvPr/>
        </p:nvSpPr>
        <p:spPr>
          <a:xfrm xmlns:a="http://schemas.openxmlformats.org/drawingml/2006/main">
            <a:off x="876300" y="6962775"/>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10</a:t>
            </a:r>
          </a:p>
        </p:txBody>
      </p:sp>
      <p:sp>
        <p:nvSpPr>
          <p:cNvPr id="21" name="">
            <a:extLst xmlns:a="http://schemas.openxmlformats.org/drawingml/2006/main">
              <a:ext uri="{FF2B5EF4-FFF2-40B4-BE49-F238E27FC236}">
                <a16:creationId xmlns:a16="http://schemas.microsoft.com/office/drawing/2014/main" id="{2F32F173-DAFC-419B-87B8-DAC7F7D8D9FE}"/>
              </a:ext>
            </a:extLst>
          </p:cNvPr>
          <p:cNvSpPr>
            <a:spLocks xmlns:a="http://schemas.openxmlformats.org/drawingml/2006/main" noGrp="1"/>
          </p:cNvSpPr>
          <p:nvPr/>
        </p:nvSpPr>
        <p:spPr>
          <a:xfrm xmlns:a="http://schemas.openxmlformats.org/drawingml/2006/main">
            <a:off x="2171700" y="6924675"/>
            <a:ext cx="421005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properties proven with SymbiYosys; 5 / 5 injected defects fail the proof</a:t>
            </a:r>
          </a:p>
        </p:txBody>
      </p:sp>
      <p:sp>
        <p:nvSpPr>
          <p:cNvPr id="22" name="">
            <a:extLst xmlns:a="http://schemas.openxmlformats.org/drawingml/2006/main">
              <a:ext uri="{FF2B5EF4-FFF2-40B4-BE49-F238E27FC236}">
                <a16:creationId xmlns:a16="http://schemas.microsoft.com/office/drawing/2014/main" id="{D78455D5-C781-4395-9555-8374432E324E}"/>
              </a:ext>
            </a:extLst>
          </p:cNvPr>
          <p:cNvSpPr>
            <a:spLocks xmlns:a="http://schemas.openxmlformats.org/drawingml/2006/main" noGrp="1"/>
          </p:cNvSpPr>
          <p:nvPr/>
        </p:nvSpPr>
        <p:spPr>
          <a:xfrm xmlns:a="http://schemas.openxmlformats.org/drawingml/2006/main">
            <a:off x="666750" y="7740968"/>
            <a:ext cx="5905500" cy="911066"/>
          </a:xfrm>
          <a:prstGeom xmlns:a="http://schemas.openxmlformats.org/drawingml/2006/main" prst="roundRect">
            <a:avLst>
              <a:gd name="adj" fmla="val 12546"/>
            </a:avLst>
          </a:prstGeom>
          <a:solidFill xmlns:a="http://schemas.openxmlformats.org/drawingml/2006/main">
            <a:srgbClr val="EEF5F5"/>
          </a:solidFill>
        </p:spPr>
      </p:sp>
      <p:sp>
        <p:nvSpPr>
          <p:cNvPr id="23" name="">
            <a:extLst xmlns:a="http://schemas.openxmlformats.org/drawingml/2006/main">
              <a:ext uri="{FF2B5EF4-FFF2-40B4-BE49-F238E27FC236}">
                <a16:creationId xmlns:a16="http://schemas.microsoft.com/office/drawing/2014/main" id="{24E86140-635E-465A-B5D8-6FF01B52BB0C}"/>
              </a:ext>
            </a:extLst>
          </p:cNvPr>
          <p:cNvSpPr>
            <a:spLocks xmlns:a="http://schemas.openxmlformats.org/drawingml/2006/main" noGrp="1"/>
          </p:cNvSpPr>
          <p:nvPr/>
        </p:nvSpPr>
        <p:spPr>
          <a:xfrm xmlns:a="http://schemas.openxmlformats.org/drawingml/2006/main">
            <a:off x="876300" y="7972425"/>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32</a:t>
            </a:r>
          </a:p>
        </p:txBody>
      </p:sp>
      <p:sp>
        <p:nvSpPr>
          <p:cNvPr id="24" name="">
            <a:extLst xmlns:a="http://schemas.openxmlformats.org/drawingml/2006/main">
              <a:ext uri="{FF2B5EF4-FFF2-40B4-BE49-F238E27FC236}">
                <a16:creationId xmlns:a16="http://schemas.microsoft.com/office/drawing/2014/main" id="{66422F37-927F-4303-BED0-AE4245FA0E10}"/>
              </a:ext>
            </a:extLst>
          </p:cNvPr>
          <p:cNvSpPr>
            <a:spLocks xmlns:a="http://schemas.openxmlformats.org/drawingml/2006/main" noGrp="1"/>
          </p:cNvSpPr>
          <p:nvPr/>
        </p:nvSpPr>
        <p:spPr>
          <a:xfrm xmlns:a="http://schemas.openxmlformats.org/drawingml/2006/main">
            <a:off x="2171700" y="7934325"/>
            <a:ext cx="421005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SVA properties attached with bind: 12 PIC, 20 AXI protocol</a:t>
            </a:r>
          </a:p>
        </p:txBody>
      </p:sp>
      <p:sp>
        <p:nvSpPr>
          <p:cNvPr id="25" name="">
            <a:extLst xmlns:a="http://schemas.openxmlformats.org/drawingml/2006/main">
              <a:ext uri="{FF2B5EF4-FFF2-40B4-BE49-F238E27FC236}">
                <a16:creationId xmlns:a16="http://schemas.microsoft.com/office/drawing/2014/main" id="{6A20CD7F-B40D-4D9C-8E72-9FEF2DEB5738}"/>
              </a:ext>
            </a:extLst>
          </p:cNvPr>
          <p:cNvSpPr>
            <a:spLocks xmlns:a="http://schemas.openxmlformats.org/drawingml/2006/main" noGrp="1"/>
          </p:cNvSpPr>
          <p:nvPr/>
        </p:nvSpPr>
        <p:spPr>
          <a:xfrm xmlns:a="http://schemas.openxmlformats.org/drawingml/2006/main">
            <a:off x="666750" y="8747284"/>
            <a:ext cx="5905500" cy="911066"/>
          </a:xfrm>
          <a:prstGeom xmlns:a="http://schemas.openxmlformats.org/drawingml/2006/main" prst="roundRect">
            <a:avLst>
              <a:gd name="adj" fmla="val 12546"/>
            </a:avLst>
          </a:prstGeom>
          <a:solidFill xmlns:a="http://schemas.openxmlformats.org/drawingml/2006/main">
            <a:srgbClr val="EEF5F5"/>
          </a:solidFill>
        </p:spPr>
      </p:sp>
      <p:sp>
        <p:nvSpPr>
          <p:cNvPr id="26" name="">
            <a:extLst xmlns:a="http://schemas.openxmlformats.org/drawingml/2006/main">
              <a:ext uri="{FF2B5EF4-FFF2-40B4-BE49-F238E27FC236}">
                <a16:creationId xmlns:a16="http://schemas.microsoft.com/office/drawing/2014/main" id="{F23758EB-60A5-4EF3-A2D4-84EC468B049B}"/>
              </a:ext>
            </a:extLst>
          </p:cNvPr>
          <p:cNvSpPr>
            <a:spLocks xmlns:a="http://schemas.openxmlformats.org/drawingml/2006/main" noGrp="1"/>
          </p:cNvSpPr>
          <p:nvPr/>
        </p:nvSpPr>
        <p:spPr>
          <a:xfrm xmlns:a="http://schemas.openxmlformats.org/drawingml/2006/main">
            <a:off x="876300" y="8982075"/>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4 / 4</a:t>
            </a:r>
          </a:p>
        </p:txBody>
      </p:sp>
      <p:sp>
        <p:nvSpPr>
          <p:cNvPr id="27" name="">
            <a:extLst xmlns:a="http://schemas.openxmlformats.org/drawingml/2006/main">
              <a:ext uri="{FF2B5EF4-FFF2-40B4-BE49-F238E27FC236}">
                <a16:creationId xmlns:a16="http://schemas.microsoft.com/office/drawing/2014/main" id="{68C3B664-7A44-421F-9916-A8E4C0A1793C}"/>
              </a:ext>
            </a:extLst>
          </p:cNvPr>
          <p:cNvSpPr>
            <a:spLocks xmlns:a="http://schemas.openxmlformats.org/drawingml/2006/main" noGrp="1"/>
          </p:cNvSpPr>
          <p:nvPr/>
        </p:nvSpPr>
        <p:spPr>
          <a:xfrm xmlns:a="http://schemas.openxmlformats.org/drawingml/2006/main">
            <a:off x="2171700" y="8943975"/>
            <a:ext cx="421005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mutation testing: mask, tie-break, empty EOI, nesting limit</a:t>
            </a:r>
          </a:p>
        </p:txBody>
      </p:sp>
      <p:pic>
        <p:nvPicPr>
          <p:cNvPr id="28" name="asset-presentations/assets/pic_e2e_v3"/>
          <p:cNvPicPr>
            <a:picLocks xmlns:a="http://schemas.openxmlformats.org/drawingml/2006/main" noChangeAspect="1"/>
          </p:cNvPicPr>
          <p:nvPr/>
        </p:nvPicPr>
        <p:blipFill>
          <a:blip xmlns:r="http://schemas.openxmlformats.org/officeDocument/2006/relationships" xmlns:a="http://schemas.openxmlformats.org/drawingml/2006/main" r:embed="R483bc27e0dad452e">
            <a:extLst>
              <a:ext uri="{96DAC541-7B7A-43D3-8B79-37D633B846F1}">
                <asvg:svgBlip xmlns:asvg="http://schemas.microsoft.com/office/drawing/2016/SVG/main" r:embed="R7c6981deb97e444b"/>
              </a:ext>
            </a:extLst>
          </a:blip>
          <a:stretch xmlns:a="http://schemas.openxmlformats.org/drawingml/2006/main"/>
        </p:blipFill>
        <p:spPr>
          <a:xfrm xmlns:a="http://schemas.openxmlformats.org/drawingml/2006/main">
            <a:off x="6953250" y="1866900"/>
            <a:ext cx="10668000" cy="7232542"/>
          </a:xfrm>
          <a:prstGeom xmlns:a="http://schemas.openxmlformats.org/drawingml/2006/main" prst="rect">
            <a:avLst/>
          </a:prstGeom>
        </p:spPr>
      </p:pic>
      <p:sp>
        <p:nvSpPr>
          <p:cNvPr id="29" name="footer">
            <a:extLst xmlns:a="http://schemas.openxmlformats.org/drawingml/2006/main">
              <a:ext uri="{FF2B5EF4-FFF2-40B4-BE49-F238E27FC236}">
                <a16:creationId xmlns:a16="http://schemas.microsoft.com/office/drawing/2014/main" id="{05D24A3C-0593-44CF-BB6D-B3DD465ADB52}"/>
              </a:ext>
            </a:extLst>
          </p:cNvPr>
          <p:cNvSpPr>
            <a:spLocks xmlns:a="http://schemas.openxmlformats.org/drawingml/2006/main" noGrp="1"/>
          </p:cNvSpPr>
          <p:nvPr/>
        </p:nvSpPr>
        <p:spPr>
          <a:xfrm xmlns:a="http://schemas.openxmlformats.org/drawingml/2006/main">
            <a:off x="666750" y="979170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PIC   ·   05 / 07   ·   Verification · block</a:t>
            </a:r>
          </a:p>
        </p:txBody>
      </p:sp>
    </p:spTree>
    <p:extLst>
      <p:ext uri="{BB962C8B-B14F-4D97-AF65-F5344CB8AC3E}">
        <p14:creationId xmlns:p14="http://schemas.microsoft.com/office/powerpoint/2010/main" val="63172312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800BF2ED-DD2D-4697-B9C5-32764D1FCC3A}"/>
              </a:ext>
            </a:extLst>
          </p:cNvPr>
          <p:cNvSpPr>
            <a:spLocks xmlns:a="http://schemas.openxmlformats.org/drawingml/2006/main" noGrp="1"/>
          </p:cNvSpPr>
          <p:nvPr/>
        </p:nvSpPr>
        <p:spPr>
          <a:xfrm xmlns:a="http://schemas.openxmlformats.org/drawingml/2006/main">
            <a:off x="666750" y="381000"/>
            <a:ext cx="169545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73442"/>
                </a:solidFill>
              </a:defRPr>
            </a:pPr>
            <a:r>
              <a:rPr sz="3600" b="1">
                <a:solidFill>
                  <a:srgbClr val="173442"/>
                </a:solidFill>
              </a:rPr>
              <a:t>A missed deadline makes the CPU serve the escalated source first</a:t>
            </a:r>
          </a:p>
        </p:txBody>
      </p:sp>
      <p:sp>
        <p:nvSpPr>
          <p:cNvPr id="2" name="">
            <a:extLst xmlns:a="http://schemas.openxmlformats.org/drawingml/2006/main">
              <a:ext uri="{FF2B5EF4-FFF2-40B4-BE49-F238E27FC236}">
                <a16:creationId xmlns:a16="http://schemas.microsoft.com/office/drawing/2014/main" id="{5D133894-A375-4B4B-83F3-6470F1D71B6C}"/>
              </a:ext>
            </a:extLst>
          </p:cNvPr>
          <p:cNvSpPr>
            <a:spLocks xmlns:a="http://schemas.openxmlformats.org/drawingml/2006/main" noGrp="1"/>
          </p:cNvSpPr>
          <p:nvPr/>
        </p:nvSpPr>
        <p:spPr>
          <a:xfrm xmlns:a="http://schemas.openxmlformats.org/drawingml/2006/main">
            <a:off x="666750" y="10477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
            <a:extLst xmlns:a="http://schemas.openxmlformats.org/drawingml/2006/main">
              <a:ext uri="{FF2B5EF4-FFF2-40B4-BE49-F238E27FC236}">
                <a16:creationId xmlns:a16="http://schemas.microsoft.com/office/drawing/2014/main" id="{31D2B480-1C31-4E79-ADC9-AEB34EF40F65}"/>
              </a:ext>
            </a:extLst>
          </p:cNvPr>
          <p:cNvSpPr>
            <a:spLocks xmlns:a="http://schemas.openxmlformats.org/drawingml/2006/main" noGrp="1"/>
          </p:cNvSpPr>
          <p:nvPr/>
        </p:nvSpPr>
        <p:spPr>
          <a:xfrm xmlns:a="http://schemas.openxmlformats.org/drawingml/2006/main">
            <a:off x="666750" y="1314450"/>
            <a:ext cx="4953000" cy="2762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526772"/>
                </a:solidFill>
              </a:defRPr>
            </a:pPr>
            <a:r>
              <a:rPr sz="1800" b="1">
                <a:solidFill>
                  <a:srgbClr val="526772"/>
                </a:solidFill>
              </a:rPr>
              <a:t>THE PIC WITH THE CPU</a:t>
            </a:r>
          </a:p>
        </p:txBody>
      </p:sp>
      <p:sp>
        <p:nvSpPr>
          <p:cNvPr id="4" name="">
            <a:extLst xmlns:a="http://schemas.openxmlformats.org/drawingml/2006/main">
              <a:ext uri="{FF2B5EF4-FFF2-40B4-BE49-F238E27FC236}">
                <a16:creationId xmlns:a16="http://schemas.microsoft.com/office/drawing/2014/main" id="{C587BE32-60B6-4AE2-90C5-096655F5F6CA}"/>
              </a:ext>
            </a:extLst>
          </p:cNvPr>
          <p:cNvSpPr>
            <a:spLocks xmlns:a="http://schemas.openxmlformats.org/drawingml/2006/main" noGrp="1"/>
          </p:cNvSpPr>
          <p:nvPr/>
        </p:nvSpPr>
        <p:spPr>
          <a:xfrm xmlns:a="http://schemas.openxmlformats.org/drawingml/2006/main">
            <a:off x="666750" y="1699260"/>
            <a:ext cx="4953000" cy="1055370"/>
          </a:xfrm>
          <a:prstGeom xmlns:a="http://schemas.openxmlformats.org/drawingml/2006/main" prst="roundRect">
            <a:avLst>
              <a:gd name="adj" fmla="val 10830"/>
            </a:avLst>
          </a:prstGeom>
          <a:solidFill xmlns:a="http://schemas.openxmlformats.org/drawingml/2006/main">
            <a:srgbClr val="EEF5F5"/>
          </a:solidFill>
        </p:spPr>
      </p:sp>
      <p:sp>
        <p:nvSpPr>
          <p:cNvPr id="5" name="">
            <a:extLst xmlns:a="http://schemas.openxmlformats.org/drawingml/2006/main">
              <a:ext uri="{FF2B5EF4-FFF2-40B4-BE49-F238E27FC236}">
                <a16:creationId xmlns:a16="http://schemas.microsoft.com/office/drawing/2014/main" id="{ED99650D-4BA2-4311-A7D2-D8DA45C44B0F}"/>
              </a:ext>
            </a:extLst>
          </p:cNvPr>
          <p:cNvSpPr>
            <a:spLocks xmlns:a="http://schemas.openxmlformats.org/drawingml/2006/main" noGrp="1"/>
          </p:cNvSpPr>
          <p:nvPr/>
        </p:nvSpPr>
        <p:spPr>
          <a:xfrm xmlns:a="http://schemas.openxmlformats.org/drawingml/2006/main">
            <a:off x="876300" y="2000250"/>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382</a:t>
            </a:r>
          </a:p>
        </p:txBody>
      </p:sp>
      <p:sp>
        <p:nvSpPr>
          <p:cNvPr id="6" name="">
            <a:extLst xmlns:a="http://schemas.openxmlformats.org/drawingml/2006/main">
              <a:ext uri="{FF2B5EF4-FFF2-40B4-BE49-F238E27FC236}">
                <a16:creationId xmlns:a16="http://schemas.microsoft.com/office/drawing/2014/main" id="{44E417C4-6A54-4B35-BC2A-7C609A8B9F64}"/>
              </a:ext>
            </a:extLst>
          </p:cNvPr>
          <p:cNvSpPr>
            <a:spLocks xmlns:a="http://schemas.openxmlformats.org/drawingml/2006/main" noGrp="1"/>
          </p:cNvSpPr>
          <p:nvPr/>
        </p:nvSpPr>
        <p:spPr>
          <a:xfrm xmlns:a="http://schemas.openxmlformats.org/drawingml/2006/main">
            <a:off x="2171700" y="1828800"/>
            <a:ext cx="3257550" cy="790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checks, CPU + PIC + mtimer program: priority, in-service suppression, masked source</a:t>
            </a:r>
          </a:p>
        </p:txBody>
      </p:sp>
      <p:sp>
        <p:nvSpPr>
          <p:cNvPr id="7" name="">
            <a:extLst xmlns:a="http://schemas.openxmlformats.org/drawingml/2006/main">
              <a:ext uri="{FF2B5EF4-FFF2-40B4-BE49-F238E27FC236}">
                <a16:creationId xmlns:a16="http://schemas.microsoft.com/office/drawing/2014/main" id="{4B1E3861-6EE7-4B4E-910C-6424A7B2924D}"/>
              </a:ext>
            </a:extLst>
          </p:cNvPr>
          <p:cNvSpPr>
            <a:spLocks xmlns:a="http://schemas.openxmlformats.org/drawingml/2006/main" noGrp="1"/>
          </p:cNvSpPr>
          <p:nvPr/>
        </p:nvSpPr>
        <p:spPr>
          <a:xfrm xmlns:a="http://schemas.openxmlformats.org/drawingml/2006/main">
            <a:off x="666750" y="2849880"/>
            <a:ext cx="4953000" cy="1055370"/>
          </a:xfrm>
          <a:prstGeom xmlns:a="http://schemas.openxmlformats.org/drawingml/2006/main" prst="roundRect">
            <a:avLst>
              <a:gd name="adj" fmla="val 10830"/>
            </a:avLst>
          </a:prstGeom>
          <a:solidFill xmlns:a="http://schemas.openxmlformats.org/drawingml/2006/main">
            <a:srgbClr val="EEF5F5"/>
          </a:solidFill>
        </p:spPr>
      </p:sp>
      <p:sp>
        <p:nvSpPr>
          <p:cNvPr id="8" name="">
            <a:extLst xmlns:a="http://schemas.openxmlformats.org/drawingml/2006/main">
              <a:ext uri="{FF2B5EF4-FFF2-40B4-BE49-F238E27FC236}">
                <a16:creationId xmlns:a16="http://schemas.microsoft.com/office/drawing/2014/main" id="{239731FB-9E0B-43CE-ADEC-33AE5F409E7C}"/>
              </a:ext>
            </a:extLst>
          </p:cNvPr>
          <p:cNvSpPr>
            <a:spLocks xmlns:a="http://schemas.openxmlformats.org/drawingml/2006/main" noGrp="1"/>
          </p:cNvSpPr>
          <p:nvPr/>
        </p:nvSpPr>
        <p:spPr>
          <a:xfrm xmlns:a="http://schemas.openxmlformats.org/drawingml/2006/main">
            <a:off x="876300" y="3152775"/>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36</a:t>
            </a:r>
          </a:p>
        </p:txBody>
      </p:sp>
      <p:sp>
        <p:nvSpPr>
          <p:cNvPr id="9" name="">
            <a:extLst xmlns:a="http://schemas.openxmlformats.org/drawingml/2006/main">
              <a:ext uri="{FF2B5EF4-FFF2-40B4-BE49-F238E27FC236}">
                <a16:creationId xmlns:a16="http://schemas.microsoft.com/office/drawing/2014/main" id="{4D71906D-2AF9-44F0-9610-80115EFDD8C3}"/>
              </a:ext>
            </a:extLst>
          </p:cNvPr>
          <p:cNvSpPr>
            <a:spLocks xmlns:a="http://schemas.openxmlformats.org/drawingml/2006/main" noGrp="1"/>
          </p:cNvSpPr>
          <p:nvPr/>
        </p:nvSpPr>
        <p:spPr>
          <a:xfrm xmlns:a="http://schemas.openxmlformats.org/drawingml/2006/main">
            <a:off x="2171700" y="2981325"/>
            <a:ext cx="3257550" cy="790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all 16 software-triggered sources claimed by the CPU with the right vector</a:t>
            </a:r>
          </a:p>
        </p:txBody>
      </p:sp>
      <p:sp>
        <p:nvSpPr>
          <p:cNvPr id="10" name="">
            <a:extLst xmlns:a="http://schemas.openxmlformats.org/drawingml/2006/main">
              <a:ext uri="{FF2B5EF4-FFF2-40B4-BE49-F238E27FC236}">
                <a16:creationId xmlns:a16="http://schemas.microsoft.com/office/drawing/2014/main" id="{9227212D-5A40-42C7-87F6-74AA04E9748E}"/>
              </a:ext>
            </a:extLst>
          </p:cNvPr>
          <p:cNvSpPr>
            <a:spLocks xmlns:a="http://schemas.openxmlformats.org/drawingml/2006/main" noGrp="1"/>
          </p:cNvSpPr>
          <p:nvPr/>
        </p:nvSpPr>
        <p:spPr>
          <a:xfrm xmlns:a="http://schemas.openxmlformats.org/drawingml/2006/main">
            <a:off x="666750" y="4000500"/>
            <a:ext cx="4953000" cy="1055370"/>
          </a:xfrm>
          <a:prstGeom xmlns:a="http://schemas.openxmlformats.org/drawingml/2006/main" prst="roundRect">
            <a:avLst>
              <a:gd name="adj" fmla="val 10830"/>
            </a:avLst>
          </a:prstGeom>
          <a:solidFill xmlns:a="http://schemas.openxmlformats.org/drawingml/2006/main">
            <a:srgbClr val="EEF5F5"/>
          </a:solidFill>
        </p:spPr>
      </p:sp>
      <p:sp>
        <p:nvSpPr>
          <p:cNvPr id="11" name="">
            <a:extLst xmlns:a="http://schemas.openxmlformats.org/drawingml/2006/main">
              <a:ext uri="{FF2B5EF4-FFF2-40B4-BE49-F238E27FC236}">
                <a16:creationId xmlns:a16="http://schemas.microsoft.com/office/drawing/2014/main" id="{22A08D87-136B-473C-902E-E5C1FE218625}"/>
              </a:ext>
            </a:extLst>
          </p:cNvPr>
          <p:cNvSpPr>
            <a:spLocks xmlns:a="http://schemas.openxmlformats.org/drawingml/2006/main" noGrp="1"/>
          </p:cNvSpPr>
          <p:nvPr/>
        </p:nvSpPr>
        <p:spPr>
          <a:xfrm xmlns:a="http://schemas.openxmlformats.org/drawingml/2006/main">
            <a:off x="876300" y="4305300"/>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70</a:t>
            </a:r>
          </a:p>
        </p:txBody>
      </p:sp>
      <p:sp>
        <p:nvSpPr>
          <p:cNvPr id="12" name="">
            <a:extLst xmlns:a="http://schemas.openxmlformats.org/drawingml/2006/main">
              <a:ext uri="{FF2B5EF4-FFF2-40B4-BE49-F238E27FC236}">
                <a16:creationId xmlns:a16="http://schemas.microsoft.com/office/drawing/2014/main" id="{232D4597-C489-414D-9656-B751F6D33BA5}"/>
              </a:ext>
            </a:extLst>
          </p:cNvPr>
          <p:cNvSpPr>
            <a:spLocks xmlns:a="http://schemas.openxmlformats.org/drawingml/2006/main" noGrp="1"/>
          </p:cNvSpPr>
          <p:nvPr/>
        </p:nvSpPr>
        <p:spPr>
          <a:xfrm xmlns:a="http://schemas.openxmlformats.org/drawingml/2006/main">
            <a:off x="2171700" y="4267200"/>
            <a:ext cx="325755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nesting checks through the CPU: 2 levels (16) and all 16 levels (54)</a:t>
            </a:r>
          </a:p>
        </p:txBody>
      </p:sp>
      <p:sp>
        <p:nvSpPr>
          <p:cNvPr id="13" name="">
            <a:extLst xmlns:a="http://schemas.openxmlformats.org/drawingml/2006/main">
              <a:ext uri="{FF2B5EF4-FFF2-40B4-BE49-F238E27FC236}">
                <a16:creationId xmlns:a16="http://schemas.microsoft.com/office/drawing/2014/main" id="{7B278A9F-B1B2-4599-9AA9-3EB192056602}"/>
              </a:ext>
            </a:extLst>
          </p:cNvPr>
          <p:cNvSpPr>
            <a:spLocks xmlns:a="http://schemas.openxmlformats.org/drawingml/2006/main" noGrp="1"/>
          </p:cNvSpPr>
          <p:nvPr/>
        </p:nvSpPr>
        <p:spPr>
          <a:xfrm xmlns:a="http://schemas.openxmlformats.org/drawingml/2006/main">
            <a:off x="666750" y="5151120"/>
            <a:ext cx="4953000" cy="1055370"/>
          </a:xfrm>
          <a:prstGeom xmlns:a="http://schemas.openxmlformats.org/drawingml/2006/main" prst="roundRect">
            <a:avLst>
              <a:gd name="adj" fmla="val 10830"/>
            </a:avLst>
          </a:prstGeom>
          <a:solidFill xmlns:a="http://schemas.openxmlformats.org/drawingml/2006/main">
            <a:srgbClr val="EEF5F5"/>
          </a:solidFill>
        </p:spPr>
      </p:sp>
      <p:sp>
        <p:nvSpPr>
          <p:cNvPr id="14" name="">
            <a:extLst xmlns:a="http://schemas.openxmlformats.org/drawingml/2006/main">
              <a:ext uri="{FF2B5EF4-FFF2-40B4-BE49-F238E27FC236}">
                <a16:creationId xmlns:a16="http://schemas.microsoft.com/office/drawing/2014/main" id="{29BC29A1-B4A7-45B7-900B-6FF8C04F7A3E}"/>
              </a:ext>
            </a:extLst>
          </p:cNvPr>
          <p:cNvSpPr>
            <a:spLocks xmlns:a="http://schemas.openxmlformats.org/drawingml/2006/main" noGrp="1"/>
          </p:cNvSpPr>
          <p:nvPr/>
        </p:nvSpPr>
        <p:spPr>
          <a:xfrm xmlns:a="http://schemas.openxmlformats.org/drawingml/2006/main">
            <a:off x="876300" y="5457825"/>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15</a:t>
            </a:r>
          </a:p>
        </p:txBody>
      </p:sp>
      <p:sp>
        <p:nvSpPr>
          <p:cNvPr id="15" name="">
            <a:extLst xmlns:a="http://schemas.openxmlformats.org/drawingml/2006/main">
              <a:ext uri="{FF2B5EF4-FFF2-40B4-BE49-F238E27FC236}">
                <a16:creationId xmlns:a16="http://schemas.microsoft.com/office/drawing/2014/main" id="{ECABE451-AAD7-4930-8E07-6C13043B8B15}"/>
              </a:ext>
            </a:extLst>
          </p:cNvPr>
          <p:cNvSpPr>
            <a:spLocks xmlns:a="http://schemas.openxmlformats.org/drawingml/2006/main" noGrp="1"/>
          </p:cNvSpPr>
          <p:nvPr/>
        </p:nvSpPr>
        <p:spPr>
          <a:xfrm xmlns:a="http://schemas.openxmlformats.org/drawingml/2006/main">
            <a:off x="2171700" y="5286375"/>
            <a:ext cx="3257550" cy="790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spurious claim with the real CPU: logged, EOI balanced, next source served</a:t>
            </a:r>
          </a:p>
        </p:txBody>
      </p:sp>
      <p:sp>
        <p:nvSpPr>
          <p:cNvPr id="16" name="">
            <a:extLst xmlns:a="http://schemas.openxmlformats.org/drawingml/2006/main">
              <a:ext uri="{FF2B5EF4-FFF2-40B4-BE49-F238E27FC236}">
                <a16:creationId xmlns:a16="http://schemas.microsoft.com/office/drawing/2014/main" id="{AA7DADC1-CF4B-4056-8EB2-D52D657D1AB2}"/>
              </a:ext>
            </a:extLst>
          </p:cNvPr>
          <p:cNvSpPr>
            <a:spLocks xmlns:a="http://schemas.openxmlformats.org/drawingml/2006/main" noGrp="1"/>
          </p:cNvSpPr>
          <p:nvPr/>
        </p:nvSpPr>
        <p:spPr>
          <a:xfrm xmlns:a="http://schemas.openxmlformats.org/drawingml/2006/main">
            <a:off x="666750" y="6301740"/>
            <a:ext cx="4953000" cy="1055370"/>
          </a:xfrm>
          <a:prstGeom xmlns:a="http://schemas.openxmlformats.org/drawingml/2006/main" prst="roundRect">
            <a:avLst>
              <a:gd name="adj" fmla="val 10830"/>
            </a:avLst>
          </a:prstGeom>
          <a:solidFill xmlns:a="http://schemas.openxmlformats.org/drawingml/2006/main">
            <a:srgbClr val="EEF5F5"/>
          </a:solidFill>
        </p:spPr>
      </p:sp>
      <p:sp>
        <p:nvSpPr>
          <p:cNvPr id="17" name="">
            <a:extLst xmlns:a="http://schemas.openxmlformats.org/drawingml/2006/main">
              <a:ext uri="{FF2B5EF4-FFF2-40B4-BE49-F238E27FC236}">
                <a16:creationId xmlns:a16="http://schemas.microsoft.com/office/drawing/2014/main" id="{A7543C41-924A-4FD3-AC59-DFFB453EDC3D}"/>
              </a:ext>
            </a:extLst>
          </p:cNvPr>
          <p:cNvSpPr>
            <a:spLocks xmlns:a="http://schemas.openxmlformats.org/drawingml/2006/main" noGrp="1"/>
          </p:cNvSpPr>
          <p:nvPr/>
        </p:nvSpPr>
        <p:spPr>
          <a:xfrm xmlns:a="http://schemas.openxmlformats.org/drawingml/2006/main">
            <a:off x="876300" y="6600825"/>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12</a:t>
            </a:r>
          </a:p>
        </p:txBody>
      </p:sp>
      <p:sp>
        <p:nvSpPr>
          <p:cNvPr id="18" name="">
            <a:extLst xmlns:a="http://schemas.openxmlformats.org/drawingml/2006/main">
              <a:ext uri="{FF2B5EF4-FFF2-40B4-BE49-F238E27FC236}">
                <a16:creationId xmlns:a16="http://schemas.microsoft.com/office/drawing/2014/main" id="{2B386475-2C5F-4983-A88E-6A9E8AE9F3A7}"/>
              </a:ext>
            </a:extLst>
          </p:cNvPr>
          <p:cNvSpPr>
            <a:spLocks xmlns:a="http://schemas.openxmlformats.org/drawingml/2006/main" noGrp="1"/>
          </p:cNvSpPr>
          <p:nvPr/>
        </p:nvSpPr>
        <p:spPr>
          <a:xfrm xmlns:a="http://schemas.openxmlformats.org/drawingml/2006/main">
            <a:off x="2171700" y="6562725"/>
            <a:ext cx="325755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escalation through the CPU: service order reversed</a:t>
            </a:r>
          </a:p>
        </p:txBody>
      </p:sp>
      <p:sp>
        <p:nvSpPr>
          <p:cNvPr id="19" name="">
            <a:extLst xmlns:a="http://schemas.openxmlformats.org/drawingml/2006/main">
              <a:ext uri="{FF2B5EF4-FFF2-40B4-BE49-F238E27FC236}">
                <a16:creationId xmlns:a16="http://schemas.microsoft.com/office/drawing/2014/main" id="{C6FC13A2-7B2E-4103-AA49-C8EFA844FF4F}"/>
              </a:ext>
            </a:extLst>
          </p:cNvPr>
          <p:cNvSpPr>
            <a:spLocks xmlns:a="http://schemas.openxmlformats.org/drawingml/2006/main" noGrp="1"/>
          </p:cNvSpPr>
          <p:nvPr/>
        </p:nvSpPr>
        <p:spPr>
          <a:xfrm xmlns:a="http://schemas.openxmlformats.org/drawingml/2006/main">
            <a:off x="666750" y="7452360"/>
            <a:ext cx="4953000" cy="1055370"/>
          </a:xfrm>
          <a:prstGeom xmlns:a="http://schemas.openxmlformats.org/drawingml/2006/main" prst="roundRect">
            <a:avLst>
              <a:gd name="adj" fmla="val 10830"/>
            </a:avLst>
          </a:prstGeom>
          <a:solidFill xmlns:a="http://schemas.openxmlformats.org/drawingml/2006/main">
            <a:srgbClr val="EEF5F5"/>
          </a:solidFill>
        </p:spPr>
      </p:sp>
      <p:sp>
        <p:nvSpPr>
          <p:cNvPr id="20" name="">
            <a:extLst xmlns:a="http://schemas.openxmlformats.org/drawingml/2006/main">
              <a:ext uri="{FF2B5EF4-FFF2-40B4-BE49-F238E27FC236}">
                <a16:creationId xmlns:a16="http://schemas.microsoft.com/office/drawing/2014/main" id="{24C9619A-2338-4FB7-BBD5-7CC9D09D68BB}"/>
              </a:ext>
            </a:extLst>
          </p:cNvPr>
          <p:cNvSpPr>
            <a:spLocks xmlns:a="http://schemas.openxmlformats.org/drawingml/2006/main" noGrp="1"/>
          </p:cNvSpPr>
          <p:nvPr/>
        </p:nvSpPr>
        <p:spPr>
          <a:xfrm xmlns:a="http://schemas.openxmlformats.org/drawingml/2006/main">
            <a:off x="876300" y="7753350"/>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12</a:t>
            </a:r>
          </a:p>
        </p:txBody>
      </p:sp>
      <p:sp>
        <p:nvSpPr>
          <p:cNvPr id="21" name="">
            <a:extLst xmlns:a="http://schemas.openxmlformats.org/drawingml/2006/main">
              <a:ext uri="{FF2B5EF4-FFF2-40B4-BE49-F238E27FC236}">
                <a16:creationId xmlns:a16="http://schemas.microsoft.com/office/drawing/2014/main" id="{9FD01FBE-A380-4C4B-960B-31C118640EA1}"/>
              </a:ext>
            </a:extLst>
          </p:cNvPr>
          <p:cNvSpPr>
            <a:spLocks xmlns:a="http://schemas.openxmlformats.org/drawingml/2006/main" noGrp="1"/>
          </p:cNvSpPr>
          <p:nvPr/>
        </p:nvSpPr>
        <p:spPr>
          <a:xfrm xmlns:a="http://schemas.openxmlformats.org/drawingml/2006/main">
            <a:off x="2171700" y="7715250"/>
            <a:ext cx="325755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PIC SVA properties bound in all 23 SoC benches</a:t>
            </a:r>
          </a:p>
        </p:txBody>
      </p:sp>
      <p:sp>
        <p:nvSpPr>
          <p:cNvPr id="22" name="">
            <a:extLst xmlns:a="http://schemas.openxmlformats.org/drawingml/2006/main">
              <a:ext uri="{FF2B5EF4-FFF2-40B4-BE49-F238E27FC236}">
                <a16:creationId xmlns:a16="http://schemas.microsoft.com/office/drawing/2014/main" id="{64BE1964-4E6A-45C4-96C6-CC08A5DE5754}"/>
              </a:ext>
            </a:extLst>
          </p:cNvPr>
          <p:cNvSpPr>
            <a:spLocks xmlns:a="http://schemas.openxmlformats.org/drawingml/2006/main" noGrp="1"/>
          </p:cNvSpPr>
          <p:nvPr/>
        </p:nvSpPr>
        <p:spPr>
          <a:xfrm xmlns:a="http://schemas.openxmlformats.org/drawingml/2006/main">
            <a:off x="666750" y="8602980"/>
            <a:ext cx="4953000" cy="1055370"/>
          </a:xfrm>
          <a:prstGeom xmlns:a="http://schemas.openxmlformats.org/drawingml/2006/main" prst="roundRect">
            <a:avLst>
              <a:gd name="adj" fmla="val 10830"/>
            </a:avLst>
          </a:prstGeom>
          <a:solidFill xmlns:a="http://schemas.openxmlformats.org/drawingml/2006/main">
            <a:srgbClr val="EEF5F5"/>
          </a:solidFill>
        </p:spPr>
      </p:sp>
      <p:sp>
        <p:nvSpPr>
          <p:cNvPr id="23" name="">
            <a:extLst xmlns:a="http://schemas.openxmlformats.org/drawingml/2006/main">
              <a:ext uri="{FF2B5EF4-FFF2-40B4-BE49-F238E27FC236}">
                <a16:creationId xmlns:a16="http://schemas.microsoft.com/office/drawing/2014/main" id="{F15EF90E-DBE8-436B-9D95-7785CD76D397}"/>
              </a:ext>
            </a:extLst>
          </p:cNvPr>
          <p:cNvSpPr>
            <a:spLocks xmlns:a="http://schemas.openxmlformats.org/drawingml/2006/main" noGrp="1"/>
          </p:cNvSpPr>
          <p:nvPr/>
        </p:nvSpPr>
        <p:spPr>
          <a:xfrm xmlns:a="http://schemas.openxmlformats.org/drawingml/2006/main">
            <a:off x="876300" y="8905875"/>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CI</a:t>
            </a:r>
          </a:p>
        </p:txBody>
      </p:sp>
      <p:sp>
        <p:nvSpPr>
          <p:cNvPr id="24" name="">
            <a:extLst xmlns:a="http://schemas.openxmlformats.org/drawingml/2006/main">
              <a:ext uri="{FF2B5EF4-FFF2-40B4-BE49-F238E27FC236}">
                <a16:creationId xmlns:a16="http://schemas.microsoft.com/office/drawing/2014/main" id="{E6006B90-F979-4EEC-B3C1-7446A5A78E99}"/>
              </a:ext>
            </a:extLst>
          </p:cNvPr>
          <p:cNvSpPr>
            <a:spLocks xmlns:a="http://schemas.openxmlformats.org/drawingml/2006/main" noGrp="1"/>
          </p:cNvSpPr>
          <p:nvPr/>
        </p:nvSpPr>
        <p:spPr>
          <a:xfrm xmlns:a="http://schemas.openxmlformats.org/drawingml/2006/main">
            <a:off x="2171700" y="8734425"/>
            <a:ext cx="3257550" cy="790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every push: lint, all PIC / CPU / SoC benches with SVA, coverage and cover gates</a:t>
            </a:r>
          </a:p>
        </p:txBody>
      </p:sp>
      <p:pic>
        <p:nvPicPr>
          <p:cNvPr id="25" name="asset-presentations/assets/pic_escalation_v3"/>
          <p:cNvPicPr>
            <a:picLocks xmlns:a="http://schemas.openxmlformats.org/drawingml/2006/main" noChangeAspect="1"/>
          </p:cNvPicPr>
          <p:nvPr/>
        </p:nvPicPr>
        <p:blipFill>
          <a:blip xmlns:r="http://schemas.openxmlformats.org/officeDocument/2006/relationships" xmlns:a="http://schemas.openxmlformats.org/drawingml/2006/main" r:embed="Rd51b6c78119d449a">
            <a:extLst>
              <a:ext uri="{96DAC541-7B7A-43D3-8B79-37D633B846F1}">
                <asvg:svgBlip xmlns:asvg="http://schemas.microsoft.com/office/drawing/2016/SVG/main" r:embed="R3798ff315f834651"/>
              </a:ext>
            </a:extLst>
          </a:blip>
          <a:stretch xmlns:a="http://schemas.openxmlformats.org/drawingml/2006/main"/>
        </p:blipFill>
        <p:spPr>
          <a:xfrm xmlns:a="http://schemas.openxmlformats.org/drawingml/2006/main">
            <a:off x="6251543" y="1314450"/>
            <a:ext cx="11080815" cy="533400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A44AC519-F812-4696-9BA0-FADEE9A8E9C1}"/>
              </a:ext>
            </a:extLst>
          </p:cNvPr>
          <p:cNvSpPr>
            <a:spLocks xmlns:a="http://schemas.openxmlformats.org/drawingml/2006/main" noGrp="1"/>
          </p:cNvSpPr>
          <p:nvPr/>
        </p:nvSpPr>
        <p:spPr>
          <a:xfrm xmlns:a="http://schemas.openxmlformats.org/drawingml/2006/main">
            <a:off x="5962650" y="6758940"/>
            <a:ext cx="2800350" cy="2899410"/>
          </a:xfrm>
          <a:prstGeom xmlns:a="http://schemas.openxmlformats.org/drawingml/2006/main" prst="roundRect">
            <a:avLst>
              <a:gd name="adj" fmla="val 4082"/>
            </a:avLst>
          </a:prstGeom>
          <a:solidFill xmlns:a="http://schemas.openxmlformats.org/drawingml/2006/main">
            <a:srgbClr val="EEF5F5"/>
          </a:solidFill>
        </p:spPr>
      </p:sp>
      <p:sp>
        <p:nvSpPr>
          <p:cNvPr id="27" name="">
            <a:extLst xmlns:a="http://schemas.openxmlformats.org/drawingml/2006/main">
              <a:ext uri="{FF2B5EF4-FFF2-40B4-BE49-F238E27FC236}">
                <a16:creationId xmlns:a16="http://schemas.microsoft.com/office/drawing/2014/main" id="{D0D0BEDD-4ACB-4EE4-9756-19CB2DDA3069}"/>
              </a:ext>
            </a:extLst>
          </p:cNvPr>
          <p:cNvSpPr>
            <a:spLocks xmlns:a="http://schemas.openxmlformats.org/drawingml/2006/main" noGrp="1"/>
          </p:cNvSpPr>
          <p:nvPr/>
        </p:nvSpPr>
        <p:spPr>
          <a:xfrm xmlns:a="http://schemas.openxmlformats.org/drawingml/2006/main">
            <a:off x="6134100" y="7543800"/>
            <a:ext cx="2495550" cy="2762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A35B17"/>
                </a:solidFill>
              </a:defRPr>
            </a:pPr>
            <a:r>
              <a:rPr sz="1800" b="1">
                <a:solidFill>
                  <a:srgbClr val="A35B17"/>
                </a:solidFill>
              </a:rPr>
              <a:t>1 · Source 9 escalates</a:t>
            </a:r>
          </a:p>
        </p:txBody>
      </p:sp>
      <p:sp>
        <p:nvSpPr>
          <p:cNvPr id="28" name="">
            <a:extLst xmlns:a="http://schemas.openxmlformats.org/drawingml/2006/main">
              <a:ext uri="{FF2B5EF4-FFF2-40B4-BE49-F238E27FC236}">
                <a16:creationId xmlns:a16="http://schemas.microsoft.com/office/drawing/2014/main" id="{A18E7D88-6DB6-4996-B964-029F479C0EF5}"/>
              </a:ext>
            </a:extLst>
          </p:cNvPr>
          <p:cNvSpPr>
            <a:spLocks xmlns:a="http://schemas.openxmlformats.org/drawingml/2006/main" noGrp="1"/>
          </p:cNvSpPr>
          <p:nvPr/>
        </p:nvSpPr>
        <p:spPr>
          <a:xfrm xmlns:a="http://schemas.openxmlformats.org/drawingml/2006/main">
            <a:off x="6134100" y="7877175"/>
            <a:ext cx="2495550" cy="1009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0">
                <a:solidFill>
                  <a:srgbClr val="173442"/>
                </a:solidFill>
              </a:defRPr>
            </a:pPr>
            <a:r>
              <a:rPr sz="1650" b="0">
                <a:solidFill>
                  <a:srgbClr val="173442"/>
                </a:solidFill>
              </a:rPr>
              <a:t>It has waited past its 2-cycle deadline: escalated = 200 (bit 9), and it moves to band 0, the most urgent.</a:t>
            </a:r>
          </a:p>
        </p:txBody>
      </p:sp>
      <p:sp>
        <p:nvSpPr>
          <p:cNvPr id="29" name="">
            <a:extLst xmlns:a="http://schemas.openxmlformats.org/drawingml/2006/main">
              <a:ext uri="{FF2B5EF4-FFF2-40B4-BE49-F238E27FC236}">
                <a16:creationId xmlns:a16="http://schemas.microsoft.com/office/drawing/2014/main" id="{04F5B872-951C-4B2C-87A0-8224D4B70B6B}"/>
              </a:ext>
            </a:extLst>
          </p:cNvPr>
          <p:cNvSpPr>
            <a:spLocks xmlns:a="http://schemas.openxmlformats.org/drawingml/2006/main" noGrp="1"/>
          </p:cNvSpPr>
          <p:nvPr/>
        </p:nvSpPr>
        <p:spPr>
          <a:xfrm xmlns:a="http://schemas.openxmlformats.org/drawingml/2006/main">
            <a:off x="8915400" y="6758940"/>
            <a:ext cx="2800350" cy="2899410"/>
          </a:xfrm>
          <a:prstGeom xmlns:a="http://schemas.openxmlformats.org/drawingml/2006/main" prst="roundRect">
            <a:avLst>
              <a:gd name="adj" fmla="val 4082"/>
            </a:avLst>
          </a:prstGeom>
          <a:solidFill xmlns:a="http://schemas.openxmlformats.org/drawingml/2006/main">
            <a:srgbClr val="EEF5F5"/>
          </a:solidFill>
        </p:spPr>
      </p:sp>
      <p:sp>
        <p:nvSpPr>
          <p:cNvPr id="30" name="">
            <a:extLst xmlns:a="http://schemas.openxmlformats.org/drawingml/2006/main">
              <a:ext uri="{FF2B5EF4-FFF2-40B4-BE49-F238E27FC236}">
                <a16:creationId xmlns:a16="http://schemas.microsoft.com/office/drawing/2014/main" id="{5792B8D1-E167-452C-AFB4-13B42CBE0F29}"/>
              </a:ext>
            </a:extLst>
          </p:cNvPr>
          <p:cNvSpPr>
            <a:spLocks xmlns:a="http://schemas.openxmlformats.org/drawingml/2006/main" noGrp="1"/>
          </p:cNvSpPr>
          <p:nvPr/>
        </p:nvSpPr>
        <p:spPr>
          <a:xfrm xmlns:a="http://schemas.openxmlformats.org/drawingml/2006/main">
            <a:off x="9086850" y="7543800"/>
            <a:ext cx="2495550" cy="2762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A35B17"/>
                </a:solidFill>
              </a:defRPr>
            </a:pPr>
            <a:r>
              <a:rPr sz="1800" b="1">
                <a:solidFill>
                  <a:srgbClr val="A35B17"/>
                </a:solidFill>
              </a:rPr>
              <a:t>2 · Source 8 arrives</a:t>
            </a:r>
          </a:p>
        </p:txBody>
      </p:sp>
      <p:sp>
        <p:nvSpPr>
          <p:cNvPr id="31" name="">
            <a:extLst xmlns:a="http://schemas.openxmlformats.org/drawingml/2006/main">
              <a:ext uri="{FF2B5EF4-FFF2-40B4-BE49-F238E27FC236}">
                <a16:creationId xmlns:a16="http://schemas.microsoft.com/office/drawing/2014/main" id="{85AF82A9-72DE-405A-9557-603BC3111867}"/>
              </a:ext>
            </a:extLst>
          </p:cNvPr>
          <p:cNvSpPr>
            <a:spLocks xmlns:a="http://schemas.openxmlformats.org/drawingml/2006/main" noGrp="1"/>
          </p:cNvSpPr>
          <p:nvPr/>
        </p:nvSpPr>
        <p:spPr>
          <a:xfrm xmlns:a="http://schemas.openxmlformats.org/drawingml/2006/main">
            <a:off x="9086850" y="7877175"/>
            <a:ext cx="2495550" cy="1009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0">
                <a:solidFill>
                  <a:srgbClr val="173442"/>
                </a:solidFill>
              </a:defRPr>
            </a:pPr>
            <a:r>
              <a:rPr sz="1650" b="0">
                <a:solidFill>
                  <a:srgbClr val="173442"/>
                </a:solidFill>
              </a:rPr>
              <a:t>requests = 300 (8 and 9). Band 1 would beat band 3, but 9 is now in band 0, so the vector stays 9.</a:t>
            </a:r>
          </a:p>
        </p:txBody>
      </p:sp>
      <p:sp>
        <p:nvSpPr>
          <p:cNvPr id="32" name="">
            <a:extLst xmlns:a="http://schemas.openxmlformats.org/drawingml/2006/main">
              <a:ext uri="{FF2B5EF4-FFF2-40B4-BE49-F238E27FC236}">
                <a16:creationId xmlns:a16="http://schemas.microsoft.com/office/drawing/2014/main" id="{A32A33A1-6EC9-4907-A4FA-0E04EE5892C0}"/>
              </a:ext>
            </a:extLst>
          </p:cNvPr>
          <p:cNvSpPr>
            <a:spLocks xmlns:a="http://schemas.openxmlformats.org/drawingml/2006/main" noGrp="1"/>
          </p:cNvSpPr>
          <p:nvPr/>
        </p:nvSpPr>
        <p:spPr>
          <a:xfrm xmlns:a="http://schemas.openxmlformats.org/drawingml/2006/main">
            <a:off x="11868150" y="6758940"/>
            <a:ext cx="2800350" cy="2899410"/>
          </a:xfrm>
          <a:prstGeom xmlns:a="http://schemas.openxmlformats.org/drawingml/2006/main" prst="roundRect">
            <a:avLst>
              <a:gd name="adj" fmla="val 4082"/>
            </a:avLst>
          </a:prstGeom>
          <a:solidFill xmlns:a="http://schemas.openxmlformats.org/drawingml/2006/main">
            <a:srgbClr val="EEF5F5"/>
          </a:solidFill>
        </p:spPr>
      </p:sp>
      <p:sp>
        <p:nvSpPr>
          <p:cNvPr id="33" name="">
            <a:extLst xmlns:a="http://schemas.openxmlformats.org/drawingml/2006/main">
              <a:ext uri="{FF2B5EF4-FFF2-40B4-BE49-F238E27FC236}">
                <a16:creationId xmlns:a16="http://schemas.microsoft.com/office/drawing/2014/main" id="{A31E86FC-6F7A-4AEF-9FB3-97A9A484CEF6}"/>
              </a:ext>
            </a:extLst>
          </p:cNvPr>
          <p:cNvSpPr>
            <a:spLocks xmlns:a="http://schemas.openxmlformats.org/drawingml/2006/main" noGrp="1"/>
          </p:cNvSpPr>
          <p:nvPr/>
        </p:nvSpPr>
        <p:spPr>
          <a:xfrm xmlns:a="http://schemas.openxmlformats.org/drawingml/2006/main">
            <a:off x="12039600" y="7667625"/>
            <a:ext cx="2495550" cy="2762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A35B17"/>
                </a:solidFill>
              </a:defRPr>
            </a:pPr>
            <a:r>
              <a:rPr sz="1800" b="1">
                <a:solidFill>
                  <a:srgbClr val="A35B17"/>
                </a:solidFill>
              </a:rPr>
              <a:t>3 · CPU takes source 9</a:t>
            </a:r>
          </a:p>
        </p:txBody>
      </p:sp>
      <p:sp>
        <p:nvSpPr>
          <p:cNvPr id="34" name="">
            <a:extLst xmlns:a="http://schemas.openxmlformats.org/drawingml/2006/main">
              <a:ext uri="{FF2B5EF4-FFF2-40B4-BE49-F238E27FC236}">
                <a16:creationId xmlns:a16="http://schemas.microsoft.com/office/drawing/2014/main" id="{C13576FC-5D6D-4FA7-AEB5-DD1AC31045CD}"/>
              </a:ext>
            </a:extLst>
          </p:cNvPr>
          <p:cNvSpPr>
            <a:spLocks xmlns:a="http://schemas.openxmlformats.org/drawingml/2006/main" noGrp="1"/>
          </p:cNvSpPr>
          <p:nvPr/>
        </p:nvSpPr>
        <p:spPr>
          <a:xfrm xmlns:a="http://schemas.openxmlformats.org/drawingml/2006/main">
            <a:off x="12039600" y="8001000"/>
            <a:ext cx="2495550" cy="762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0">
                <a:solidFill>
                  <a:srgbClr val="173442"/>
                </a:solidFill>
              </a:defRPr>
            </a:pPr>
            <a:r>
              <a:rPr sz="1650" b="0">
                <a:solidFill>
                  <a:srgbClr val="173442"/>
                </a:solidFill>
              </a:rPr>
              <a:t>The CPU sets MIE and claims vector 9 first; active = 200 (source 9 in service).</a:t>
            </a:r>
          </a:p>
        </p:txBody>
      </p:sp>
      <p:sp>
        <p:nvSpPr>
          <p:cNvPr id="35" name="">
            <a:extLst xmlns:a="http://schemas.openxmlformats.org/drawingml/2006/main">
              <a:ext uri="{FF2B5EF4-FFF2-40B4-BE49-F238E27FC236}">
                <a16:creationId xmlns:a16="http://schemas.microsoft.com/office/drawing/2014/main" id="{FD766D47-879A-42C6-A263-5D2EF5A2AE78}"/>
              </a:ext>
            </a:extLst>
          </p:cNvPr>
          <p:cNvSpPr>
            <a:spLocks xmlns:a="http://schemas.openxmlformats.org/drawingml/2006/main" noGrp="1"/>
          </p:cNvSpPr>
          <p:nvPr/>
        </p:nvSpPr>
        <p:spPr>
          <a:xfrm xmlns:a="http://schemas.openxmlformats.org/drawingml/2006/main">
            <a:off x="14820900" y="6758940"/>
            <a:ext cx="2800350" cy="2899410"/>
          </a:xfrm>
          <a:prstGeom xmlns:a="http://schemas.openxmlformats.org/drawingml/2006/main" prst="roundRect">
            <a:avLst>
              <a:gd name="adj" fmla="val 4082"/>
            </a:avLst>
          </a:prstGeom>
          <a:solidFill xmlns:a="http://schemas.openxmlformats.org/drawingml/2006/main">
            <a:srgbClr val="EEF5F5"/>
          </a:solidFill>
        </p:spPr>
      </p:sp>
      <p:sp>
        <p:nvSpPr>
          <p:cNvPr id="36" name="">
            <a:extLst xmlns:a="http://schemas.openxmlformats.org/drawingml/2006/main">
              <a:ext uri="{FF2B5EF4-FFF2-40B4-BE49-F238E27FC236}">
                <a16:creationId xmlns:a16="http://schemas.microsoft.com/office/drawing/2014/main" id="{E4C0A0C7-F218-4E35-AEE0-E4455B3CADBF}"/>
              </a:ext>
            </a:extLst>
          </p:cNvPr>
          <p:cNvSpPr>
            <a:spLocks xmlns:a="http://schemas.openxmlformats.org/drawingml/2006/main" noGrp="1"/>
          </p:cNvSpPr>
          <p:nvPr/>
        </p:nvSpPr>
        <p:spPr>
          <a:xfrm xmlns:a="http://schemas.openxmlformats.org/drawingml/2006/main">
            <a:off x="14992350" y="7667625"/>
            <a:ext cx="2495550" cy="2762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A35B17"/>
                </a:solidFill>
              </a:defRPr>
            </a:pPr>
            <a:r>
              <a:rPr sz="1800" b="1">
                <a:solidFill>
                  <a:srgbClr val="A35B17"/>
                </a:solidFill>
              </a:rPr>
              <a:t>4 · Then source 8</a:t>
            </a:r>
          </a:p>
        </p:txBody>
      </p:sp>
      <p:sp>
        <p:nvSpPr>
          <p:cNvPr id="37" name="">
            <a:extLst xmlns:a="http://schemas.openxmlformats.org/drawingml/2006/main">
              <a:ext uri="{FF2B5EF4-FFF2-40B4-BE49-F238E27FC236}">
                <a16:creationId xmlns:a16="http://schemas.microsoft.com/office/drawing/2014/main" id="{6D69F807-2B5D-48D2-A0FC-EEA7D9488F98}"/>
              </a:ext>
            </a:extLst>
          </p:cNvPr>
          <p:cNvSpPr>
            <a:spLocks xmlns:a="http://schemas.openxmlformats.org/drawingml/2006/main" noGrp="1"/>
          </p:cNvSpPr>
          <p:nvPr/>
        </p:nvSpPr>
        <p:spPr>
          <a:xfrm xmlns:a="http://schemas.openxmlformats.org/drawingml/2006/main">
            <a:off x="14992350" y="8001000"/>
            <a:ext cx="2495550" cy="762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0">
                <a:solidFill>
                  <a:srgbClr val="173442"/>
                </a:solidFill>
              </a:defRPr>
            </a:pPr>
            <a:r>
              <a:rPr sz="1650" b="0">
                <a:solidFill>
                  <a:srgbClr val="173442"/>
                </a:solidFill>
              </a:rPr>
              <a:t>After the EOI of 9 the vector changes to 8 and the CPU claims it; active = 100 (bit 8).</a:t>
            </a:r>
          </a:p>
        </p:txBody>
      </p:sp>
      <p:sp>
        <p:nvSpPr>
          <p:cNvPr id="38" name="footer">
            <a:extLst xmlns:a="http://schemas.openxmlformats.org/drawingml/2006/main">
              <a:ext uri="{FF2B5EF4-FFF2-40B4-BE49-F238E27FC236}">
                <a16:creationId xmlns:a16="http://schemas.microsoft.com/office/drawing/2014/main" id="{C771E8D6-CCBD-47D6-8ADF-EA114F00CEE6}"/>
              </a:ext>
            </a:extLst>
          </p:cNvPr>
          <p:cNvSpPr>
            <a:spLocks xmlns:a="http://schemas.openxmlformats.org/drawingml/2006/main" noGrp="1"/>
          </p:cNvSpPr>
          <p:nvPr/>
        </p:nvSpPr>
        <p:spPr>
          <a:xfrm xmlns:a="http://schemas.openxmlformats.org/drawingml/2006/main">
            <a:off x="666750" y="979170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PIC   ·   06 / 07   ·   Verification · system</a:t>
            </a:r>
          </a:p>
        </p:txBody>
      </p:sp>
    </p:spTree>
    <p:extLst>
      <p:ext uri="{BB962C8B-B14F-4D97-AF65-F5344CB8AC3E}">
        <p14:creationId xmlns:p14="http://schemas.microsoft.com/office/powerpoint/2010/main" val="76803575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D726E055-B294-470C-AF4A-04DD3EF6BE38}"/>
              </a:ext>
            </a:extLst>
          </p:cNvPr>
          <p:cNvSpPr>
            <a:spLocks xmlns:a="http://schemas.openxmlformats.org/drawingml/2006/main" noGrp="1"/>
          </p:cNvSpPr>
          <p:nvPr/>
        </p:nvSpPr>
        <p:spPr>
          <a:xfrm xmlns:a="http://schemas.openxmlformats.org/drawingml/2006/main">
            <a:off x="666750" y="381000"/>
            <a:ext cx="169545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73442"/>
                </a:solidFill>
              </a:defRPr>
            </a:pPr>
            <a:r>
              <a:rPr sz="3600" b="1">
                <a:solidFill>
                  <a:srgbClr val="173442"/>
                </a:solidFill>
              </a:rPr>
              <a:t>Result: configurable arbitration with verified preemption</a:t>
            </a:r>
          </a:p>
        </p:txBody>
      </p:sp>
      <p:sp>
        <p:nvSpPr>
          <p:cNvPr id="2" name="">
            <a:extLst xmlns:a="http://schemas.openxmlformats.org/drawingml/2006/main">
              <a:ext uri="{FF2B5EF4-FFF2-40B4-BE49-F238E27FC236}">
                <a16:creationId xmlns:a16="http://schemas.microsoft.com/office/drawing/2014/main" id="{40BCD55D-229B-4443-B740-89DC25F6E6C4}"/>
              </a:ext>
            </a:extLst>
          </p:cNvPr>
          <p:cNvSpPr>
            <a:spLocks xmlns:a="http://schemas.openxmlformats.org/drawingml/2006/main" noGrp="1"/>
          </p:cNvSpPr>
          <p:nvPr/>
        </p:nvSpPr>
        <p:spPr>
          <a:xfrm xmlns:a="http://schemas.openxmlformats.org/drawingml/2006/main">
            <a:off x="666750" y="10477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
            <a:extLst xmlns:a="http://schemas.openxmlformats.org/drawingml/2006/main">
              <a:ext uri="{FF2B5EF4-FFF2-40B4-BE49-F238E27FC236}">
                <a16:creationId xmlns:a16="http://schemas.microsoft.com/office/drawing/2014/main" id="{F05FB28F-0314-4EDC-851F-0AFC2ECC3093}"/>
              </a:ext>
            </a:extLst>
          </p:cNvPr>
          <p:cNvSpPr>
            <a:spLocks xmlns:a="http://schemas.openxmlformats.org/drawingml/2006/main" noGrp="1"/>
          </p:cNvSpPr>
          <p:nvPr/>
        </p:nvSpPr>
        <p:spPr>
          <a:xfrm xmlns:a="http://schemas.openxmlformats.org/drawingml/2006/main">
            <a:off x="666750" y="1310640"/>
            <a:ext cx="6841998" cy="7410450"/>
          </a:xfrm>
          <a:prstGeom xmlns:a="http://schemas.openxmlformats.org/drawingml/2006/main" prst="roundRect">
            <a:avLst>
              <a:gd name="adj" fmla="val 1671"/>
            </a:avLst>
          </a:prstGeom>
          <a:solidFill xmlns:a="http://schemas.openxmlformats.org/drawingml/2006/main">
            <a:srgbClr val="EEF5F5"/>
          </a:solidFill>
        </p:spPr>
      </p:sp>
      <p:sp>
        <p:nvSpPr>
          <p:cNvPr id="4" name="">
            <a:extLst xmlns:a="http://schemas.openxmlformats.org/drawingml/2006/main">
              <a:ext uri="{FF2B5EF4-FFF2-40B4-BE49-F238E27FC236}">
                <a16:creationId xmlns:a16="http://schemas.microsoft.com/office/drawing/2014/main" id="{7503B9D4-E714-483F-9B8B-17A262093934}"/>
              </a:ext>
            </a:extLst>
          </p:cNvPr>
          <p:cNvSpPr>
            <a:spLocks xmlns:a="http://schemas.openxmlformats.org/drawingml/2006/main" noGrp="1"/>
          </p:cNvSpPr>
          <p:nvPr/>
        </p:nvSpPr>
        <p:spPr>
          <a:xfrm xmlns:a="http://schemas.openxmlformats.org/drawingml/2006/main">
            <a:off x="1009650" y="1581150"/>
            <a:ext cx="6191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006B75"/>
                </a:solidFill>
              </a:defRPr>
            </a:pPr>
            <a:r>
              <a:rPr sz="2100" b="1">
                <a:solidFill>
                  <a:srgbClr val="006B75"/>
                </a:solidFill>
              </a:rPr>
              <a:t>WHAT I BUILT</a:t>
            </a:r>
          </a:p>
        </p:txBody>
      </p:sp>
      <p:sp>
        <p:nvSpPr>
          <p:cNvPr id="5" name="">
            <a:extLst xmlns:a="http://schemas.openxmlformats.org/drawingml/2006/main">
              <a:ext uri="{FF2B5EF4-FFF2-40B4-BE49-F238E27FC236}">
                <a16:creationId xmlns:a16="http://schemas.microsoft.com/office/drawing/2014/main" id="{82D99BE8-C865-49BC-940D-EC3F012D4A8B}"/>
              </a:ext>
            </a:extLst>
          </p:cNvPr>
          <p:cNvSpPr>
            <a:spLocks xmlns:a="http://schemas.openxmlformats.org/drawingml/2006/main" noGrp="1"/>
          </p:cNvSpPr>
          <p:nvPr/>
        </p:nvSpPr>
        <p:spPr>
          <a:xfrm xmlns:a="http://schemas.openxmlformats.org/drawingml/2006/main">
            <a:off x="1009650" y="2743200"/>
            <a:ext cx="3810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1">
                <a:solidFill>
                  <a:srgbClr val="006B75"/>
                </a:solidFill>
              </a:defRPr>
            </a:pPr>
            <a:r>
              <a:rPr sz="2325" b="1">
                <a:solidFill>
                  <a:srgbClr val="006B75"/>
                </a:solidFill>
              </a:rPr>
              <a:t>1.</a:t>
            </a:r>
          </a:p>
        </p:txBody>
      </p:sp>
      <p:sp>
        <p:nvSpPr>
          <p:cNvPr id="6" name="">
            <a:extLst xmlns:a="http://schemas.openxmlformats.org/drawingml/2006/main">
              <a:ext uri="{FF2B5EF4-FFF2-40B4-BE49-F238E27FC236}">
                <a16:creationId xmlns:a16="http://schemas.microsoft.com/office/drawing/2014/main" id="{957B1D52-E3C6-4498-9803-EF86936DD47B}"/>
              </a:ext>
            </a:extLst>
          </p:cNvPr>
          <p:cNvSpPr>
            <a:spLocks xmlns:a="http://schemas.openxmlformats.org/drawingml/2006/main" noGrp="1"/>
          </p:cNvSpPr>
          <p:nvPr/>
        </p:nvSpPr>
        <p:spPr>
          <a:xfrm xmlns:a="http://schemas.openxmlformats.org/drawingml/2006/main">
            <a:off x="1562100" y="2743200"/>
            <a:ext cx="5638800"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a:solidFill>
                  <a:srgbClr val="173442"/>
                </a:solidFill>
              </a:defRPr>
            </a:pPr>
            <a:r>
              <a:rPr sz="2325" b="0">
                <a:solidFill>
                  <a:srgbClr val="173442"/>
                </a:solidFill>
              </a:rPr>
              <a:t>4 bands with programmable urgency and a 10-bit priority key</a:t>
            </a:r>
          </a:p>
        </p:txBody>
      </p:sp>
      <p:sp>
        <p:nvSpPr>
          <p:cNvPr id="7" name="">
            <a:extLst xmlns:a="http://schemas.openxmlformats.org/drawingml/2006/main">
              <a:ext uri="{FF2B5EF4-FFF2-40B4-BE49-F238E27FC236}">
                <a16:creationId xmlns:a16="http://schemas.microsoft.com/office/drawing/2014/main" id="{DFB25971-6A5D-4B80-B457-83A8CC9228E2}"/>
              </a:ext>
            </a:extLst>
          </p:cNvPr>
          <p:cNvSpPr>
            <a:spLocks xmlns:a="http://schemas.openxmlformats.org/drawingml/2006/main" noGrp="1"/>
          </p:cNvSpPr>
          <p:nvPr/>
        </p:nvSpPr>
        <p:spPr>
          <a:xfrm xmlns:a="http://schemas.openxmlformats.org/drawingml/2006/main">
            <a:off x="1009650" y="4933950"/>
            <a:ext cx="3810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1">
                <a:solidFill>
                  <a:srgbClr val="006B75"/>
                </a:solidFill>
              </a:defRPr>
            </a:pPr>
            <a:r>
              <a:rPr sz="2325" b="1">
                <a:solidFill>
                  <a:srgbClr val="006B75"/>
                </a:solidFill>
              </a:rPr>
              <a:t>2.</a:t>
            </a:r>
          </a:p>
        </p:txBody>
      </p:sp>
      <p:sp>
        <p:nvSpPr>
          <p:cNvPr id="8" name="">
            <a:extLst xmlns:a="http://schemas.openxmlformats.org/drawingml/2006/main">
              <a:ext uri="{FF2B5EF4-FFF2-40B4-BE49-F238E27FC236}">
                <a16:creationId xmlns:a16="http://schemas.microsoft.com/office/drawing/2014/main" id="{D2DA38E2-7B3A-4894-BA9B-0E028D4AE5A3}"/>
              </a:ext>
            </a:extLst>
          </p:cNvPr>
          <p:cNvSpPr>
            <a:spLocks xmlns:a="http://schemas.openxmlformats.org/drawingml/2006/main" noGrp="1"/>
          </p:cNvSpPr>
          <p:nvPr/>
        </p:nvSpPr>
        <p:spPr>
          <a:xfrm xmlns:a="http://schemas.openxmlformats.org/drawingml/2006/main">
            <a:off x="1562100" y="4933950"/>
            <a:ext cx="5638800"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a:solidFill>
                  <a:srgbClr val="173442"/>
                </a:solidFill>
              </a:defRPr>
            </a:pPr>
            <a:r>
              <a:rPr sz="2325" b="0">
                <a:solidFill>
                  <a:srgbClr val="173442"/>
                </a:solidFill>
              </a:rPr>
              <a:t>16-level nesting stack, spurious detection, deadline escalation</a:t>
            </a:r>
          </a:p>
        </p:txBody>
      </p:sp>
      <p:sp>
        <p:nvSpPr>
          <p:cNvPr id="9" name="">
            <a:extLst xmlns:a="http://schemas.openxmlformats.org/drawingml/2006/main">
              <a:ext uri="{FF2B5EF4-FFF2-40B4-BE49-F238E27FC236}">
                <a16:creationId xmlns:a16="http://schemas.microsoft.com/office/drawing/2014/main" id="{A03D028F-523A-4F26-B76F-C31618DF33FE}"/>
              </a:ext>
            </a:extLst>
          </p:cNvPr>
          <p:cNvSpPr>
            <a:spLocks xmlns:a="http://schemas.openxmlformats.org/drawingml/2006/main" noGrp="1"/>
          </p:cNvSpPr>
          <p:nvPr/>
        </p:nvSpPr>
        <p:spPr>
          <a:xfrm xmlns:a="http://schemas.openxmlformats.org/drawingml/2006/main">
            <a:off x="1009650" y="7134225"/>
            <a:ext cx="3810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1">
                <a:solidFill>
                  <a:srgbClr val="006B75"/>
                </a:solidFill>
              </a:defRPr>
            </a:pPr>
            <a:r>
              <a:rPr sz="2325" b="1">
                <a:solidFill>
                  <a:srgbClr val="006B75"/>
                </a:solidFill>
              </a:rPr>
              <a:t>3.</a:t>
            </a:r>
          </a:p>
        </p:txBody>
      </p:sp>
      <p:sp>
        <p:nvSpPr>
          <p:cNvPr id="10" name="">
            <a:extLst xmlns:a="http://schemas.openxmlformats.org/drawingml/2006/main">
              <a:ext uri="{FF2B5EF4-FFF2-40B4-BE49-F238E27FC236}">
                <a16:creationId xmlns:a16="http://schemas.microsoft.com/office/drawing/2014/main" id="{B27DB787-7B92-49F2-A927-E338682FF81D}"/>
              </a:ext>
            </a:extLst>
          </p:cNvPr>
          <p:cNvSpPr>
            <a:spLocks xmlns:a="http://schemas.openxmlformats.org/drawingml/2006/main" noGrp="1"/>
          </p:cNvSpPr>
          <p:nvPr/>
        </p:nvSpPr>
        <p:spPr>
          <a:xfrm xmlns:a="http://schemas.openxmlformats.org/drawingml/2006/main">
            <a:off x="1562100" y="7134225"/>
            <a:ext cx="5638800"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a:solidFill>
                  <a:srgbClr val="173442"/>
                </a:solidFill>
              </a:defRPr>
            </a:pPr>
            <a:r>
              <a:rPr sz="2325" b="0">
                <a:solidFill>
                  <a:srgbClr val="173442"/>
                </a:solidFill>
              </a:rPr>
              <a:t>Golden priority model, cycle model and formal proofs of the stack</a:t>
            </a:r>
          </a:p>
        </p:txBody>
      </p:sp>
      <p:sp>
        <p:nvSpPr>
          <p:cNvPr id="11" name="">
            <a:extLst xmlns:a="http://schemas.openxmlformats.org/drawingml/2006/main">
              <a:ext uri="{FF2B5EF4-FFF2-40B4-BE49-F238E27FC236}">
                <a16:creationId xmlns:a16="http://schemas.microsoft.com/office/drawing/2014/main" id="{B20737E8-E146-49AA-892A-B741C7CD5261}"/>
              </a:ext>
            </a:extLst>
          </p:cNvPr>
          <p:cNvSpPr>
            <a:spLocks xmlns:a="http://schemas.openxmlformats.org/drawingml/2006/main" noGrp="1"/>
          </p:cNvSpPr>
          <p:nvPr/>
        </p:nvSpPr>
        <p:spPr>
          <a:xfrm xmlns:a="http://schemas.openxmlformats.org/drawingml/2006/main">
            <a:off x="7775448" y="1310640"/>
            <a:ext cx="9845802" cy="7410450"/>
          </a:xfrm>
          <a:prstGeom xmlns:a="http://schemas.openxmlformats.org/drawingml/2006/main" prst="roundRect">
            <a:avLst>
              <a:gd name="adj" fmla="val 1542"/>
            </a:avLst>
          </a:prstGeom>
          <a:solidFill xmlns:a="http://schemas.openxmlformats.org/drawingml/2006/main">
            <a:srgbClr val="EEF5F5"/>
          </a:solidFill>
        </p:spPr>
      </p:sp>
      <p:sp>
        <p:nvSpPr>
          <p:cNvPr id="12" name="">
            <a:extLst xmlns:a="http://schemas.openxmlformats.org/drawingml/2006/main">
              <a:ext uri="{FF2B5EF4-FFF2-40B4-BE49-F238E27FC236}">
                <a16:creationId xmlns:a16="http://schemas.microsoft.com/office/drawing/2014/main" id="{3B01E585-586E-4833-BFC1-1B8F739163EF}"/>
              </a:ext>
            </a:extLst>
          </p:cNvPr>
          <p:cNvSpPr>
            <a:spLocks xmlns:a="http://schemas.openxmlformats.org/drawingml/2006/main" noGrp="1"/>
          </p:cNvSpPr>
          <p:nvPr/>
        </p:nvSpPr>
        <p:spPr>
          <a:xfrm xmlns:a="http://schemas.openxmlformats.org/drawingml/2006/main">
            <a:off x="8115300" y="1581150"/>
            <a:ext cx="92011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006B75"/>
                </a:solidFill>
              </a:defRPr>
            </a:pPr>
            <a:r>
              <a:rPr sz="2100" b="1">
                <a:solidFill>
                  <a:srgbClr val="006B75"/>
                </a:solidFill>
              </a:rPr>
              <a:t>WHAT I LEARNED</a:t>
            </a:r>
          </a:p>
        </p:txBody>
      </p:sp>
      <p:sp>
        <p:nvSpPr>
          <p:cNvPr id="13" name="">
            <a:extLst xmlns:a="http://schemas.openxmlformats.org/drawingml/2006/main">
              <a:ext uri="{FF2B5EF4-FFF2-40B4-BE49-F238E27FC236}">
                <a16:creationId xmlns:a16="http://schemas.microsoft.com/office/drawing/2014/main" id="{C4B9D4DD-9298-48CB-A201-8336F0D95E8F}"/>
              </a:ext>
            </a:extLst>
          </p:cNvPr>
          <p:cNvSpPr>
            <a:spLocks xmlns:a="http://schemas.openxmlformats.org/drawingml/2006/main" noGrp="1"/>
          </p:cNvSpPr>
          <p:nvPr/>
        </p:nvSpPr>
        <p:spPr>
          <a:xfrm xmlns:a="http://schemas.openxmlformats.org/drawingml/2006/main">
            <a:off x="8115300" y="2505075"/>
            <a:ext cx="2476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a:solidFill>
                  <a:srgbClr val="006B75"/>
                </a:solidFill>
              </a:defRPr>
            </a:pPr>
            <a:r>
              <a:rPr sz="2100" b="0">
                <a:solidFill>
                  <a:srgbClr val="006B75"/>
                </a:solidFill>
              </a:rPr>
              <a:t>–</a:t>
            </a:r>
          </a:p>
        </p:txBody>
      </p:sp>
      <p:sp>
        <p:nvSpPr>
          <p:cNvPr id="14" name="">
            <a:extLst xmlns:a="http://schemas.openxmlformats.org/drawingml/2006/main">
              <a:ext uri="{FF2B5EF4-FFF2-40B4-BE49-F238E27FC236}">
                <a16:creationId xmlns:a16="http://schemas.microsoft.com/office/drawing/2014/main" id="{807AC0FF-DE1B-4EC6-A019-3FA2FF878B4E}"/>
              </a:ext>
            </a:extLst>
          </p:cNvPr>
          <p:cNvSpPr>
            <a:spLocks xmlns:a="http://schemas.openxmlformats.org/drawingml/2006/main" noGrp="1"/>
          </p:cNvSpPr>
          <p:nvPr/>
        </p:nvSpPr>
        <p:spPr>
          <a:xfrm xmlns:a="http://schemas.openxmlformats.org/drawingml/2006/main">
            <a:off x="8515350" y="2505075"/>
            <a:ext cx="8801100" cy="619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A priority encoder looks simple until two requests tie or arrive in the same cycle. I learned to write down a rule for every such case before touching the RTL.</a:t>
            </a:r>
          </a:p>
        </p:txBody>
      </p:sp>
      <p:sp>
        <p:nvSpPr>
          <p:cNvPr id="15" name="">
            <a:extLst xmlns:a="http://schemas.openxmlformats.org/drawingml/2006/main">
              <a:ext uri="{FF2B5EF4-FFF2-40B4-BE49-F238E27FC236}">
                <a16:creationId xmlns:a16="http://schemas.microsoft.com/office/drawing/2014/main" id="{F6D29320-5E37-48A9-A392-90394539A42A}"/>
              </a:ext>
            </a:extLst>
          </p:cNvPr>
          <p:cNvSpPr>
            <a:spLocks xmlns:a="http://schemas.openxmlformats.org/drawingml/2006/main" noGrp="1"/>
          </p:cNvSpPr>
          <p:nvPr/>
        </p:nvSpPr>
        <p:spPr>
          <a:xfrm xmlns:a="http://schemas.openxmlformats.org/drawingml/2006/main">
            <a:off x="8115300" y="4152900"/>
            <a:ext cx="2476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a:solidFill>
                  <a:srgbClr val="006B75"/>
                </a:solidFill>
              </a:defRPr>
            </a:pPr>
            <a:r>
              <a:rPr sz="2100" b="0">
                <a:solidFill>
                  <a:srgbClr val="006B75"/>
                </a:solidFill>
              </a:rPr>
              <a:t>–</a:t>
            </a:r>
          </a:p>
        </p:txBody>
      </p:sp>
      <p:sp>
        <p:nvSpPr>
          <p:cNvPr id="16" name="">
            <a:extLst xmlns:a="http://schemas.openxmlformats.org/drawingml/2006/main">
              <a:ext uri="{FF2B5EF4-FFF2-40B4-BE49-F238E27FC236}">
                <a16:creationId xmlns:a16="http://schemas.microsoft.com/office/drawing/2014/main" id="{C1F191DD-EA5F-4286-A485-E2AC670AD1BE}"/>
              </a:ext>
            </a:extLst>
          </p:cNvPr>
          <p:cNvSpPr>
            <a:spLocks xmlns:a="http://schemas.openxmlformats.org/drawingml/2006/main" noGrp="1"/>
          </p:cNvSpPr>
          <p:nvPr/>
        </p:nvSpPr>
        <p:spPr>
          <a:xfrm xmlns:a="http://schemas.openxmlformats.org/drawingml/2006/main">
            <a:off x="8515350" y="4152900"/>
            <a:ext cx="8801100" cy="619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Saving the key at claim was a small idea with a big effect: software can reconfigure a source at any moment and the stack stays correct.</a:t>
            </a:r>
          </a:p>
        </p:txBody>
      </p:sp>
      <p:sp>
        <p:nvSpPr>
          <p:cNvPr id="17" name="">
            <a:extLst xmlns:a="http://schemas.openxmlformats.org/drawingml/2006/main">
              <a:ext uri="{FF2B5EF4-FFF2-40B4-BE49-F238E27FC236}">
                <a16:creationId xmlns:a16="http://schemas.microsoft.com/office/drawing/2014/main" id="{4E0AB443-7882-4DD5-BC36-5718EFD0D0C1}"/>
              </a:ext>
            </a:extLst>
          </p:cNvPr>
          <p:cNvSpPr>
            <a:spLocks xmlns:a="http://schemas.openxmlformats.org/drawingml/2006/main" noGrp="1"/>
          </p:cNvSpPr>
          <p:nvPr/>
        </p:nvSpPr>
        <p:spPr>
          <a:xfrm xmlns:a="http://schemas.openxmlformats.org/drawingml/2006/main">
            <a:off x="8115300" y="5800725"/>
            <a:ext cx="2476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a:solidFill>
                  <a:srgbClr val="006B75"/>
                </a:solidFill>
              </a:defRPr>
            </a:pPr>
            <a:r>
              <a:rPr sz="2100" b="0">
                <a:solidFill>
                  <a:srgbClr val="006B75"/>
                </a:solidFill>
              </a:rPr>
              <a:t>–</a:t>
            </a:r>
          </a:p>
        </p:txBody>
      </p:sp>
      <p:sp>
        <p:nvSpPr>
          <p:cNvPr id="18" name="">
            <a:extLst xmlns:a="http://schemas.openxmlformats.org/drawingml/2006/main">
              <a:ext uri="{FF2B5EF4-FFF2-40B4-BE49-F238E27FC236}">
                <a16:creationId xmlns:a16="http://schemas.microsoft.com/office/drawing/2014/main" id="{1B765292-6428-4AD2-A73D-1F825C447EA0}"/>
              </a:ext>
            </a:extLst>
          </p:cNvPr>
          <p:cNvSpPr>
            <a:spLocks xmlns:a="http://schemas.openxmlformats.org/drawingml/2006/main" noGrp="1"/>
          </p:cNvSpPr>
          <p:nvPr/>
        </p:nvSpPr>
        <p:spPr>
          <a:xfrm xmlns:a="http://schemas.openxmlformats.org/drawingml/2006/main">
            <a:off x="8515350" y="5800725"/>
            <a:ext cx="8801100" cy="619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Looking at the PIC and the CPU together showed me where the mask belongs: inside the PIC, so a source the CPU ignores never holds back the others.</a:t>
            </a:r>
          </a:p>
        </p:txBody>
      </p:sp>
      <p:sp>
        <p:nvSpPr>
          <p:cNvPr id="19" name="">
            <a:extLst xmlns:a="http://schemas.openxmlformats.org/drawingml/2006/main">
              <a:ext uri="{FF2B5EF4-FFF2-40B4-BE49-F238E27FC236}">
                <a16:creationId xmlns:a16="http://schemas.microsoft.com/office/drawing/2014/main" id="{FF7A50F6-3A43-4BF7-821C-74634643B933}"/>
              </a:ext>
            </a:extLst>
          </p:cNvPr>
          <p:cNvSpPr>
            <a:spLocks xmlns:a="http://schemas.openxmlformats.org/drawingml/2006/main" noGrp="1"/>
          </p:cNvSpPr>
          <p:nvPr/>
        </p:nvSpPr>
        <p:spPr>
          <a:xfrm xmlns:a="http://schemas.openxmlformats.org/drawingml/2006/main">
            <a:off x="8115300" y="7458075"/>
            <a:ext cx="2476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a:solidFill>
                  <a:srgbClr val="006B75"/>
                </a:solidFill>
              </a:defRPr>
            </a:pPr>
            <a:r>
              <a:rPr sz="2100" b="0">
                <a:solidFill>
                  <a:srgbClr val="006B75"/>
                </a:solidFill>
              </a:rPr>
              <a:t>–</a:t>
            </a:r>
          </a:p>
        </p:txBody>
      </p:sp>
      <p:sp>
        <p:nvSpPr>
          <p:cNvPr id="20" name="">
            <a:extLst xmlns:a="http://schemas.openxmlformats.org/drawingml/2006/main">
              <a:ext uri="{FF2B5EF4-FFF2-40B4-BE49-F238E27FC236}">
                <a16:creationId xmlns:a16="http://schemas.microsoft.com/office/drawing/2014/main" id="{1AC6E806-0AB5-4B7F-9E73-503A4255B7F7}"/>
              </a:ext>
            </a:extLst>
          </p:cNvPr>
          <p:cNvSpPr>
            <a:spLocks xmlns:a="http://schemas.openxmlformats.org/drawingml/2006/main" noGrp="1"/>
          </p:cNvSpPr>
          <p:nvPr/>
        </p:nvSpPr>
        <p:spPr>
          <a:xfrm xmlns:a="http://schemas.openxmlformats.org/drawingml/2006/main">
            <a:off x="8515350" y="7458075"/>
            <a:ext cx="8801100" cy="619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Writing the priority model in Python, apart from the Verilog, meant understanding every rule twice, and that is where the design became clear to me.</a:t>
            </a:r>
          </a:p>
        </p:txBody>
      </p:sp>
      <p:sp>
        <p:nvSpPr>
          <p:cNvPr id="21" name="">
            <a:extLst xmlns:a="http://schemas.openxmlformats.org/drawingml/2006/main">
              <a:ext uri="{FF2B5EF4-FFF2-40B4-BE49-F238E27FC236}">
                <a16:creationId xmlns:a16="http://schemas.microsoft.com/office/drawing/2014/main" id="{DE3546BE-4497-46D0-8D60-4C479DB49471}"/>
              </a:ext>
            </a:extLst>
          </p:cNvPr>
          <p:cNvSpPr>
            <a:spLocks xmlns:a="http://schemas.openxmlformats.org/drawingml/2006/main" noGrp="1"/>
          </p:cNvSpPr>
          <p:nvPr/>
        </p:nvSpPr>
        <p:spPr>
          <a:xfrm xmlns:a="http://schemas.openxmlformats.org/drawingml/2006/main">
            <a:off x="666750" y="8911590"/>
            <a:ext cx="16954500" cy="746760"/>
          </a:xfrm>
          <a:prstGeom xmlns:a="http://schemas.openxmlformats.org/drawingml/2006/main" prst="roundRect">
            <a:avLst>
              <a:gd name="adj" fmla="val 15306"/>
            </a:avLst>
          </a:prstGeom>
          <a:solidFill xmlns:a="http://schemas.openxmlformats.org/drawingml/2006/main">
            <a:srgbClr val="006B75"/>
          </a:solidFill>
        </p:spPr>
      </p:sp>
      <p:sp>
        <p:nvSpPr>
          <p:cNvPr id="22" name="">
            <a:extLst xmlns:a="http://schemas.openxmlformats.org/drawingml/2006/main">
              <a:ext uri="{FF2B5EF4-FFF2-40B4-BE49-F238E27FC236}">
                <a16:creationId xmlns:a16="http://schemas.microsoft.com/office/drawing/2014/main" id="{306843FF-DF13-4C99-B63B-04CFC65210DD}"/>
              </a:ext>
            </a:extLst>
          </p:cNvPr>
          <p:cNvSpPr>
            <a:spLocks xmlns:a="http://schemas.openxmlformats.org/drawingml/2006/main" noGrp="1"/>
          </p:cNvSpPr>
          <p:nvPr/>
        </p:nvSpPr>
        <p:spPr>
          <a:xfrm xmlns:a="http://schemas.openxmlformats.org/drawingml/2006/main">
            <a:off x="1047750" y="9105900"/>
            <a:ext cx="16192500" cy="3714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400" b="1">
                <a:solidFill>
                  <a:srgbClr val="FFFFFF"/>
                </a:solidFill>
              </a:defRPr>
            </a:pPr>
            <a:r>
              <a:rPr sz="2400" b="1">
                <a:solidFill>
                  <a:srgbClr val="FFFFFF"/>
                </a:solidFill>
              </a:rPr>
              <a:t>Thank you! Questions are welcome.</a:t>
            </a:r>
          </a:p>
        </p:txBody>
      </p:sp>
      <p:sp>
        <p:nvSpPr>
          <p:cNvPr id="23" name="footer">
            <a:extLst xmlns:a="http://schemas.openxmlformats.org/drawingml/2006/main">
              <a:ext uri="{FF2B5EF4-FFF2-40B4-BE49-F238E27FC236}">
                <a16:creationId xmlns:a16="http://schemas.microsoft.com/office/drawing/2014/main" id="{9BD641E7-1EC0-42FD-936C-A785BEF808E8}"/>
              </a:ext>
            </a:extLst>
          </p:cNvPr>
          <p:cNvSpPr>
            <a:spLocks xmlns:a="http://schemas.openxmlformats.org/drawingml/2006/main" noGrp="1"/>
          </p:cNvSpPr>
          <p:nvPr/>
        </p:nvSpPr>
        <p:spPr>
          <a:xfrm xmlns:a="http://schemas.openxmlformats.org/drawingml/2006/main">
            <a:off x="666750" y="979170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PIC   ·   07 / 07   ·   Conclusions</a:t>
            </a:r>
          </a:p>
        </p:txBody>
      </p:sp>
    </p:spTree>
    <p:extLst>
      <p:ext uri="{BB962C8B-B14F-4D97-AF65-F5344CB8AC3E}">
        <p14:creationId xmlns:p14="http://schemas.microsoft.com/office/powerpoint/2010/main" val="4568276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2026-09-23T19:50:56.9560000Z</dcterms:created>
  <dcterms:modified xsi:type="dcterms:W3CDTF">2026-09-23T19:50:56.9560000Z</dcterms:modified>
</coreProperties>
</file>