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7b273bcfb54a94" /><Relationship Type="http://schemas.openxmlformats.org/officeDocument/2006/relationships/extended-properties" Target="/docProps/app.xml" Id="R82d6d52890114616" /><Relationship Type="http://schemas.openxmlformats.org/officeDocument/2006/relationships/officeDocument" Target="/ppt/presentation.xml" Id="R7e40dce20c3a46c0" /></Relationships>
</file>

<file path=ppt/presentation.xml><?xml version="1.0" encoding="utf-8"?>
<p:presentation xmlns:p="http://schemas.openxmlformats.org/presentationml/2006/main">
  <p:sldMasterIdLst>
    <p:sldMasterId xmlns:r="http://schemas.openxmlformats.org/officeDocument/2006/relationships" id="2147483648" r:id="R7840c502c0324b5f"/>
  </p:sldMasterIdLst>
  <p:notesMasterIdLst>
    <p:notesMasterId xmlns:r="http://schemas.openxmlformats.org/officeDocument/2006/relationships" r:id="Rc4c6af8bdc3e4864"/>
  </p:notesMasterIdLst>
  <p:sldIdLst>
    <p:sldId xmlns:r="http://schemas.openxmlformats.org/officeDocument/2006/relationships" id="256" r:id="Reb196273ed7c4a01"/>
    <p:sldId xmlns:r="http://schemas.openxmlformats.org/officeDocument/2006/relationships" id="257" r:id="R20bd0ede62254183"/>
    <p:sldId xmlns:r="http://schemas.openxmlformats.org/officeDocument/2006/relationships" id="258" r:id="R2e1ac497ba61491c"/>
    <p:sldId xmlns:r="http://schemas.openxmlformats.org/officeDocument/2006/relationships" id="259" r:id="Rabe5d15ed77c4ce7"/>
    <p:sldId xmlns:r="http://schemas.openxmlformats.org/officeDocument/2006/relationships" id="260" r:id="R5c5659c2022a462d"/>
    <p:sldId xmlns:r="http://schemas.openxmlformats.org/officeDocument/2006/relationships" id="261" r:id="R9a262e99aa35467d"/>
    <p:sldId xmlns:r="http://schemas.openxmlformats.org/officeDocument/2006/relationships" id="262" r:id="R9249cb7fe1664bce"/>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7840c502c0324b5f" /><Relationship Type="http://schemas.openxmlformats.org/officeDocument/2006/relationships/theme" Target="/ppt/theme/theme1.xml" Id="R2c0f9bf6d52c4e91" /><Relationship Type="http://schemas.openxmlformats.org/officeDocument/2006/relationships/notesMaster" Target="/ppt/notesMasters/notesMaster1.xml" Id="Rc4c6af8bdc3e4864" /><Relationship Type="http://schemas.openxmlformats.org/officeDocument/2006/relationships/presProps" Target="/ppt/presProps.xml" Id="R2b8d621759c442c8" /><Relationship Type="http://schemas.openxmlformats.org/officeDocument/2006/relationships/viewProps" Target="/ppt/viewProps.xml" Id="Rc809229fdb9b42ef" /><Relationship Type="http://schemas.openxmlformats.org/officeDocument/2006/relationships/tableStyles" Target="/ppt/tableStyles.xml" Id="R5b1f867f5ab1428b" /><Relationship Type="http://schemas.openxmlformats.org/officeDocument/2006/relationships/slide" Target="/ppt/slides/slide1.xml" Id="Reb196273ed7c4a01" /><Relationship Type="http://schemas.openxmlformats.org/officeDocument/2006/relationships/slide" Target="/ppt/slides/slide2.xml" Id="R20bd0ede62254183" /><Relationship Type="http://schemas.openxmlformats.org/officeDocument/2006/relationships/slide" Target="/ppt/slides/slide3.xml" Id="R2e1ac497ba61491c" /><Relationship Type="http://schemas.openxmlformats.org/officeDocument/2006/relationships/slide" Target="/ppt/slides/slide4.xml" Id="Rabe5d15ed77c4ce7" /><Relationship Type="http://schemas.openxmlformats.org/officeDocument/2006/relationships/slide" Target="/ppt/slides/slide5.xml" Id="R5c5659c2022a462d" /><Relationship Type="http://schemas.openxmlformats.org/officeDocument/2006/relationships/slide" Target="/ppt/slides/slide6.xml" Id="R9a262e99aa35467d" /><Relationship Type="http://schemas.openxmlformats.org/officeDocument/2006/relationships/slide" Target="/ppt/slides/slide7.xml" Id="R9249cb7fe1664b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d241c3c0f4744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5072d387324afa" /><Relationship Type="http://schemas.openxmlformats.org/officeDocument/2006/relationships/notesMaster" Target="/ppt/notesMasters/notesMaster1.xml" Id="Rfd4077b5cc5b44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cdd8be351d47dc" /><Relationship Type="http://schemas.openxmlformats.org/officeDocument/2006/relationships/notesMaster" Target="/ppt/notesMasters/notesMaster1.xml" Id="R0fafcb57379d45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0cc38c6c7a4617" /><Relationship Type="http://schemas.openxmlformats.org/officeDocument/2006/relationships/notesMaster" Target="/ppt/notesMasters/notesMaster1.xml" Id="R7e7d6278c3c644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58a704b24f4ea0" /><Relationship Type="http://schemas.openxmlformats.org/officeDocument/2006/relationships/notesMaster" Target="/ppt/notesMasters/notesMaster1.xml" Id="Rc3466efa18b04a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b26179a36a427f" /><Relationship Type="http://schemas.openxmlformats.org/officeDocument/2006/relationships/notesMaster" Target="/ppt/notesMasters/notesMaster1.xml" Id="R00b3657dc9b740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a2f082c8e84e68" /><Relationship Type="http://schemas.openxmlformats.org/officeDocument/2006/relationships/notesMaster" Target="/ppt/notesMasters/notesMaster1.xml" Id="Rc83c5e96b4854b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2544b1d9bd403d" /><Relationship Type="http://schemas.openxmlformats.org/officeDocument/2006/relationships/notesMaster" Target="/ppt/notesMasters/notesMaster1.xml" Id="Rc1b8f43681a940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Introduce the project and my own contribution: defining the behaviour, writing the RTL, integrating it and verifying it. Total planned time: 10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Start from the requirements in the RV32I brief: pipeline, ISA, register file, predictor, traps, AXI ports, CSRs and stall/flush control. The brief left the predictor capacity, the order of concurrent events and the reaction to bus errors to be defined. Those decisions are my design contribution. The interrupt link to the PIC has 16 sources, a 4-bit ID and scalar claim and EOI.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 Follow the main path: fetch and prediction in S1, the IF/DX boundary, decode and operands and execution in S2, then DX/WB and the S3 mux. The LSU finishes its transfer before S2 advances. S3 feeds back into the register file and the forwarding path. Then show the feedback along the bottom: the branch result and the LSU status reach the control block, which issues the redirect and the valid bits of the pipeline registers. The predictor is updated when a valid branch or jump completes. S1 drains the wrong-path response. The PIC and the memories are external; the numbers on the links are widths in bits. The parameters are RESET_PC, HART_ID, BP_ENTRIES and RAS_DEPTH.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This is the software-interface slide. CSRs are reached through CSR instructions, not over AXI. Follow the four steps: mtvec and mie, then global MIE; on acceptance the hardware saves mepc, mcause and mtval and clears MIE; the handler removes the cause, MRET returns to mepc and emits an EOI when it returns from an interrupt. For nesting, software saves and restores the CSR context before re-enabling MIE. The specification lists every address and field, including the identity and counter registers.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 Show the two paths in the diagram: program and stimulus into the DUT, expected results and observations into the checks. The ISA model is independent of the RTL; the memories can delay responses and apply backpressure. The monitors check the transfers, the scoreboard checks the architectural effect, and the SVA attached through bind check the pipeline rules. The hardest cases combine events: an IRQ during a load, a response arriving after a redirect, a counter write meeting an increment. Reset is asserted 2 ns after a rising edge and checked at plus 3 ns, including from an active state. The next slide shows one complete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Use the markers and the arrows. At 7575 ns the IRQ appears, but lsu_active is still 1, so there is no claim. At 7595 ns RVALID and RREADY are evaluated on the rising edge and the load response is accepted. At 7605 ns the claim and cpu_in_trap appear. A response cannot be abandoned to enter the handler sooner. The test also checks the loaded value and mepc; the waveform shows the ordering behind that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Close with what I built and what I learned. The result is an integrated CPU whose execution is compared against an independent model. The hard part was defining the ordering at the boundary between memory, pipeline and traps. The internship taught me to turn incomplete requirements into precise contracts, and to write tests that check those contracts. My contribution covers the architectural decisions, the RTL, the integration and the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5c247a324d42e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88e781fbbe56413b" /><Relationship Type="http://schemas.openxmlformats.org/officeDocument/2006/relationships/slideLayout" Target="/ppt/slideLayouts/slideLayout2.xml" Id="R27bd396bddce4b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bd396bddce4b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a055e40c3db84788" /><Relationship Type="http://schemas.openxmlformats.org/officeDocument/2006/relationships/notesSlide" Target="/ppt/notesSlides/notesSlide1.xml" Id="R949d1739915f4e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7b1af0b4a4843d2" /><Relationship Type="http://schemas.openxmlformats.org/officeDocument/2006/relationships/notesSlide" Target="/ppt/notesSlides/notesSlide2.xml" Id="Rfbcac31e5e834d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ded9bdc37904daa" /><Relationship Type="http://schemas.openxmlformats.org/officeDocument/2006/relationships/image" Target="/ppt/media/image.png" Id="Reca3e3bbb1094659" /><Relationship Type="http://schemas.openxmlformats.org/officeDocument/2006/relationships/image" Target="/ppt/media/image.svg" Id="R38df1cf5c50047d9" /><Relationship Type="http://schemas.openxmlformats.org/officeDocument/2006/relationships/notesSlide" Target="/ppt/notesSlides/notesSlide3.xml" Id="Ra96a7912b1da44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b60293de14f461d" /><Relationship Type="http://schemas.openxmlformats.org/officeDocument/2006/relationships/image" Target="/ppt/media/image2.png" Id="R120a72f0efe74426" /><Relationship Type="http://schemas.openxmlformats.org/officeDocument/2006/relationships/image" Target="/ppt/media/image2.svg" Id="Re64ef39e1531495a" /><Relationship Type="http://schemas.openxmlformats.org/officeDocument/2006/relationships/notesSlide" Target="/ppt/notesSlides/notesSlide4.xml" Id="R59e2a8144f5744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030ec9ec01e442f" /><Relationship Type="http://schemas.openxmlformats.org/officeDocument/2006/relationships/image" Target="/ppt/media/image3.png" Id="R48bca85e3a3a49ed" /><Relationship Type="http://schemas.openxmlformats.org/officeDocument/2006/relationships/image" Target="/ppt/media/image3.svg" Id="Re20863587c9b4a19" /><Relationship Type="http://schemas.openxmlformats.org/officeDocument/2006/relationships/notesSlide" Target="/ppt/notesSlides/notesSlide5.xml" Id="Rd0b3ce44454f47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c5af30d57e44954" /><Relationship Type="http://schemas.openxmlformats.org/officeDocument/2006/relationships/image" Target="/ppt/media/image4.png" Id="Rbb66eb9c8581494f" /><Relationship Type="http://schemas.openxmlformats.org/officeDocument/2006/relationships/image" Target="/ppt/media/image4.svg" Id="R03e5bc68fd7b4708" /><Relationship Type="http://schemas.openxmlformats.org/officeDocument/2006/relationships/notesSlide" Target="/ppt/notesSlides/notesSlide6.xml" Id="R958d831338b64c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3dd7886ea644bf3" /><Relationship Type="http://schemas.openxmlformats.org/officeDocument/2006/relationships/notesSlide" Target="/ppt/notesSlides/notesSlide7.xml" Id="R1566911753354d0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text">
            <a:extLst xmlns:a="http://schemas.openxmlformats.org/drawingml/2006/main">
              <a:ext uri="{FF2B5EF4-FFF2-40B4-BE49-F238E27FC236}">
                <a16:creationId xmlns:a16="http://schemas.microsoft.com/office/drawing/2014/main" id="{C7BF3CC1-1F53-4915-BE8B-02540E676D84}"/>
              </a:ext>
            </a:extLst>
          </p:cNvPr>
          <p:cNvSpPr>
            <a:spLocks xmlns:a="http://schemas.openxmlformats.org/drawingml/2006/main" noGrp="1"/>
          </p:cNvSpPr>
          <p:nvPr/>
        </p:nvSpPr>
        <p:spPr>
          <a:xfrm xmlns:a="http://schemas.openxmlformats.org/drawingml/2006/main">
            <a:off x="952500" y="904875"/>
            <a:ext cx="16383000" cy="4286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526772"/>
                </a:solidFill>
              </a:defRPr>
            </a:pPr>
            <a:r>
              <a:rPr sz="1950" b="0">
                <a:solidFill>
                  <a:srgbClr val="526772"/>
                </a:solidFill>
              </a:rPr>
              <a:t>INTERNSHIP · SIEMENS · 2026</a:t>
            </a:r>
          </a:p>
        </p:txBody>
      </p:sp>
      <p:sp>
        <p:nvSpPr>
          <p:cNvPr id="2" name="">
            <a:extLst xmlns:a="http://schemas.openxmlformats.org/drawingml/2006/main">
              <a:ext uri="{FF2B5EF4-FFF2-40B4-BE49-F238E27FC236}">
                <a16:creationId xmlns:a16="http://schemas.microsoft.com/office/drawing/2014/main" id="{8DAB33EC-273E-4A4B-831B-040BB1BDBFD4}"/>
              </a:ext>
            </a:extLst>
          </p:cNvPr>
          <p:cNvSpPr>
            <a:spLocks xmlns:a="http://schemas.openxmlformats.org/drawingml/2006/main" noGrp="1"/>
          </p:cNvSpPr>
          <p:nvPr/>
        </p:nvSpPr>
        <p:spPr>
          <a:xfrm xmlns:a="http://schemas.openxmlformats.org/drawingml/2006/main">
            <a:off x="952500" y="1543050"/>
            <a:ext cx="2095500" cy="47625"/>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text">
            <a:extLst xmlns:a="http://schemas.openxmlformats.org/drawingml/2006/main">
              <a:ext uri="{FF2B5EF4-FFF2-40B4-BE49-F238E27FC236}">
                <a16:creationId xmlns:a16="http://schemas.microsoft.com/office/drawing/2014/main" id="{9F80ECF8-6930-4060-857D-0A424F9F7BFD}"/>
              </a:ext>
            </a:extLst>
          </p:cNvPr>
          <p:cNvSpPr>
            <a:spLocks xmlns:a="http://schemas.openxmlformats.org/drawingml/2006/main" noGrp="1"/>
          </p:cNvSpPr>
          <p:nvPr/>
        </p:nvSpPr>
        <p:spPr>
          <a:xfrm xmlns:a="http://schemas.openxmlformats.org/drawingml/2006/main">
            <a:off x="952500" y="1800225"/>
            <a:ext cx="163830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173442"/>
                </a:solidFill>
              </a:defRPr>
            </a:pPr>
            <a:r>
              <a:rPr sz="5850" b="1">
                <a:solidFill>
                  <a:srgbClr val="173442"/>
                </a:solidFill>
              </a:rPr>
              <a:t>RV32I Processor</a:t>
            </a:r>
          </a:p>
        </p:txBody>
      </p:sp>
      <p:sp>
        <p:nvSpPr>
          <p:cNvPr id="4" name="text">
            <a:extLst xmlns:a="http://schemas.openxmlformats.org/drawingml/2006/main">
              <a:ext uri="{FF2B5EF4-FFF2-40B4-BE49-F238E27FC236}">
                <a16:creationId xmlns:a16="http://schemas.microsoft.com/office/drawing/2014/main" id="{DF932EFE-390E-4C94-A4CF-7C1FE7983E0F}"/>
              </a:ext>
            </a:extLst>
          </p:cNvPr>
          <p:cNvSpPr>
            <a:spLocks xmlns:a="http://schemas.openxmlformats.org/drawingml/2006/main" noGrp="1"/>
          </p:cNvSpPr>
          <p:nvPr/>
        </p:nvSpPr>
        <p:spPr>
          <a:xfrm xmlns:a="http://schemas.openxmlformats.org/drawingml/2006/main">
            <a:off x="952500" y="3105150"/>
            <a:ext cx="1638300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0">
                <a:solidFill>
                  <a:srgbClr val="006B75"/>
                </a:solidFill>
              </a:defRPr>
            </a:pPr>
            <a:r>
              <a:rPr sz="3600" b="0">
                <a:solidFill>
                  <a:srgbClr val="006B75"/>
                </a:solidFill>
              </a:rPr>
              <a:t>Three-stage pipeline</a:t>
            </a:r>
          </a:p>
        </p:txBody>
      </p:sp>
      <p:sp>
        <p:nvSpPr>
          <p:cNvPr id="5" name="text">
            <a:extLst xmlns:a="http://schemas.openxmlformats.org/drawingml/2006/main">
              <a:ext uri="{FF2B5EF4-FFF2-40B4-BE49-F238E27FC236}">
                <a16:creationId xmlns:a16="http://schemas.microsoft.com/office/drawing/2014/main" id="{CDF146B2-136B-4E39-897E-51EDC11E690F}"/>
              </a:ext>
            </a:extLst>
          </p:cNvPr>
          <p:cNvSpPr>
            <a:spLocks xmlns:a="http://schemas.openxmlformats.org/drawingml/2006/main" noGrp="1"/>
          </p:cNvSpPr>
          <p:nvPr/>
        </p:nvSpPr>
        <p:spPr>
          <a:xfrm xmlns:a="http://schemas.openxmlformats.org/drawingml/2006/main">
            <a:off x="952500" y="4619625"/>
            <a:ext cx="36195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006B75"/>
                </a:solidFill>
              </a:defRPr>
            </a:pPr>
            <a:r>
              <a:rPr sz="2550" b="1">
                <a:solidFill>
                  <a:srgbClr val="006B75"/>
                </a:solidFill>
              </a:rPr>
              <a:t>FETCH</a:t>
            </a:r>
          </a:p>
        </p:txBody>
      </p:sp>
      <p:sp>
        <p:nvSpPr>
          <p:cNvPr id="6" name="text">
            <a:extLst xmlns:a="http://schemas.openxmlformats.org/drawingml/2006/main">
              <a:ext uri="{FF2B5EF4-FFF2-40B4-BE49-F238E27FC236}">
                <a16:creationId xmlns:a16="http://schemas.microsoft.com/office/drawing/2014/main" id="{822D98F7-6840-46A5-B9E7-95BFFCD16164}"/>
              </a:ext>
            </a:extLst>
          </p:cNvPr>
          <p:cNvSpPr>
            <a:spLocks xmlns:a="http://schemas.openxmlformats.org/drawingml/2006/main" noGrp="1"/>
          </p:cNvSpPr>
          <p:nvPr/>
        </p:nvSpPr>
        <p:spPr>
          <a:xfrm xmlns:a="http://schemas.openxmlformats.org/drawingml/2006/main">
            <a:off x="4800600" y="4619625"/>
            <a:ext cx="6667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0">
                <a:solidFill>
                  <a:srgbClr val="526772"/>
                </a:solidFill>
              </a:defRPr>
            </a:pPr>
            <a:r>
              <a:rPr sz="3750" b="0">
                <a:solidFill>
                  <a:srgbClr val="526772"/>
                </a:solidFill>
              </a:rPr>
              <a:t>→</a:t>
            </a:r>
          </a:p>
        </p:txBody>
      </p:sp>
      <p:sp>
        <p:nvSpPr>
          <p:cNvPr id="7" name="text">
            <a:extLst xmlns:a="http://schemas.openxmlformats.org/drawingml/2006/main">
              <a:ext uri="{FF2B5EF4-FFF2-40B4-BE49-F238E27FC236}">
                <a16:creationId xmlns:a16="http://schemas.microsoft.com/office/drawing/2014/main" id="{8EBDC348-7BD9-4B7B-B224-D842D5DE236B}"/>
              </a:ext>
            </a:extLst>
          </p:cNvPr>
          <p:cNvSpPr>
            <a:spLocks xmlns:a="http://schemas.openxmlformats.org/drawingml/2006/main" noGrp="1"/>
          </p:cNvSpPr>
          <p:nvPr/>
        </p:nvSpPr>
        <p:spPr>
          <a:xfrm xmlns:a="http://schemas.openxmlformats.org/drawingml/2006/main">
            <a:off x="5695950" y="4619625"/>
            <a:ext cx="52387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006B75"/>
                </a:solidFill>
              </a:defRPr>
            </a:pPr>
            <a:r>
              <a:rPr sz="2550" b="1">
                <a:solidFill>
                  <a:srgbClr val="006B75"/>
                </a:solidFill>
              </a:rPr>
              <a:t>DECODE / EXECUTE</a:t>
            </a:r>
          </a:p>
        </p:txBody>
      </p:sp>
      <p:sp>
        <p:nvSpPr>
          <p:cNvPr id="8" name="text">
            <a:extLst xmlns:a="http://schemas.openxmlformats.org/drawingml/2006/main">
              <a:ext uri="{FF2B5EF4-FFF2-40B4-BE49-F238E27FC236}">
                <a16:creationId xmlns:a16="http://schemas.microsoft.com/office/drawing/2014/main" id="{D44FDBD2-6DE1-4DAB-845D-2A0F6A1F573E}"/>
              </a:ext>
            </a:extLst>
          </p:cNvPr>
          <p:cNvSpPr>
            <a:spLocks xmlns:a="http://schemas.openxmlformats.org/drawingml/2006/main" noGrp="1"/>
          </p:cNvSpPr>
          <p:nvPr/>
        </p:nvSpPr>
        <p:spPr>
          <a:xfrm xmlns:a="http://schemas.openxmlformats.org/drawingml/2006/main">
            <a:off x="11163300" y="4619625"/>
            <a:ext cx="6667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0">
                <a:solidFill>
                  <a:srgbClr val="526772"/>
                </a:solidFill>
              </a:defRPr>
            </a:pPr>
            <a:r>
              <a:rPr sz="3750" b="0">
                <a:solidFill>
                  <a:srgbClr val="526772"/>
                </a:solidFill>
              </a:rPr>
              <a:t>→</a:t>
            </a:r>
          </a:p>
        </p:txBody>
      </p:sp>
      <p:sp>
        <p:nvSpPr>
          <p:cNvPr id="9" name="text">
            <a:extLst xmlns:a="http://schemas.openxmlformats.org/drawingml/2006/main">
              <a:ext uri="{FF2B5EF4-FFF2-40B4-BE49-F238E27FC236}">
                <a16:creationId xmlns:a16="http://schemas.microsoft.com/office/drawing/2014/main" id="{73169286-6CA1-4A4E-ACBF-38192A54A363}"/>
              </a:ext>
            </a:extLst>
          </p:cNvPr>
          <p:cNvSpPr>
            <a:spLocks xmlns:a="http://schemas.openxmlformats.org/drawingml/2006/main" noGrp="1"/>
          </p:cNvSpPr>
          <p:nvPr/>
        </p:nvSpPr>
        <p:spPr>
          <a:xfrm xmlns:a="http://schemas.openxmlformats.org/drawingml/2006/main">
            <a:off x="12058650" y="4619625"/>
            <a:ext cx="36195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006B75"/>
                </a:solidFill>
              </a:defRPr>
            </a:pPr>
            <a:r>
              <a:rPr sz="2550" b="1">
                <a:solidFill>
                  <a:srgbClr val="006B75"/>
                </a:solidFill>
              </a:rPr>
              <a:t>WRITEBACK</a:t>
            </a:r>
          </a:p>
        </p:txBody>
      </p:sp>
      <p:sp>
        <p:nvSpPr>
          <p:cNvPr id="10" name="text">
            <a:extLst xmlns:a="http://schemas.openxmlformats.org/drawingml/2006/main">
              <a:ext uri="{FF2B5EF4-FFF2-40B4-BE49-F238E27FC236}">
                <a16:creationId xmlns:a16="http://schemas.microsoft.com/office/drawing/2014/main" id="{3B91CE06-23BE-4C25-B962-BFA16DFC13DE}"/>
              </a:ext>
            </a:extLst>
          </p:cNvPr>
          <p:cNvSpPr>
            <a:spLocks xmlns:a="http://schemas.openxmlformats.org/drawingml/2006/main" noGrp="1"/>
          </p:cNvSpPr>
          <p:nvPr/>
        </p:nvSpPr>
        <p:spPr>
          <a:xfrm xmlns:a="http://schemas.openxmlformats.org/drawingml/2006/main">
            <a:off x="952500" y="6372225"/>
            <a:ext cx="16383000" cy="1714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Bunea Cosmin-Andrei</a:t>
            </a:r>
          </a:p>
          <a:p xmlns:a="http://schemas.openxmlformats.org/drawingml/2006/main">
            <a:pPr>
              <a:defRPr sz="2550" b="0">
                <a:solidFill>
                  <a:srgbClr val="173442"/>
                </a:solidFill>
              </a:defRPr>
            </a:pPr>
            <a:r>
              <a:rPr sz="2550" b="0">
                <a:solidFill>
                  <a:srgbClr val="173442"/>
                </a:solidFill>
              </a:rPr>
              <a:t>Computer Engineering · year III · academic year 2025–2026</a:t>
            </a:r>
          </a:p>
          <a:p xmlns:a="http://schemas.openxmlformats.org/drawingml/2006/main">
            <a:pPr>
              <a:defRPr sz="2550" b="0">
                <a:solidFill>
                  <a:srgbClr val="173442"/>
                </a:solidFill>
              </a:defRPr>
            </a:pPr>
            <a:r>
              <a:rPr sz="2550" b="0">
                <a:solidFill>
                  <a:srgbClr val="173442"/>
                </a:solidFill>
              </a:rPr>
              <a:t>Transilvania University of Brașov</a:t>
            </a:r>
          </a:p>
        </p:txBody>
      </p:sp>
      <p:sp>
        <p:nvSpPr>
          <p:cNvPr id="11" name="text">
            <a:extLst xmlns:a="http://schemas.openxmlformats.org/drawingml/2006/main">
              <a:ext uri="{FF2B5EF4-FFF2-40B4-BE49-F238E27FC236}">
                <a16:creationId xmlns:a16="http://schemas.microsoft.com/office/drawing/2014/main" id="{8971B983-32F6-4874-85C6-F5EB1AD31395}"/>
              </a:ext>
            </a:extLst>
          </p:cNvPr>
          <p:cNvSpPr>
            <a:spLocks xmlns:a="http://schemas.openxmlformats.org/drawingml/2006/main" noGrp="1"/>
          </p:cNvSpPr>
          <p:nvPr/>
        </p:nvSpPr>
        <p:spPr>
          <a:xfrm xmlns:a="http://schemas.openxmlformats.org/drawingml/2006/main">
            <a:off x="952500" y="8296275"/>
            <a:ext cx="163830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26772"/>
                </a:solidFill>
              </a:defRPr>
            </a:pPr>
            <a:r>
              <a:rPr sz="2100" b="0">
                <a:solidFill>
                  <a:srgbClr val="526772"/>
                </a:solidFill>
              </a:rPr>
              <a:t>RTL implementation · interfaces · verification</a:t>
            </a:r>
          </a:p>
        </p:txBody>
      </p:sp>
    </p:spTree>
    <p:extLst>
      <p:ext uri="{BB962C8B-B14F-4D97-AF65-F5344CB8AC3E}">
        <p14:creationId xmlns:p14="http://schemas.microsoft.com/office/powerpoint/2010/main" val="17668133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28949BAC-E03A-49CE-AABC-1F20994EE354}"/>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The task: a three-stage RV32I core with two AXI4-Lite ports</a:t>
            </a:r>
          </a:p>
        </p:txBody>
      </p:sp>
      <p:sp>
        <p:nvSpPr>
          <p:cNvPr id="2" name="">
            <a:extLst xmlns:a="http://schemas.openxmlformats.org/drawingml/2006/main">
              <a:ext uri="{FF2B5EF4-FFF2-40B4-BE49-F238E27FC236}">
                <a16:creationId xmlns:a16="http://schemas.microsoft.com/office/drawing/2014/main" id="{FBA5F75A-24EB-4910-93ED-81BED8809428}"/>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text">
            <a:extLst xmlns:a="http://schemas.openxmlformats.org/drawingml/2006/main">
              <a:ext uri="{FF2B5EF4-FFF2-40B4-BE49-F238E27FC236}">
                <a16:creationId xmlns:a16="http://schemas.microsoft.com/office/drawing/2014/main" id="{C288B747-A952-4513-9D02-C4D5BB667A78}"/>
              </a:ext>
            </a:extLst>
          </p:cNvPr>
          <p:cNvSpPr>
            <a:spLocks xmlns:a="http://schemas.openxmlformats.org/drawingml/2006/main" noGrp="1"/>
          </p:cNvSpPr>
          <p:nvPr/>
        </p:nvSpPr>
        <p:spPr>
          <a:xfrm xmlns:a="http://schemas.openxmlformats.org/drawingml/2006/main">
            <a:off x="571500" y="142875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01</a:t>
            </a:r>
          </a:p>
        </p:txBody>
      </p:sp>
      <p:sp>
        <p:nvSpPr>
          <p:cNvPr id="4" name="text">
            <a:extLst xmlns:a="http://schemas.openxmlformats.org/drawingml/2006/main">
              <a:ext uri="{FF2B5EF4-FFF2-40B4-BE49-F238E27FC236}">
                <a16:creationId xmlns:a16="http://schemas.microsoft.com/office/drawing/2014/main" id="{C4E35A70-745F-4D23-A2E2-E27EFA82D004}"/>
              </a:ext>
            </a:extLst>
          </p:cNvPr>
          <p:cNvSpPr>
            <a:spLocks xmlns:a="http://schemas.openxmlformats.org/drawingml/2006/main" noGrp="1"/>
          </p:cNvSpPr>
          <p:nvPr/>
        </p:nvSpPr>
        <p:spPr>
          <a:xfrm xmlns:a="http://schemas.openxmlformats.org/drawingml/2006/main">
            <a:off x="1419225" y="142875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RV32I set: arithmetic, logic, control transfer, memory</a:t>
            </a:r>
          </a:p>
        </p:txBody>
      </p:sp>
      <p:sp>
        <p:nvSpPr>
          <p:cNvPr id="5" name="text">
            <a:extLst xmlns:a="http://schemas.openxmlformats.org/drawingml/2006/main">
              <a:ext uri="{FF2B5EF4-FFF2-40B4-BE49-F238E27FC236}">
                <a16:creationId xmlns:a16="http://schemas.microsoft.com/office/drawing/2014/main" id="{4722B348-40B6-4F5C-B594-69F6B3C6C40B}"/>
              </a:ext>
            </a:extLst>
          </p:cNvPr>
          <p:cNvSpPr>
            <a:spLocks xmlns:a="http://schemas.openxmlformats.org/drawingml/2006/main" noGrp="1"/>
          </p:cNvSpPr>
          <p:nvPr/>
        </p:nvSpPr>
        <p:spPr>
          <a:xfrm xmlns:a="http://schemas.openxmlformats.org/drawingml/2006/main">
            <a:off x="571500" y="2657475"/>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02</a:t>
            </a:r>
          </a:p>
        </p:txBody>
      </p:sp>
      <p:sp>
        <p:nvSpPr>
          <p:cNvPr id="6" name="text">
            <a:extLst xmlns:a="http://schemas.openxmlformats.org/drawingml/2006/main">
              <a:ext uri="{FF2B5EF4-FFF2-40B4-BE49-F238E27FC236}">
                <a16:creationId xmlns:a16="http://schemas.microsoft.com/office/drawing/2014/main" id="{EA4FF1E6-11FA-49D9-B545-F9BDDB60DB6C}"/>
              </a:ext>
            </a:extLst>
          </p:cNvPr>
          <p:cNvSpPr>
            <a:spLocks xmlns:a="http://schemas.openxmlformats.org/drawingml/2006/main" noGrp="1"/>
          </p:cNvSpPr>
          <p:nvPr/>
        </p:nvSpPr>
        <p:spPr>
          <a:xfrm xmlns:a="http://schemas.openxmlformats.org/drawingml/2006/main">
            <a:off x="1419225" y="2657475"/>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Three stages: fetch, decode + execute, writeback</a:t>
            </a:r>
          </a:p>
        </p:txBody>
      </p:sp>
      <p:sp>
        <p:nvSpPr>
          <p:cNvPr id="7" name="text">
            <a:extLst xmlns:a="http://schemas.openxmlformats.org/drawingml/2006/main">
              <a:ext uri="{FF2B5EF4-FFF2-40B4-BE49-F238E27FC236}">
                <a16:creationId xmlns:a16="http://schemas.microsoft.com/office/drawing/2014/main" id="{4C618C9E-7D89-44D6-9450-312FE6A0FB31}"/>
              </a:ext>
            </a:extLst>
          </p:cNvPr>
          <p:cNvSpPr>
            <a:spLocks xmlns:a="http://schemas.openxmlformats.org/drawingml/2006/main" noGrp="1"/>
          </p:cNvSpPr>
          <p:nvPr/>
        </p:nvSpPr>
        <p:spPr>
          <a:xfrm xmlns:a="http://schemas.openxmlformats.org/drawingml/2006/main">
            <a:off x="571500" y="388620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03</a:t>
            </a:r>
          </a:p>
        </p:txBody>
      </p:sp>
      <p:sp>
        <p:nvSpPr>
          <p:cNvPr id="8" name="text">
            <a:extLst xmlns:a="http://schemas.openxmlformats.org/drawingml/2006/main">
              <a:ext uri="{FF2B5EF4-FFF2-40B4-BE49-F238E27FC236}">
                <a16:creationId xmlns:a16="http://schemas.microsoft.com/office/drawing/2014/main" id="{D4454965-3598-46AA-8FCB-C48EA109A11E}"/>
              </a:ext>
            </a:extLst>
          </p:cNvPr>
          <p:cNvSpPr>
            <a:spLocks xmlns:a="http://schemas.openxmlformats.org/drawingml/2006/main" noGrp="1"/>
          </p:cNvSpPr>
          <p:nvPr/>
        </p:nvSpPr>
        <p:spPr>
          <a:xfrm xmlns:a="http://schemas.openxmlformats.org/drawingml/2006/main">
            <a:off x="1419225" y="388620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32 × 32-bit register file; x0 hardwired to zero</a:t>
            </a:r>
          </a:p>
        </p:txBody>
      </p:sp>
      <p:sp>
        <p:nvSpPr>
          <p:cNvPr id="9" name="text">
            <a:extLst xmlns:a="http://schemas.openxmlformats.org/drawingml/2006/main">
              <a:ext uri="{FF2B5EF4-FFF2-40B4-BE49-F238E27FC236}">
                <a16:creationId xmlns:a16="http://schemas.microsoft.com/office/drawing/2014/main" id="{7C0ECD91-2798-4790-9728-0EE038357364}"/>
              </a:ext>
            </a:extLst>
          </p:cNvPr>
          <p:cNvSpPr>
            <a:spLocks xmlns:a="http://schemas.openxmlformats.org/drawingml/2006/main" noGrp="1"/>
          </p:cNvSpPr>
          <p:nvPr/>
        </p:nvSpPr>
        <p:spPr>
          <a:xfrm xmlns:a="http://schemas.openxmlformats.org/drawingml/2006/main">
            <a:off x="571500" y="5114925"/>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04</a:t>
            </a:r>
          </a:p>
        </p:txBody>
      </p:sp>
      <p:sp>
        <p:nvSpPr>
          <p:cNvPr id="10" name="text">
            <a:extLst xmlns:a="http://schemas.openxmlformats.org/drawingml/2006/main">
              <a:ext uri="{FF2B5EF4-FFF2-40B4-BE49-F238E27FC236}">
                <a16:creationId xmlns:a16="http://schemas.microsoft.com/office/drawing/2014/main" id="{A4BED509-69D4-4D39-A2E9-0053322BEC9A}"/>
              </a:ext>
            </a:extLst>
          </p:cNvPr>
          <p:cNvSpPr>
            <a:spLocks xmlns:a="http://schemas.openxmlformats.org/drawingml/2006/main" noGrp="1"/>
          </p:cNvSpPr>
          <p:nvPr/>
        </p:nvSpPr>
        <p:spPr>
          <a:xfrm xmlns:a="http://schemas.openxmlformats.org/drawingml/2006/main">
            <a:off x="1419225" y="5114925"/>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Branch prediction with one direction bit</a:t>
            </a:r>
          </a:p>
        </p:txBody>
      </p:sp>
      <p:sp>
        <p:nvSpPr>
          <p:cNvPr id="11" name="text">
            <a:extLst xmlns:a="http://schemas.openxmlformats.org/drawingml/2006/main">
              <a:ext uri="{FF2B5EF4-FFF2-40B4-BE49-F238E27FC236}">
                <a16:creationId xmlns:a16="http://schemas.microsoft.com/office/drawing/2014/main" id="{C8B4371E-148A-4ECB-AACC-4F698CEBD103}"/>
              </a:ext>
            </a:extLst>
          </p:cNvPr>
          <p:cNvSpPr>
            <a:spLocks xmlns:a="http://schemas.openxmlformats.org/drawingml/2006/main" noGrp="1"/>
          </p:cNvSpPr>
          <p:nvPr/>
        </p:nvSpPr>
        <p:spPr>
          <a:xfrm xmlns:a="http://schemas.openxmlformats.org/drawingml/2006/main">
            <a:off x="571500" y="634365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05</a:t>
            </a:r>
          </a:p>
        </p:txBody>
      </p:sp>
      <p:sp>
        <p:nvSpPr>
          <p:cNvPr id="12" name="text">
            <a:extLst xmlns:a="http://schemas.openxmlformats.org/drawingml/2006/main">
              <a:ext uri="{FF2B5EF4-FFF2-40B4-BE49-F238E27FC236}">
                <a16:creationId xmlns:a16="http://schemas.microsoft.com/office/drawing/2014/main" id="{3084FA8B-660E-4C3B-9477-B77EA8CB61ED}"/>
              </a:ext>
            </a:extLst>
          </p:cNvPr>
          <p:cNvSpPr>
            <a:spLocks xmlns:a="http://schemas.openxmlformats.org/drawingml/2006/main" noGrp="1"/>
          </p:cNvSpPr>
          <p:nvPr/>
        </p:nvSpPr>
        <p:spPr>
          <a:xfrm xmlns:a="http://schemas.openxmlformats.org/drawingml/2006/main">
            <a:off x="1419225" y="634365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Exceptions and interrupts at instruction boundaries</a:t>
            </a:r>
          </a:p>
        </p:txBody>
      </p:sp>
      <p:sp>
        <p:nvSpPr>
          <p:cNvPr id="13" name="text">
            <a:extLst xmlns:a="http://schemas.openxmlformats.org/drawingml/2006/main">
              <a:ext uri="{FF2B5EF4-FFF2-40B4-BE49-F238E27FC236}">
                <a16:creationId xmlns:a16="http://schemas.microsoft.com/office/drawing/2014/main" id="{07C07D89-DB07-4839-973C-05A2B0AD81D0}"/>
              </a:ext>
            </a:extLst>
          </p:cNvPr>
          <p:cNvSpPr>
            <a:spLocks xmlns:a="http://schemas.openxmlformats.org/drawingml/2006/main" noGrp="1"/>
          </p:cNvSpPr>
          <p:nvPr/>
        </p:nvSpPr>
        <p:spPr>
          <a:xfrm xmlns:a="http://schemas.openxmlformats.org/drawingml/2006/main">
            <a:off x="9477375" y="142875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06</a:t>
            </a:r>
          </a:p>
        </p:txBody>
      </p:sp>
      <p:sp>
        <p:nvSpPr>
          <p:cNvPr id="14" name="text">
            <a:extLst xmlns:a="http://schemas.openxmlformats.org/drawingml/2006/main">
              <a:ext uri="{FF2B5EF4-FFF2-40B4-BE49-F238E27FC236}">
                <a16:creationId xmlns:a16="http://schemas.microsoft.com/office/drawing/2014/main" id="{410407B0-EDAC-4CBA-8633-288C3FFBC88C}"/>
              </a:ext>
            </a:extLst>
          </p:cNvPr>
          <p:cNvSpPr>
            <a:spLocks xmlns:a="http://schemas.openxmlformats.org/drawingml/2006/main" noGrp="1"/>
          </p:cNvSpPr>
          <p:nvPr/>
        </p:nvSpPr>
        <p:spPr>
          <a:xfrm xmlns:a="http://schemas.openxmlformats.org/drawingml/2006/main">
            <a:off x="10325100" y="142875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Two AXI4-Lite ports: instruction and data</a:t>
            </a:r>
          </a:p>
        </p:txBody>
      </p:sp>
      <p:sp>
        <p:nvSpPr>
          <p:cNvPr id="15" name="text">
            <a:extLst xmlns:a="http://schemas.openxmlformats.org/drawingml/2006/main">
              <a:ext uri="{FF2B5EF4-FFF2-40B4-BE49-F238E27FC236}">
                <a16:creationId xmlns:a16="http://schemas.microsoft.com/office/drawing/2014/main" id="{19A25FA4-9B64-4D52-8376-66CA8A86A23F}"/>
              </a:ext>
            </a:extLst>
          </p:cNvPr>
          <p:cNvSpPr>
            <a:spLocks xmlns:a="http://schemas.openxmlformats.org/drawingml/2006/main" noGrp="1"/>
          </p:cNvSpPr>
          <p:nvPr/>
        </p:nvSpPr>
        <p:spPr>
          <a:xfrm xmlns:a="http://schemas.openxmlformats.org/drawingml/2006/main">
            <a:off x="9477375" y="2657475"/>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07</a:t>
            </a:r>
          </a:p>
        </p:txBody>
      </p:sp>
      <p:sp>
        <p:nvSpPr>
          <p:cNvPr id="16" name="text">
            <a:extLst xmlns:a="http://schemas.openxmlformats.org/drawingml/2006/main">
              <a:ext uri="{FF2B5EF4-FFF2-40B4-BE49-F238E27FC236}">
                <a16:creationId xmlns:a16="http://schemas.microsoft.com/office/drawing/2014/main" id="{9C2D8236-583A-4D90-9901-403C9FF7FDE0}"/>
              </a:ext>
            </a:extLst>
          </p:cNvPr>
          <p:cNvSpPr>
            <a:spLocks xmlns:a="http://schemas.openxmlformats.org/drawingml/2006/main" noGrp="1"/>
          </p:cNvSpPr>
          <p:nvPr/>
        </p:nvSpPr>
        <p:spPr>
          <a:xfrm xmlns:a="http://schemas.openxmlformats.org/drawingml/2006/main">
            <a:off x="10325100" y="2657475"/>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CSRs for control, traps and IRQ state</a:t>
            </a:r>
          </a:p>
        </p:txBody>
      </p:sp>
      <p:sp>
        <p:nvSpPr>
          <p:cNvPr id="17" name="text">
            <a:extLst xmlns:a="http://schemas.openxmlformats.org/drawingml/2006/main">
              <a:ext uri="{FF2B5EF4-FFF2-40B4-BE49-F238E27FC236}">
                <a16:creationId xmlns:a16="http://schemas.microsoft.com/office/drawing/2014/main" id="{C2466DDD-2AD0-4896-9DEB-F04E049C245C}"/>
              </a:ext>
            </a:extLst>
          </p:cNvPr>
          <p:cNvSpPr>
            <a:spLocks xmlns:a="http://schemas.openxmlformats.org/drawingml/2006/main" noGrp="1"/>
          </p:cNvSpPr>
          <p:nvPr/>
        </p:nvSpPr>
        <p:spPr>
          <a:xfrm xmlns:a="http://schemas.openxmlformats.org/drawingml/2006/main">
            <a:off x="9477375" y="388620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08</a:t>
            </a:r>
          </a:p>
        </p:txBody>
      </p:sp>
      <p:sp>
        <p:nvSpPr>
          <p:cNvPr id="18" name="text">
            <a:extLst xmlns:a="http://schemas.openxmlformats.org/drawingml/2006/main">
              <a:ext uri="{FF2B5EF4-FFF2-40B4-BE49-F238E27FC236}">
                <a16:creationId xmlns:a16="http://schemas.microsoft.com/office/drawing/2014/main" id="{410971FD-9924-49D1-B7F0-7E23A62487D2}"/>
              </a:ext>
            </a:extLst>
          </p:cNvPr>
          <p:cNvSpPr>
            <a:spLocks xmlns:a="http://schemas.openxmlformats.org/drawingml/2006/main" noGrp="1"/>
          </p:cNvSpPr>
          <p:nvPr/>
        </p:nvSpPr>
        <p:spPr>
          <a:xfrm xmlns:a="http://schemas.openxmlformats.org/drawingml/2006/main">
            <a:off x="10325100" y="388620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Centralized control for stall, flush and hazards</a:t>
            </a:r>
          </a:p>
        </p:txBody>
      </p:sp>
      <p:sp>
        <p:nvSpPr>
          <p:cNvPr id="19" name="text">
            <a:extLst xmlns:a="http://schemas.openxmlformats.org/drawingml/2006/main">
              <a:ext uri="{FF2B5EF4-FFF2-40B4-BE49-F238E27FC236}">
                <a16:creationId xmlns:a16="http://schemas.microsoft.com/office/drawing/2014/main" id="{9AB728F7-7EFF-4822-AB85-A48C45078F4C}"/>
              </a:ext>
            </a:extLst>
          </p:cNvPr>
          <p:cNvSpPr>
            <a:spLocks xmlns:a="http://schemas.openxmlformats.org/drawingml/2006/main" noGrp="1"/>
          </p:cNvSpPr>
          <p:nvPr/>
        </p:nvSpPr>
        <p:spPr>
          <a:xfrm xmlns:a="http://schemas.openxmlformats.org/drawingml/2006/main">
            <a:off x="9477375" y="5114925"/>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09</a:t>
            </a:r>
          </a:p>
        </p:txBody>
      </p:sp>
      <p:sp>
        <p:nvSpPr>
          <p:cNvPr id="20" name="text">
            <a:extLst xmlns:a="http://schemas.openxmlformats.org/drawingml/2006/main">
              <a:ext uri="{FF2B5EF4-FFF2-40B4-BE49-F238E27FC236}">
                <a16:creationId xmlns:a16="http://schemas.microsoft.com/office/drawing/2014/main" id="{C315ADD9-8EDC-41FE-B5EE-D776F74205EA}"/>
              </a:ext>
            </a:extLst>
          </p:cNvPr>
          <p:cNvSpPr>
            <a:spLocks xmlns:a="http://schemas.openxmlformats.org/drawingml/2006/main" noGrp="1"/>
          </p:cNvSpPr>
          <p:nvPr/>
        </p:nvSpPr>
        <p:spPr>
          <a:xfrm xmlns:a="http://schemas.openxmlformats.org/drawingml/2006/main">
            <a:off x="10325100" y="5114925"/>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Defined behaviour for AXI latency and errors</a:t>
            </a:r>
          </a:p>
        </p:txBody>
      </p:sp>
      <p:sp>
        <p:nvSpPr>
          <p:cNvPr id="21" name="text">
            <a:extLst xmlns:a="http://schemas.openxmlformats.org/drawingml/2006/main">
              <a:ext uri="{FF2B5EF4-FFF2-40B4-BE49-F238E27FC236}">
                <a16:creationId xmlns:a16="http://schemas.microsoft.com/office/drawing/2014/main" id="{774808B7-8B2D-48D4-BCBB-1994E8D298B9}"/>
              </a:ext>
            </a:extLst>
          </p:cNvPr>
          <p:cNvSpPr>
            <a:spLocks xmlns:a="http://schemas.openxmlformats.org/drawingml/2006/main" noGrp="1"/>
          </p:cNvSpPr>
          <p:nvPr/>
        </p:nvSpPr>
        <p:spPr>
          <a:xfrm xmlns:a="http://schemas.openxmlformats.org/drawingml/2006/main">
            <a:off x="9477375" y="634365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10</a:t>
            </a:r>
          </a:p>
        </p:txBody>
      </p:sp>
      <p:sp>
        <p:nvSpPr>
          <p:cNvPr id="22" name="text">
            <a:extLst xmlns:a="http://schemas.openxmlformats.org/drawingml/2006/main">
              <a:ext uri="{FF2B5EF4-FFF2-40B4-BE49-F238E27FC236}">
                <a16:creationId xmlns:a16="http://schemas.microsoft.com/office/drawing/2014/main" id="{73063D5B-647C-4797-AD29-27C6BF4E70FE}"/>
              </a:ext>
            </a:extLst>
          </p:cNvPr>
          <p:cNvSpPr>
            <a:spLocks xmlns:a="http://schemas.openxmlformats.org/drawingml/2006/main" noGrp="1"/>
          </p:cNvSpPr>
          <p:nvPr/>
        </p:nvSpPr>
        <p:spPr>
          <a:xfrm xmlns:a="http://schemas.openxmlformats.org/drawingml/2006/main">
            <a:off x="10325100" y="634365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Interrupt link to the PIC</a:t>
            </a:r>
          </a:p>
        </p:txBody>
      </p:sp>
      <p:sp>
        <p:nvSpPr>
          <p:cNvPr id="23" name="footer">
            <a:extLst xmlns:a="http://schemas.openxmlformats.org/drawingml/2006/main">
              <a:ext uri="{FF2B5EF4-FFF2-40B4-BE49-F238E27FC236}">
                <a16:creationId xmlns:a16="http://schemas.microsoft.com/office/drawing/2014/main" id="{3AFEB0A4-B28C-4F42-89A2-37346105A618}"/>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02 / 07   ·   Requirements</a:t>
            </a:r>
          </a:p>
        </p:txBody>
      </p:sp>
    </p:spTree>
    <p:extLst>
      <p:ext uri="{BB962C8B-B14F-4D97-AF65-F5344CB8AC3E}">
        <p14:creationId xmlns:p14="http://schemas.microsoft.com/office/powerpoint/2010/main" val="20986614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text">
            <a:extLst xmlns:a="http://schemas.openxmlformats.org/drawingml/2006/main">
              <a:ext uri="{FF2B5EF4-FFF2-40B4-BE49-F238E27FC236}">
                <a16:creationId xmlns:a16="http://schemas.microsoft.com/office/drawing/2014/main" id="{EFBD8D0F-01B7-48D6-9070-C2005C55525C}"/>
              </a:ext>
            </a:extLst>
          </p:cNvPr>
          <p:cNvSpPr>
            <a:spLocks xmlns:a="http://schemas.openxmlformats.org/drawingml/2006/main" noGrp="1"/>
          </p:cNvSpPr>
          <p:nvPr/>
        </p:nvSpPr>
        <p:spPr>
          <a:xfrm xmlns:a="http://schemas.openxmlformats.org/drawingml/2006/main">
            <a:off x="171450" y="114300"/>
            <a:ext cx="179451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Three stages; the memory access completes inside S2</a:t>
            </a:r>
          </a:p>
        </p:txBody>
      </p:sp>
      <p:pic>
        <p:nvPicPr>
          <p:cNvPr id="2" name="asset-figures/cpu_essential"/>
          <p:cNvPicPr>
            <a:picLocks xmlns:a="http://schemas.openxmlformats.org/drawingml/2006/main" noChangeAspect="1"/>
          </p:cNvPicPr>
          <p:nvPr/>
        </p:nvPicPr>
        <p:blipFill>
          <a:blip xmlns:r="http://schemas.openxmlformats.org/officeDocument/2006/relationships" xmlns:a="http://schemas.openxmlformats.org/drawingml/2006/main" r:embed="Reca3e3bbb1094659">
            <a:extLst>
              <a:ext uri="{96DAC541-7B7A-43D3-8B79-37D633B846F1}">
                <asvg:svgBlip xmlns:asvg="http://schemas.microsoft.com/office/drawing/2016/SVG/main" r:embed="R38df1cf5c50047d9"/>
              </a:ext>
            </a:extLst>
          </a:blip>
          <a:stretch xmlns:a="http://schemas.openxmlformats.org/drawingml/2006/main"/>
        </p:blipFill>
        <p:spPr>
          <a:xfrm xmlns:a="http://schemas.openxmlformats.org/drawingml/2006/main">
            <a:off x="635955" y="742950"/>
            <a:ext cx="17016090" cy="9429750"/>
          </a:xfrm>
          <a:prstGeom xmlns:a="http://schemas.openxmlformats.org/drawingml/2006/main" prst="rect">
            <a:avLst/>
          </a:prstGeom>
        </p:spPr>
      </p:pic>
    </p:spTree>
    <p:extLst>
      <p:ext uri="{BB962C8B-B14F-4D97-AF65-F5344CB8AC3E}">
        <p14:creationId xmlns:p14="http://schemas.microsoft.com/office/powerpoint/2010/main" val="6564729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6584142D-106F-4B60-B16F-FC8D29C71810}"/>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The CSRs link configuration to trap entry and return</a:t>
            </a:r>
          </a:p>
        </p:txBody>
      </p:sp>
      <p:sp>
        <p:nvSpPr>
          <p:cNvPr id="2" name="">
            <a:extLst xmlns:a="http://schemas.openxmlformats.org/drawingml/2006/main">
              <a:ext uri="{FF2B5EF4-FFF2-40B4-BE49-F238E27FC236}">
                <a16:creationId xmlns:a16="http://schemas.microsoft.com/office/drawing/2014/main" id="{75F33B8B-3751-4550-B7F9-6C235B6F3835}"/>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text">
            <a:extLst xmlns:a="http://schemas.openxmlformats.org/drawingml/2006/main">
              <a:ext uri="{FF2B5EF4-FFF2-40B4-BE49-F238E27FC236}">
                <a16:creationId xmlns:a16="http://schemas.microsoft.com/office/drawing/2014/main" id="{8082B3AE-7C08-42D7-BA9E-CAC6BF64AC02}"/>
              </a:ext>
            </a:extLst>
          </p:cNvPr>
          <p:cNvSpPr>
            <a:spLocks xmlns:a="http://schemas.openxmlformats.org/drawingml/2006/main" noGrp="1"/>
          </p:cNvSpPr>
          <p:nvPr/>
        </p:nvSpPr>
        <p:spPr>
          <a:xfrm xmlns:a="http://schemas.openxmlformats.org/drawingml/2006/main">
            <a:off x="571500" y="1428750"/>
            <a:ext cx="1905000" cy="4286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73442"/>
                </a:solidFill>
              </a:defRPr>
            </a:pPr>
            <a:r>
              <a:rPr sz="1875" b="1">
                <a:solidFill>
                  <a:srgbClr val="173442"/>
                </a:solidFill>
              </a:rPr>
              <a:t>Address</a:t>
            </a:r>
          </a:p>
        </p:txBody>
      </p:sp>
      <p:sp>
        <p:nvSpPr>
          <p:cNvPr id="4" name="text">
            <a:extLst xmlns:a="http://schemas.openxmlformats.org/drawingml/2006/main">
              <a:ext uri="{FF2B5EF4-FFF2-40B4-BE49-F238E27FC236}">
                <a16:creationId xmlns:a16="http://schemas.microsoft.com/office/drawing/2014/main" id="{DEC898DD-FE55-43D0-ABC6-EEE8C0AACC00}"/>
              </a:ext>
            </a:extLst>
          </p:cNvPr>
          <p:cNvSpPr>
            <a:spLocks xmlns:a="http://schemas.openxmlformats.org/drawingml/2006/main" noGrp="1"/>
          </p:cNvSpPr>
          <p:nvPr/>
        </p:nvSpPr>
        <p:spPr>
          <a:xfrm xmlns:a="http://schemas.openxmlformats.org/drawingml/2006/main">
            <a:off x="2714625" y="1428750"/>
            <a:ext cx="3476625" cy="4286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73442"/>
                </a:solidFill>
              </a:defRPr>
            </a:pPr>
            <a:r>
              <a:rPr sz="1875" b="1">
                <a:solidFill>
                  <a:srgbClr val="173442"/>
                </a:solidFill>
              </a:rPr>
              <a:t>Register / group</a:t>
            </a:r>
          </a:p>
        </p:txBody>
      </p:sp>
      <p:sp>
        <p:nvSpPr>
          <p:cNvPr id="5" name="text">
            <a:extLst xmlns:a="http://schemas.openxmlformats.org/drawingml/2006/main">
              <a:ext uri="{FF2B5EF4-FFF2-40B4-BE49-F238E27FC236}">
                <a16:creationId xmlns:a16="http://schemas.microsoft.com/office/drawing/2014/main" id="{5DB818A9-4E52-40E7-A050-34DBD6AC33AF}"/>
              </a:ext>
            </a:extLst>
          </p:cNvPr>
          <p:cNvSpPr>
            <a:spLocks xmlns:a="http://schemas.openxmlformats.org/drawingml/2006/main" noGrp="1"/>
          </p:cNvSpPr>
          <p:nvPr/>
        </p:nvSpPr>
        <p:spPr>
          <a:xfrm xmlns:a="http://schemas.openxmlformats.org/drawingml/2006/main">
            <a:off x="6429375" y="1428750"/>
            <a:ext cx="4333875" cy="4286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73442"/>
                </a:solidFill>
              </a:defRPr>
            </a:pPr>
            <a:r>
              <a:rPr sz="1875" b="1">
                <a:solidFill>
                  <a:srgbClr val="173442"/>
                </a:solidFill>
              </a:rPr>
              <a:t>Role in use</a:t>
            </a:r>
          </a:p>
        </p:txBody>
      </p:sp>
      <p:sp>
        <p:nvSpPr>
          <p:cNvPr id="6" name="">
            <a:extLst xmlns:a="http://schemas.openxmlformats.org/drawingml/2006/main">
              <a:ext uri="{FF2B5EF4-FFF2-40B4-BE49-F238E27FC236}">
                <a16:creationId xmlns:a16="http://schemas.microsoft.com/office/drawing/2014/main" id="{05C50655-EA95-4BC6-806B-E94CD80C3FE1}"/>
              </a:ext>
            </a:extLst>
          </p:cNvPr>
          <p:cNvSpPr>
            <a:spLocks xmlns:a="http://schemas.openxmlformats.org/drawingml/2006/main" noGrp="1"/>
          </p:cNvSpPr>
          <p:nvPr/>
        </p:nvSpPr>
        <p:spPr>
          <a:xfrm xmlns:a="http://schemas.openxmlformats.org/drawingml/2006/main">
            <a:off x="571500" y="1895475"/>
            <a:ext cx="10477500" cy="1905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7" name="text">
            <a:extLst xmlns:a="http://schemas.openxmlformats.org/drawingml/2006/main">
              <a:ext uri="{FF2B5EF4-FFF2-40B4-BE49-F238E27FC236}">
                <a16:creationId xmlns:a16="http://schemas.microsoft.com/office/drawing/2014/main" id="{D7D8986E-F7F0-4C88-BD97-FA760071B805}"/>
              </a:ext>
            </a:extLst>
          </p:cNvPr>
          <p:cNvSpPr>
            <a:spLocks xmlns:a="http://schemas.openxmlformats.org/drawingml/2006/main" noGrp="1"/>
          </p:cNvSpPr>
          <p:nvPr/>
        </p:nvSpPr>
        <p:spPr>
          <a:xfrm xmlns:a="http://schemas.openxmlformats.org/drawingml/2006/main">
            <a:off x="571500" y="1952625"/>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0x300</a:t>
            </a:r>
          </a:p>
        </p:txBody>
      </p:sp>
      <p:sp>
        <p:nvSpPr>
          <p:cNvPr id="8" name="text">
            <a:extLst xmlns:a="http://schemas.openxmlformats.org/drawingml/2006/main">
              <a:ext uri="{FF2B5EF4-FFF2-40B4-BE49-F238E27FC236}">
                <a16:creationId xmlns:a16="http://schemas.microsoft.com/office/drawing/2014/main" id="{577A1412-9338-42AF-BFB6-F702024F7719}"/>
              </a:ext>
            </a:extLst>
          </p:cNvPr>
          <p:cNvSpPr>
            <a:spLocks xmlns:a="http://schemas.openxmlformats.org/drawingml/2006/main" noGrp="1"/>
          </p:cNvSpPr>
          <p:nvPr/>
        </p:nvSpPr>
        <p:spPr>
          <a:xfrm xmlns:a="http://schemas.openxmlformats.org/drawingml/2006/main">
            <a:off x="2714625" y="1952625"/>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mstatus</a:t>
            </a:r>
          </a:p>
        </p:txBody>
      </p:sp>
      <p:sp>
        <p:nvSpPr>
          <p:cNvPr id="9" name="text">
            <a:extLst xmlns:a="http://schemas.openxmlformats.org/drawingml/2006/main">
              <a:ext uri="{FF2B5EF4-FFF2-40B4-BE49-F238E27FC236}">
                <a16:creationId xmlns:a16="http://schemas.microsoft.com/office/drawing/2014/main" id="{4D8B6DAA-DD68-4CC6-B489-2BB56D725509}"/>
              </a:ext>
            </a:extLst>
          </p:cNvPr>
          <p:cNvSpPr>
            <a:spLocks xmlns:a="http://schemas.openxmlformats.org/drawingml/2006/main" noGrp="1"/>
          </p:cNvSpPr>
          <p:nvPr/>
        </p:nvSpPr>
        <p:spPr>
          <a:xfrm xmlns:a="http://schemas.openxmlformats.org/drawingml/2006/main">
            <a:off x="6429375" y="1952625"/>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Global MIE; state on entry / return</a:t>
            </a:r>
          </a:p>
        </p:txBody>
      </p:sp>
      <p:sp>
        <p:nvSpPr>
          <p:cNvPr id="10" name="">
            <a:extLst xmlns:a="http://schemas.openxmlformats.org/drawingml/2006/main">
              <a:ext uri="{FF2B5EF4-FFF2-40B4-BE49-F238E27FC236}">
                <a16:creationId xmlns:a16="http://schemas.microsoft.com/office/drawing/2014/main" id="{184BAE05-162B-4ACD-AAEE-8DAA2B696D82}"/>
              </a:ext>
            </a:extLst>
          </p:cNvPr>
          <p:cNvSpPr>
            <a:spLocks xmlns:a="http://schemas.openxmlformats.org/drawingml/2006/main" noGrp="1"/>
          </p:cNvSpPr>
          <p:nvPr/>
        </p:nvSpPr>
        <p:spPr>
          <a:xfrm xmlns:a="http://schemas.openxmlformats.org/drawingml/2006/main">
            <a:off x="571500" y="2809875"/>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11" name="text">
            <a:extLst xmlns:a="http://schemas.openxmlformats.org/drawingml/2006/main">
              <a:ext uri="{FF2B5EF4-FFF2-40B4-BE49-F238E27FC236}">
                <a16:creationId xmlns:a16="http://schemas.microsoft.com/office/drawing/2014/main" id="{E362EA37-2CD0-4992-9C04-A0828034E199}"/>
              </a:ext>
            </a:extLst>
          </p:cNvPr>
          <p:cNvSpPr>
            <a:spLocks xmlns:a="http://schemas.openxmlformats.org/drawingml/2006/main" noGrp="1"/>
          </p:cNvSpPr>
          <p:nvPr/>
        </p:nvSpPr>
        <p:spPr>
          <a:xfrm xmlns:a="http://schemas.openxmlformats.org/drawingml/2006/main">
            <a:off x="571500" y="2857500"/>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0x304 / 344</a:t>
            </a:r>
          </a:p>
        </p:txBody>
      </p:sp>
      <p:sp>
        <p:nvSpPr>
          <p:cNvPr id="12" name="text">
            <a:extLst xmlns:a="http://schemas.openxmlformats.org/drawingml/2006/main">
              <a:ext uri="{FF2B5EF4-FFF2-40B4-BE49-F238E27FC236}">
                <a16:creationId xmlns:a16="http://schemas.microsoft.com/office/drawing/2014/main" id="{6489EF80-4197-489A-BE8B-58F70CCC6862}"/>
              </a:ext>
            </a:extLst>
          </p:cNvPr>
          <p:cNvSpPr>
            <a:spLocks xmlns:a="http://schemas.openxmlformats.org/drawingml/2006/main" noGrp="1"/>
          </p:cNvSpPr>
          <p:nvPr/>
        </p:nvSpPr>
        <p:spPr>
          <a:xfrm xmlns:a="http://schemas.openxmlformats.org/drawingml/2006/main">
            <a:off x="2714625" y="2857500"/>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mie / mip</a:t>
            </a:r>
          </a:p>
        </p:txBody>
      </p:sp>
      <p:sp>
        <p:nvSpPr>
          <p:cNvPr id="13" name="text">
            <a:extLst xmlns:a="http://schemas.openxmlformats.org/drawingml/2006/main">
              <a:ext uri="{FF2B5EF4-FFF2-40B4-BE49-F238E27FC236}">
                <a16:creationId xmlns:a16="http://schemas.microsoft.com/office/drawing/2014/main" id="{D6F70871-5327-4BBC-B2E0-D1EAD3313A5F}"/>
              </a:ext>
            </a:extLst>
          </p:cNvPr>
          <p:cNvSpPr>
            <a:spLocks xmlns:a="http://schemas.openxmlformats.org/drawingml/2006/main" noGrp="1"/>
          </p:cNvSpPr>
          <p:nvPr/>
        </p:nvSpPr>
        <p:spPr>
          <a:xfrm xmlns:a="http://schemas.openxmlformats.org/drawingml/2006/main">
            <a:off x="6429375" y="2857500"/>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Per-source mask / pending requests</a:t>
            </a:r>
          </a:p>
        </p:txBody>
      </p:sp>
      <p:sp>
        <p:nvSpPr>
          <p:cNvPr id="14" name="">
            <a:extLst xmlns:a="http://schemas.openxmlformats.org/drawingml/2006/main">
              <a:ext uri="{FF2B5EF4-FFF2-40B4-BE49-F238E27FC236}">
                <a16:creationId xmlns:a16="http://schemas.microsoft.com/office/drawing/2014/main" id="{3475612E-DC64-452D-86CE-9F80AD33357C}"/>
              </a:ext>
            </a:extLst>
          </p:cNvPr>
          <p:cNvSpPr>
            <a:spLocks xmlns:a="http://schemas.openxmlformats.org/drawingml/2006/main" noGrp="1"/>
          </p:cNvSpPr>
          <p:nvPr/>
        </p:nvSpPr>
        <p:spPr>
          <a:xfrm xmlns:a="http://schemas.openxmlformats.org/drawingml/2006/main">
            <a:off x="571500" y="3714750"/>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15" name="text">
            <a:extLst xmlns:a="http://schemas.openxmlformats.org/drawingml/2006/main">
              <a:ext uri="{FF2B5EF4-FFF2-40B4-BE49-F238E27FC236}">
                <a16:creationId xmlns:a16="http://schemas.microsoft.com/office/drawing/2014/main" id="{1015DF21-FD73-46EE-97FD-F6B554DBCA04}"/>
              </a:ext>
            </a:extLst>
          </p:cNvPr>
          <p:cNvSpPr>
            <a:spLocks xmlns:a="http://schemas.openxmlformats.org/drawingml/2006/main" noGrp="1"/>
          </p:cNvSpPr>
          <p:nvPr/>
        </p:nvSpPr>
        <p:spPr>
          <a:xfrm xmlns:a="http://schemas.openxmlformats.org/drawingml/2006/main">
            <a:off x="571500" y="3762375"/>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0x305</a:t>
            </a:r>
          </a:p>
        </p:txBody>
      </p:sp>
      <p:sp>
        <p:nvSpPr>
          <p:cNvPr id="16" name="text">
            <a:extLst xmlns:a="http://schemas.openxmlformats.org/drawingml/2006/main">
              <a:ext uri="{FF2B5EF4-FFF2-40B4-BE49-F238E27FC236}">
                <a16:creationId xmlns:a16="http://schemas.microsoft.com/office/drawing/2014/main" id="{04CE7B8A-69DA-4238-8AA3-B3B3559C749D}"/>
              </a:ext>
            </a:extLst>
          </p:cNvPr>
          <p:cNvSpPr>
            <a:spLocks xmlns:a="http://schemas.openxmlformats.org/drawingml/2006/main" noGrp="1"/>
          </p:cNvSpPr>
          <p:nvPr/>
        </p:nvSpPr>
        <p:spPr>
          <a:xfrm xmlns:a="http://schemas.openxmlformats.org/drawingml/2006/main">
            <a:off x="2714625" y="3762375"/>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mtvec</a:t>
            </a:r>
          </a:p>
        </p:txBody>
      </p:sp>
      <p:sp>
        <p:nvSpPr>
          <p:cNvPr id="17" name="text">
            <a:extLst xmlns:a="http://schemas.openxmlformats.org/drawingml/2006/main">
              <a:ext uri="{FF2B5EF4-FFF2-40B4-BE49-F238E27FC236}">
                <a16:creationId xmlns:a16="http://schemas.microsoft.com/office/drawing/2014/main" id="{8F9F7BB8-A85C-4197-A67C-0F594F95DB74}"/>
              </a:ext>
            </a:extLst>
          </p:cNvPr>
          <p:cNvSpPr>
            <a:spLocks xmlns:a="http://schemas.openxmlformats.org/drawingml/2006/main" noGrp="1"/>
          </p:cNvSpPr>
          <p:nvPr/>
        </p:nvSpPr>
        <p:spPr>
          <a:xfrm xmlns:a="http://schemas.openxmlformats.org/drawingml/2006/main">
            <a:off x="6429375" y="3762375"/>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Handler base; direct or vectored</a:t>
            </a:r>
          </a:p>
        </p:txBody>
      </p:sp>
      <p:sp>
        <p:nvSpPr>
          <p:cNvPr id="18" name="">
            <a:extLst xmlns:a="http://schemas.openxmlformats.org/drawingml/2006/main">
              <a:ext uri="{FF2B5EF4-FFF2-40B4-BE49-F238E27FC236}">
                <a16:creationId xmlns:a16="http://schemas.microsoft.com/office/drawing/2014/main" id="{49FAFBC3-A3A0-42C1-8257-86B7F5457098}"/>
              </a:ext>
            </a:extLst>
          </p:cNvPr>
          <p:cNvSpPr>
            <a:spLocks xmlns:a="http://schemas.openxmlformats.org/drawingml/2006/main" noGrp="1"/>
          </p:cNvSpPr>
          <p:nvPr/>
        </p:nvSpPr>
        <p:spPr>
          <a:xfrm xmlns:a="http://schemas.openxmlformats.org/drawingml/2006/main">
            <a:off x="571500" y="4619625"/>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19" name="text">
            <a:extLst xmlns:a="http://schemas.openxmlformats.org/drawingml/2006/main">
              <a:ext uri="{FF2B5EF4-FFF2-40B4-BE49-F238E27FC236}">
                <a16:creationId xmlns:a16="http://schemas.microsoft.com/office/drawing/2014/main" id="{13F733CD-2858-4960-B64A-B6ADAE023484}"/>
              </a:ext>
            </a:extLst>
          </p:cNvPr>
          <p:cNvSpPr>
            <a:spLocks xmlns:a="http://schemas.openxmlformats.org/drawingml/2006/main" noGrp="1"/>
          </p:cNvSpPr>
          <p:nvPr/>
        </p:nvSpPr>
        <p:spPr>
          <a:xfrm xmlns:a="http://schemas.openxmlformats.org/drawingml/2006/main">
            <a:off x="571500" y="4667250"/>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0x341–343</a:t>
            </a:r>
          </a:p>
        </p:txBody>
      </p:sp>
      <p:sp>
        <p:nvSpPr>
          <p:cNvPr id="20" name="text">
            <a:extLst xmlns:a="http://schemas.openxmlformats.org/drawingml/2006/main">
              <a:ext uri="{FF2B5EF4-FFF2-40B4-BE49-F238E27FC236}">
                <a16:creationId xmlns:a16="http://schemas.microsoft.com/office/drawing/2014/main" id="{0F4A3325-6080-45A2-848D-03123EB309A2}"/>
              </a:ext>
            </a:extLst>
          </p:cNvPr>
          <p:cNvSpPr>
            <a:spLocks xmlns:a="http://schemas.openxmlformats.org/drawingml/2006/main" noGrp="1"/>
          </p:cNvSpPr>
          <p:nvPr/>
        </p:nvSpPr>
        <p:spPr>
          <a:xfrm xmlns:a="http://schemas.openxmlformats.org/drawingml/2006/main">
            <a:off x="2714625" y="4667250"/>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mepc / mcause / mtval</a:t>
            </a:r>
          </a:p>
        </p:txBody>
      </p:sp>
      <p:sp>
        <p:nvSpPr>
          <p:cNvPr id="21" name="text">
            <a:extLst xmlns:a="http://schemas.openxmlformats.org/drawingml/2006/main">
              <a:ext uri="{FF2B5EF4-FFF2-40B4-BE49-F238E27FC236}">
                <a16:creationId xmlns:a16="http://schemas.microsoft.com/office/drawing/2014/main" id="{B86D3EC5-9598-4116-BD7A-423C3FE2577D}"/>
              </a:ext>
            </a:extLst>
          </p:cNvPr>
          <p:cNvSpPr>
            <a:spLocks xmlns:a="http://schemas.openxmlformats.org/drawingml/2006/main" noGrp="1"/>
          </p:cNvSpPr>
          <p:nvPr/>
        </p:nvSpPr>
        <p:spPr>
          <a:xfrm xmlns:a="http://schemas.openxmlformats.org/drawingml/2006/main">
            <a:off x="6429375" y="4667250"/>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Return PC; cause; fault payload</a:t>
            </a:r>
          </a:p>
        </p:txBody>
      </p:sp>
      <p:sp>
        <p:nvSpPr>
          <p:cNvPr id="22" name="">
            <a:extLst xmlns:a="http://schemas.openxmlformats.org/drawingml/2006/main">
              <a:ext uri="{FF2B5EF4-FFF2-40B4-BE49-F238E27FC236}">
                <a16:creationId xmlns:a16="http://schemas.microsoft.com/office/drawing/2014/main" id="{908E9F94-E3CA-424F-9E3C-6769F07A8621}"/>
              </a:ext>
            </a:extLst>
          </p:cNvPr>
          <p:cNvSpPr>
            <a:spLocks xmlns:a="http://schemas.openxmlformats.org/drawingml/2006/main" noGrp="1"/>
          </p:cNvSpPr>
          <p:nvPr/>
        </p:nvSpPr>
        <p:spPr>
          <a:xfrm xmlns:a="http://schemas.openxmlformats.org/drawingml/2006/main">
            <a:off x="571500" y="5524500"/>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23" name="text">
            <a:extLst xmlns:a="http://schemas.openxmlformats.org/drawingml/2006/main">
              <a:ext uri="{FF2B5EF4-FFF2-40B4-BE49-F238E27FC236}">
                <a16:creationId xmlns:a16="http://schemas.microsoft.com/office/drawing/2014/main" id="{A4B1146B-789E-4DC1-9154-51AE50CFDFA2}"/>
              </a:ext>
            </a:extLst>
          </p:cNvPr>
          <p:cNvSpPr>
            <a:spLocks xmlns:a="http://schemas.openxmlformats.org/drawingml/2006/main" noGrp="1"/>
          </p:cNvSpPr>
          <p:nvPr/>
        </p:nvSpPr>
        <p:spPr>
          <a:xfrm xmlns:a="http://schemas.openxmlformats.org/drawingml/2006/main">
            <a:off x="571500" y="5572125"/>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0x340</a:t>
            </a:r>
          </a:p>
        </p:txBody>
      </p:sp>
      <p:sp>
        <p:nvSpPr>
          <p:cNvPr id="24" name="text">
            <a:extLst xmlns:a="http://schemas.openxmlformats.org/drawingml/2006/main">
              <a:ext uri="{FF2B5EF4-FFF2-40B4-BE49-F238E27FC236}">
                <a16:creationId xmlns:a16="http://schemas.microsoft.com/office/drawing/2014/main" id="{F8DC969C-5773-4628-82AD-AF50E9BF7060}"/>
              </a:ext>
            </a:extLst>
          </p:cNvPr>
          <p:cNvSpPr>
            <a:spLocks xmlns:a="http://schemas.openxmlformats.org/drawingml/2006/main" noGrp="1"/>
          </p:cNvSpPr>
          <p:nvPr/>
        </p:nvSpPr>
        <p:spPr>
          <a:xfrm xmlns:a="http://schemas.openxmlformats.org/drawingml/2006/main">
            <a:off x="2714625" y="5572125"/>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mscratch</a:t>
            </a:r>
          </a:p>
        </p:txBody>
      </p:sp>
      <p:sp>
        <p:nvSpPr>
          <p:cNvPr id="25" name="text">
            <a:extLst xmlns:a="http://schemas.openxmlformats.org/drawingml/2006/main">
              <a:ext uri="{FF2B5EF4-FFF2-40B4-BE49-F238E27FC236}">
                <a16:creationId xmlns:a16="http://schemas.microsoft.com/office/drawing/2014/main" id="{99F952DA-66C8-4787-B1CC-26A3C6CC1EF8}"/>
              </a:ext>
            </a:extLst>
          </p:cNvPr>
          <p:cNvSpPr>
            <a:spLocks xmlns:a="http://schemas.openxmlformats.org/drawingml/2006/main" noGrp="1"/>
          </p:cNvSpPr>
          <p:nvPr/>
        </p:nvSpPr>
        <p:spPr>
          <a:xfrm xmlns:a="http://schemas.openxmlformats.org/drawingml/2006/main">
            <a:off x="6429375" y="5572125"/>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Context managed by software</a:t>
            </a:r>
          </a:p>
        </p:txBody>
      </p:sp>
      <p:sp>
        <p:nvSpPr>
          <p:cNvPr id="26" name="">
            <a:extLst xmlns:a="http://schemas.openxmlformats.org/drawingml/2006/main">
              <a:ext uri="{FF2B5EF4-FFF2-40B4-BE49-F238E27FC236}">
                <a16:creationId xmlns:a16="http://schemas.microsoft.com/office/drawing/2014/main" id="{F590A320-A04E-453E-93F1-11B722D1D817}"/>
              </a:ext>
            </a:extLst>
          </p:cNvPr>
          <p:cNvSpPr>
            <a:spLocks xmlns:a="http://schemas.openxmlformats.org/drawingml/2006/main" noGrp="1"/>
          </p:cNvSpPr>
          <p:nvPr/>
        </p:nvSpPr>
        <p:spPr>
          <a:xfrm xmlns:a="http://schemas.openxmlformats.org/drawingml/2006/main">
            <a:off x="571500" y="6429375"/>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27" name="text">
            <a:extLst xmlns:a="http://schemas.openxmlformats.org/drawingml/2006/main">
              <a:ext uri="{FF2B5EF4-FFF2-40B4-BE49-F238E27FC236}">
                <a16:creationId xmlns:a16="http://schemas.microsoft.com/office/drawing/2014/main" id="{3AB37E6C-F2E8-48FC-9032-80B141F7A682}"/>
              </a:ext>
            </a:extLst>
          </p:cNvPr>
          <p:cNvSpPr>
            <a:spLocks xmlns:a="http://schemas.openxmlformats.org/drawingml/2006/main" noGrp="1"/>
          </p:cNvSpPr>
          <p:nvPr/>
        </p:nvSpPr>
        <p:spPr>
          <a:xfrm xmlns:a="http://schemas.openxmlformats.org/drawingml/2006/main">
            <a:off x="571500" y="6477000"/>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0xB00 / B02</a:t>
            </a:r>
          </a:p>
        </p:txBody>
      </p:sp>
      <p:sp>
        <p:nvSpPr>
          <p:cNvPr id="28" name="text">
            <a:extLst xmlns:a="http://schemas.openxmlformats.org/drawingml/2006/main">
              <a:ext uri="{FF2B5EF4-FFF2-40B4-BE49-F238E27FC236}">
                <a16:creationId xmlns:a16="http://schemas.microsoft.com/office/drawing/2014/main" id="{BB1A05F1-B1F6-422D-84C7-76E1B1D26DC0}"/>
              </a:ext>
            </a:extLst>
          </p:cNvPr>
          <p:cNvSpPr>
            <a:spLocks xmlns:a="http://schemas.openxmlformats.org/drawingml/2006/main" noGrp="1"/>
          </p:cNvSpPr>
          <p:nvPr/>
        </p:nvSpPr>
        <p:spPr>
          <a:xfrm xmlns:a="http://schemas.openxmlformats.org/drawingml/2006/main">
            <a:off x="2714625" y="6477000"/>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mcycle / minstret</a:t>
            </a:r>
          </a:p>
        </p:txBody>
      </p:sp>
      <p:sp>
        <p:nvSpPr>
          <p:cNvPr id="29" name="text">
            <a:extLst xmlns:a="http://schemas.openxmlformats.org/drawingml/2006/main">
              <a:ext uri="{FF2B5EF4-FFF2-40B4-BE49-F238E27FC236}">
                <a16:creationId xmlns:a16="http://schemas.microsoft.com/office/drawing/2014/main" id="{40DE8496-3BC6-443E-BAB4-A90E57A5D7E7}"/>
              </a:ext>
            </a:extLst>
          </p:cNvPr>
          <p:cNvSpPr>
            <a:spLocks xmlns:a="http://schemas.openxmlformats.org/drawingml/2006/main" noGrp="1"/>
          </p:cNvSpPr>
          <p:nvPr/>
        </p:nvSpPr>
        <p:spPr>
          <a:xfrm xmlns:a="http://schemas.openxmlformats.org/drawingml/2006/main">
            <a:off x="6429375" y="6477000"/>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Cycles and retired instructions</a:t>
            </a:r>
          </a:p>
        </p:txBody>
      </p:sp>
      <p:sp>
        <p:nvSpPr>
          <p:cNvPr id="30" name="">
            <a:extLst xmlns:a="http://schemas.openxmlformats.org/drawingml/2006/main">
              <a:ext uri="{FF2B5EF4-FFF2-40B4-BE49-F238E27FC236}">
                <a16:creationId xmlns:a16="http://schemas.microsoft.com/office/drawing/2014/main" id="{3C0A49F8-10E1-4848-A75E-D2436131075B}"/>
              </a:ext>
            </a:extLst>
          </p:cNvPr>
          <p:cNvSpPr>
            <a:spLocks xmlns:a="http://schemas.openxmlformats.org/drawingml/2006/main" noGrp="1"/>
          </p:cNvSpPr>
          <p:nvPr/>
        </p:nvSpPr>
        <p:spPr>
          <a:xfrm xmlns:a="http://schemas.openxmlformats.org/drawingml/2006/main">
            <a:off x="571500" y="7334250"/>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pic>
        <p:nvPicPr>
          <p:cNvPr id="31" name="asset-figures/cpu_software"/>
          <p:cNvPicPr>
            <a:picLocks xmlns:a="http://schemas.openxmlformats.org/drawingml/2006/main" noChangeAspect="1"/>
          </p:cNvPicPr>
          <p:nvPr/>
        </p:nvPicPr>
        <p:blipFill>
          <a:blip xmlns:r="http://schemas.openxmlformats.org/officeDocument/2006/relationships" xmlns:a="http://schemas.openxmlformats.org/drawingml/2006/main" r:embed="R120a72f0efe74426">
            <a:extLst>
              <a:ext uri="{96DAC541-7B7A-43D3-8B79-37D633B846F1}">
                <asvg:svgBlip xmlns:asvg="http://schemas.microsoft.com/office/drawing/2016/SVG/main" r:embed="Re64ef39e1531495a"/>
              </a:ext>
            </a:extLst>
          </a:blip>
          <a:stretch xmlns:a="http://schemas.openxmlformats.org/drawingml/2006/main"/>
        </p:blipFill>
        <p:spPr>
          <a:xfrm xmlns:a="http://schemas.openxmlformats.org/drawingml/2006/main">
            <a:off x="12023760" y="1428750"/>
            <a:ext cx="5479981" cy="7524750"/>
          </a:xfrm>
          <a:prstGeom xmlns:a="http://schemas.openxmlformats.org/drawingml/2006/main" prst="rect">
            <a:avLst/>
          </a:prstGeom>
        </p:spPr>
      </p:pic>
      <p:sp>
        <p:nvSpPr>
          <p:cNvPr id="32" name="footer">
            <a:extLst xmlns:a="http://schemas.openxmlformats.org/drawingml/2006/main">
              <a:ext uri="{FF2B5EF4-FFF2-40B4-BE49-F238E27FC236}">
                <a16:creationId xmlns:a16="http://schemas.microsoft.com/office/drawing/2014/main" id="{9A9417D4-9ACF-4DB9-B319-B17BCA56710A}"/>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04 / 07   ·   Software interface</a:t>
            </a:r>
          </a:p>
        </p:txBody>
      </p:sp>
    </p:spTree>
    <p:extLst>
      <p:ext uri="{BB962C8B-B14F-4D97-AF65-F5344CB8AC3E}">
        <p14:creationId xmlns:p14="http://schemas.microsoft.com/office/powerpoint/2010/main" val="15598736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175DAEF-ACED-4D53-B2E9-EDF9C6EAA3FE}"/>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The functional result and the bus protocol are checked separately</a:t>
            </a:r>
          </a:p>
        </p:txBody>
      </p:sp>
      <p:sp>
        <p:nvSpPr>
          <p:cNvPr id="2" name="">
            <a:extLst xmlns:a="http://schemas.openxmlformats.org/drawingml/2006/main">
              <a:ext uri="{FF2B5EF4-FFF2-40B4-BE49-F238E27FC236}">
                <a16:creationId xmlns:a16="http://schemas.microsoft.com/office/drawing/2014/main" id="{432E8FBB-8540-47EF-AA25-38B1B8E864B8}"/>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figures/cpu_verification"/>
          <p:cNvPicPr>
            <a:picLocks xmlns:a="http://schemas.openxmlformats.org/drawingml/2006/main" noChangeAspect="1"/>
          </p:cNvPicPr>
          <p:nvPr/>
        </p:nvPicPr>
        <p:blipFill>
          <a:blip xmlns:r="http://schemas.openxmlformats.org/officeDocument/2006/relationships" xmlns:a="http://schemas.openxmlformats.org/drawingml/2006/main" r:embed="R48bca85e3a3a49ed">
            <a:extLst>
              <a:ext uri="{96DAC541-7B7A-43D3-8B79-37D633B846F1}">
                <asvg:svgBlip xmlns:asvg="http://schemas.microsoft.com/office/drawing/2016/SVG/main" r:embed="Re20863587c9b4a19"/>
              </a:ext>
            </a:extLst>
          </a:blip>
          <a:stretch xmlns:a="http://schemas.openxmlformats.org/drawingml/2006/main"/>
        </p:blipFill>
        <p:spPr>
          <a:xfrm xmlns:a="http://schemas.openxmlformats.org/drawingml/2006/main">
            <a:off x="3082636" y="1428750"/>
            <a:ext cx="12122727" cy="5000625"/>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F66857B9-7798-41BA-A582-F382B5CC001B}"/>
              </a:ext>
            </a:extLst>
          </p:cNvPr>
          <p:cNvSpPr>
            <a:spLocks xmlns:a="http://schemas.openxmlformats.org/drawingml/2006/main" noGrp="1"/>
          </p:cNvSpPr>
          <p:nvPr/>
        </p:nvSpPr>
        <p:spPr>
          <a:xfrm xmlns:a="http://schemas.openxmlformats.org/drawingml/2006/main">
            <a:off x="571500" y="6543675"/>
            <a:ext cx="5362575"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Independent model</a:t>
            </a:r>
          </a:p>
        </p:txBody>
      </p:sp>
      <p:sp>
        <p:nvSpPr>
          <p:cNvPr id="5" name="text">
            <a:extLst xmlns:a="http://schemas.openxmlformats.org/drawingml/2006/main">
              <a:ext uri="{FF2B5EF4-FFF2-40B4-BE49-F238E27FC236}">
                <a16:creationId xmlns:a16="http://schemas.microsoft.com/office/drawing/2014/main" id="{C578CFC7-8F80-4517-A4D5-8A358060AB19}"/>
              </a:ext>
            </a:extLst>
          </p:cNvPr>
          <p:cNvSpPr>
            <a:spLocks xmlns:a="http://schemas.openxmlformats.org/drawingml/2006/main" noGrp="1"/>
          </p:cNvSpPr>
          <p:nvPr/>
        </p:nvSpPr>
        <p:spPr>
          <a:xfrm xmlns:a="http://schemas.openxmlformats.org/drawingml/2006/main">
            <a:off x="571500" y="7219950"/>
            <a:ext cx="5362575"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1,287 instructions with expected results</a:t>
            </a:r>
          </a:p>
        </p:txBody>
      </p:sp>
      <p:sp>
        <p:nvSpPr>
          <p:cNvPr id="6" name="text">
            <a:extLst xmlns:a="http://schemas.openxmlformats.org/drawingml/2006/main">
              <a:ext uri="{FF2B5EF4-FFF2-40B4-BE49-F238E27FC236}">
                <a16:creationId xmlns:a16="http://schemas.microsoft.com/office/drawing/2014/main" id="{2EFE4F32-6B72-4B25-B13B-2F88D2785477}"/>
              </a:ext>
            </a:extLst>
          </p:cNvPr>
          <p:cNvSpPr>
            <a:spLocks xmlns:a="http://schemas.openxmlformats.org/drawingml/2006/main" noGrp="1"/>
          </p:cNvSpPr>
          <p:nvPr/>
        </p:nvSpPr>
        <p:spPr>
          <a:xfrm xmlns:a="http://schemas.openxmlformats.org/drawingml/2006/main">
            <a:off x="6457950" y="6543675"/>
            <a:ext cx="5362575"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Protocol + state</a:t>
            </a:r>
          </a:p>
        </p:txBody>
      </p:sp>
      <p:sp>
        <p:nvSpPr>
          <p:cNvPr id="7" name="text">
            <a:extLst xmlns:a="http://schemas.openxmlformats.org/drawingml/2006/main">
              <a:ext uri="{FF2B5EF4-FFF2-40B4-BE49-F238E27FC236}">
                <a16:creationId xmlns:a16="http://schemas.microsoft.com/office/drawing/2014/main" id="{BCA69CC1-BE20-4026-A1F6-E14745828977}"/>
              </a:ext>
            </a:extLst>
          </p:cNvPr>
          <p:cNvSpPr>
            <a:spLocks xmlns:a="http://schemas.openxmlformats.org/drawingml/2006/main" noGrp="1"/>
          </p:cNvSpPr>
          <p:nvPr/>
        </p:nvSpPr>
        <p:spPr>
          <a:xfrm xmlns:a="http://schemas.openxmlformats.org/drawingml/2006/main">
            <a:off x="6457950" y="7219950"/>
            <a:ext cx="5362575"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AXI monitors, scoreboard and SVA through bind</a:t>
            </a:r>
          </a:p>
        </p:txBody>
      </p:sp>
      <p:sp>
        <p:nvSpPr>
          <p:cNvPr id="8" name="text">
            <a:extLst xmlns:a="http://schemas.openxmlformats.org/drawingml/2006/main">
              <a:ext uri="{FF2B5EF4-FFF2-40B4-BE49-F238E27FC236}">
                <a16:creationId xmlns:a16="http://schemas.microsoft.com/office/drawing/2014/main" id="{8DEDA860-71BC-4489-A879-1C290DD1A9A5}"/>
              </a:ext>
            </a:extLst>
          </p:cNvPr>
          <p:cNvSpPr>
            <a:spLocks xmlns:a="http://schemas.openxmlformats.org/drawingml/2006/main" noGrp="1"/>
          </p:cNvSpPr>
          <p:nvPr/>
        </p:nvSpPr>
        <p:spPr>
          <a:xfrm xmlns:a="http://schemas.openxmlformats.org/drawingml/2006/main">
            <a:off x="12344400" y="6543675"/>
            <a:ext cx="5362575"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Critical cases</a:t>
            </a:r>
          </a:p>
        </p:txBody>
      </p:sp>
      <p:sp>
        <p:nvSpPr>
          <p:cNvPr id="9" name="text">
            <a:extLst xmlns:a="http://schemas.openxmlformats.org/drawingml/2006/main">
              <a:ext uri="{FF2B5EF4-FFF2-40B4-BE49-F238E27FC236}">
                <a16:creationId xmlns:a16="http://schemas.microsoft.com/office/drawing/2014/main" id="{59A1396C-6111-4DB8-BD11-9F0E6B17697E}"/>
              </a:ext>
            </a:extLst>
          </p:cNvPr>
          <p:cNvSpPr>
            <a:spLocks xmlns:a="http://schemas.openxmlformats.org/drawingml/2006/main" noGrp="1"/>
          </p:cNvSpPr>
          <p:nvPr/>
        </p:nvSpPr>
        <p:spPr>
          <a:xfrm xmlns:a="http://schemas.openxmlformats.org/drawingml/2006/main">
            <a:off x="12344400" y="7219950"/>
            <a:ext cx="5362575"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IRQ in stall · flush with AXI response · async reset</a:t>
            </a:r>
          </a:p>
        </p:txBody>
      </p:sp>
      <p:sp>
        <p:nvSpPr>
          <p:cNvPr id="10" name="text">
            <a:extLst xmlns:a="http://schemas.openxmlformats.org/drawingml/2006/main">
              <a:ext uri="{FF2B5EF4-FFF2-40B4-BE49-F238E27FC236}">
                <a16:creationId xmlns:a16="http://schemas.microsoft.com/office/drawing/2014/main" id="{8FECEFC9-9491-4D68-A56E-E4CE8DA89513}"/>
              </a:ext>
            </a:extLst>
          </p:cNvPr>
          <p:cNvSpPr>
            <a:spLocks xmlns:a="http://schemas.openxmlformats.org/drawingml/2006/main" noGrp="1"/>
          </p:cNvSpPr>
          <p:nvPr/>
        </p:nvSpPr>
        <p:spPr>
          <a:xfrm xmlns:a="http://schemas.openxmlformats.org/drawingml/2006/main">
            <a:off x="571500" y="8562975"/>
            <a:ext cx="17145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526772"/>
                </a:solidFill>
              </a:defRPr>
            </a:pPr>
            <a:r>
              <a:rPr sz="1800" b="0">
                <a:solidFill>
                  <a:srgbClr val="526772"/>
                </a:solidFill>
              </a:rPr>
              <a:t>ModelSim: 22 CPU/PIC configurations   ·   Verilator: 16 benches with assertions</a:t>
            </a:r>
          </a:p>
        </p:txBody>
      </p:sp>
      <p:sp>
        <p:nvSpPr>
          <p:cNvPr id="11" name="footer">
            <a:extLst xmlns:a="http://schemas.openxmlformats.org/drawingml/2006/main">
              <a:ext uri="{FF2B5EF4-FFF2-40B4-BE49-F238E27FC236}">
                <a16:creationId xmlns:a16="http://schemas.microsoft.com/office/drawing/2014/main" id="{96BF5384-15F2-4576-A54C-CB09E103E739}"/>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05 / 07   ·   Verification</a:t>
            </a:r>
          </a:p>
        </p:txBody>
      </p:sp>
    </p:spTree>
    <p:extLst>
      <p:ext uri="{BB962C8B-B14F-4D97-AF65-F5344CB8AC3E}">
        <p14:creationId xmlns:p14="http://schemas.microsoft.com/office/powerpoint/2010/main" val="3613907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10FCD1B-CBE3-407B-8C51-DF5EB934AEED}"/>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The IRQ waits for the load to finish before the claim</a:t>
            </a:r>
          </a:p>
        </p:txBody>
      </p:sp>
      <p:sp>
        <p:nvSpPr>
          <p:cNvPr id="2" name="">
            <a:extLst xmlns:a="http://schemas.openxmlformats.org/drawingml/2006/main">
              <a:ext uri="{FF2B5EF4-FFF2-40B4-BE49-F238E27FC236}">
                <a16:creationId xmlns:a16="http://schemas.microsoft.com/office/drawing/2014/main" id="{1C020070-C1FC-4C27-912D-4C2189A58E4B}"/>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waves/cpu_irq"/>
          <p:cNvPicPr>
            <a:picLocks xmlns:a="http://schemas.openxmlformats.org/drawingml/2006/main" noChangeAspect="1"/>
          </p:cNvPicPr>
          <p:nvPr/>
        </p:nvPicPr>
        <p:blipFill>
          <a:blip xmlns:r="http://schemas.openxmlformats.org/officeDocument/2006/relationships" xmlns:a="http://schemas.openxmlformats.org/drawingml/2006/main" r:embed="Rbb66eb9c8581494f">
            <a:extLst>
              <a:ext uri="{96DAC541-7B7A-43D3-8B79-37D633B846F1}">
                <asvg:svgBlip xmlns:asvg="http://schemas.microsoft.com/office/drawing/2016/SVG/main" r:embed="R03e5bc68fd7b4708"/>
              </a:ext>
            </a:extLst>
          </a:blip>
          <a:stretch xmlns:a="http://schemas.openxmlformats.org/drawingml/2006/main"/>
        </p:blipFill>
        <p:spPr>
          <a:xfrm xmlns:a="http://schemas.openxmlformats.org/drawingml/2006/main">
            <a:off x="997776" y="1428750"/>
            <a:ext cx="16292448" cy="567690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103801F9-6464-4482-BF7D-4C694BB24FE2}"/>
              </a:ext>
            </a:extLst>
          </p:cNvPr>
          <p:cNvSpPr>
            <a:spLocks xmlns:a="http://schemas.openxmlformats.org/drawingml/2006/main" noGrp="1"/>
          </p:cNvSpPr>
          <p:nvPr/>
        </p:nvSpPr>
        <p:spPr>
          <a:xfrm xmlns:a="http://schemas.openxmlformats.org/drawingml/2006/main">
            <a:off x="571500" y="7172325"/>
            <a:ext cx="55626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A35B17"/>
                </a:solidFill>
              </a:defRPr>
            </a:pPr>
            <a:r>
              <a:rPr sz="2325" b="1">
                <a:solidFill>
                  <a:srgbClr val="A35B17"/>
                </a:solidFill>
              </a:rPr>
              <a:t>1 · New IRQ</a:t>
            </a:r>
          </a:p>
        </p:txBody>
      </p:sp>
      <p:sp>
        <p:nvSpPr>
          <p:cNvPr id="5" name="text">
            <a:extLst xmlns:a="http://schemas.openxmlformats.org/drawingml/2006/main">
              <a:ext uri="{FF2B5EF4-FFF2-40B4-BE49-F238E27FC236}">
                <a16:creationId xmlns:a16="http://schemas.microsoft.com/office/drawing/2014/main" id="{D6DE4A36-CE56-4581-95FB-BB6564D75D5A}"/>
              </a:ext>
            </a:extLst>
          </p:cNvPr>
          <p:cNvSpPr>
            <a:spLocks xmlns:a="http://schemas.openxmlformats.org/drawingml/2006/main" noGrp="1"/>
          </p:cNvSpPr>
          <p:nvPr/>
        </p:nvSpPr>
        <p:spPr>
          <a:xfrm xmlns:a="http://schemas.openxmlformats.org/drawingml/2006/main">
            <a:off x="571500" y="7743825"/>
            <a:ext cx="55626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LSU busy → claim = 0</a:t>
            </a:r>
          </a:p>
        </p:txBody>
      </p:sp>
      <p:sp>
        <p:nvSpPr>
          <p:cNvPr id="6" name="text">
            <a:extLst xmlns:a="http://schemas.openxmlformats.org/drawingml/2006/main">
              <a:ext uri="{FF2B5EF4-FFF2-40B4-BE49-F238E27FC236}">
                <a16:creationId xmlns:a16="http://schemas.microsoft.com/office/drawing/2014/main" id="{06A225F0-C4B5-4267-89DE-6BC4887DA1C5}"/>
              </a:ext>
            </a:extLst>
          </p:cNvPr>
          <p:cNvSpPr>
            <a:spLocks xmlns:a="http://schemas.openxmlformats.org/drawingml/2006/main" noGrp="1"/>
          </p:cNvSpPr>
          <p:nvPr/>
        </p:nvSpPr>
        <p:spPr>
          <a:xfrm xmlns:a="http://schemas.openxmlformats.org/drawingml/2006/main">
            <a:off x="6362700" y="7172325"/>
            <a:ext cx="55626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A35B17"/>
                </a:solidFill>
              </a:defRPr>
            </a:pPr>
            <a:r>
              <a:rPr sz="2325" b="1">
                <a:solidFill>
                  <a:srgbClr val="A35B17"/>
                </a:solidFill>
              </a:rPr>
              <a:t>2 · R handshake</a:t>
            </a:r>
          </a:p>
        </p:txBody>
      </p:sp>
      <p:sp>
        <p:nvSpPr>
          <p:cNvPr id="7" name="text">
            <a:extLst xmlns:a="http://schemas.openxmlformats.org/drawingml/2006/main">
              <a:ext uri="{FF2B5EF4-FFF2-40B4-BE49-F238E27FC236}">
                <a16:creationId xmlns:a16="http://schemas.microsoft.com/office/drawing/2014/main" id="{01B4A088-C436-443D-AAC7-32B9D5149331}"/>
              </a:ext>
            </a:extLst>
          </p:cNvPr>
          <p:cNvSpPr>
            <a:spLocks xmlns:a="http://schemas.openxmlformats.org/drawingml/2006/main" noGrp="1"/>
          </p:cNvSpPr>
          <p:nvPr/>
        </p:nvSpPr>
        <p:spPr>
          <a:xfrm xmlns:a="http://schemas.openxmlformats.org/drawingml/2006/main">
            <a:off x="6362700" y="7743825"/>
            <a:ext cx="55626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Load complete → S2 may advance</a:t>
            </a:r>
          </a:p>
        </p:txBody>
      </p:sp>
      <p:sp>
        <p:nvSpPr>
          <p:cNvPr id="8" name="text">
            <a:extLst xmlns:a="http://schemas.openxmlformats.org/drawingml/2006/main">
              <a:ext uri="{FF2B5EF4-FFF2-40B4-BE49-F238E27FC236}">
                <a16:creationId xmlns:a16="http://schemas.microsoft.com/office/drawing/2014/main" id="{EC10D4BD-8B1B-42F4-AAF5-55C569016628}"/>
              </a:ext>
            </a:extLst>
          </p:cNvPr>
          <p:cNvSpPr>
            <a:spLocks xmlns:a="http://schemas.openxmlformats.org/drawingml/2006/main" noGrp="1"/>
          </p:cNvSpPr>
          <p:nvPr/>
        </p:nvSpPr>
        <p:spPr>
          <a:xfrm xmlns:a="http://schemas.openxmlformats.org/drawingml/2006/main">
            <a:off x="12153900" y="7172325"/>
            <a:ext cx="55626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A35B17"/>
                </a:solidFill>
              </a:defRPr>
            </a:pPr>
            <a:r>
              <a:rPr sz="2325" b="1">
                <a:solidFill>
                  <a:srgbClr val="A35B17"/>
                </a:solidFill>
              </a:rPr>
              <a:t>3 · Claim</a:t>
            </a:r>
          </a:p>
        </p:txBody>
      </p:sp>
      <p:sp>
        <p:nvSpPr>
          <p:cNvPr id="9" name="text">
            <a:extLst xmlns:a="http://schemas.openxmlformats.org/drawingml/2006/main">
              <a:ext uri="{FF2B5EF4-FFF2-40B4-BE49-F238E27FC236}">
                <a16:creationId xmlns:a16="http://schemas.microsoft.com/office/drawing/2014/main" id="{6E49DBE2-D624-4187-88D6-65310C247037}"/>
              </a:ext>
            </a:extLst>
          </p:cNvPr>
          <p:cNvSpPr>
            <a:spLocks xmlns:a="http://schemas.openxmlformats.org/drawingml/2006/main" noGrp="1"/>
          </p:cNvSpPr>
          <p:nvPr/>
        </p:nvSpPr>
        <p:spPr>
          <a:xfrm xmlns:a="http://schemas.openxmlformats.org/drawingml/2006/main">
            <a:off x="12153900" y="7743825"/>
            <a:ext cx="55626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Trap entry; one-cycle pulse</a:t>
            </a:r>
          </a:p>
        </p:txBody>
      </p:sp>
      <p:sp>
        <p:nvSpPr>
          <p:cNvPr id="10" name="text">
            <a:extLst xmlns:a="http://schemas.openxmlformats.org/drawingml/2006/main">
              <a:ext uri="{FF2B5EF4-FFF2-40B4-BE49-F238E27FC236}">
                <a16:creationId xmlns:a16="http://schemas.microsoft.com/office/drawing/2014/main" id="{FBC6A1DE-33B1-4C56-AADE-6310614150A2}"/>
              </a:ext>
            </a:extLst>
          </p:cNvPr>
          <p:cNvSpPr>
            <a:spLocks xmlns:a="http://schemas.openxmlformats.org/drawingml/2006/main" noGrp="1"/>
          </p:cNvSpPr>
          <p:nvPr/>
        </p:nvSpPr>
        <p:spPr>
          <a:xfrm xmlns:a="http://schemas.openxmlformats.org/drawingml/2006/main">
            <a:off x="571500" y="8572500"/>
            <a:ext cx="1714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526772"/>
                </a:solidFill>
              </a:defRPr>
            </a:pPr>
            <a:r>
              <a:rPr sz="1725" b="0">
                <a:solidFill>
                  <a:srgbClr val="526772"/>
                </a:solidFill>
              </a:rPr>
              <a:t>The markers follow the same instruction and the same IRQ request.</a:t>
            </a:r>
          </a:p>
        </p:txBody>
      </p:sp>
      <p:sp>
        <p:nvSpPr>
          <p:cNvPr id="11" name="footer">
            <a:extLst xmlns:a="http://schemas.openxmlformats.org/drawingml/2006/main">
              <a:ext uri="{FF2B5EF4-FFF2-40B4-BE49-F238E27FC236}">
                <a16:creationId xmlns:a16="http://schemas.microsoft.com/office/drawing/2014/main" id="{3002E0D2-1077-4EE4-96A5-B4CB6DB3BD6C}"/>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06 / 07   ·   Critical scenario</a:t>
            </a:r>
          </a:p>
        </p:txBody>
      </p:sp>
    </p:spTree>
    <p:extLst>
      <p:ext uri="{BB962C8B-B14F-4D97-AF65-F5344CB8AC3E}">
        <p14:creationId xmlns:p14="http://schemas.microsoft.com/office/powerpoint/2010/main" val="9475728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6A87A5B0-90BC-4229-84DD-0680D71C80C5}"/>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Result: an integrated core, checked instruction by instruction</a:t>
            </a:r>
          </a:p>
        </p:txBody>
      </p:sp>
      <p:sp>
        <p:nvSpPr>
          <p:cNvPr id="2" name="">
            <a:extLst xmlns:a="http://schemas.openxmlformats.org/drawingml/2006/main">
              <a:ext uri="{FF2B5EF4-FFF2-40B4-BE49-F238E27FC236}">
                <a16:creationId xmlns:a16="http://schemas.microsoft.com/office/drawing/2014/main" id="{8A864520-9F82-42DF-BBF9-AED9D3DBBB66}"/>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text">
            <a:extLst xmlns:a="http://schemas.openxmlformats.org/drawingml/2006/main">
              <a:ext uri="{FF2B5EF4-FFF2-40B4-BE49-F238E27FC236}">
                <a16:creationId xmlns:a16="http://schemas.microsoft.com/office/drawing/2014/main" id="{3F965F7B-B992-4B37-8A74-94FD46515FF2}"/>
              </a:ext>
            </a:extLst>
          </p:cNvPr>
          <p:cNvSpPr>
            <a:spLocks xmlns:a="http://schemas.openxmlformats.org/drawingml/2006/main" noGrp="1"/>
          </p:cNvSpPr>
          <p:nvPr/>
        </p:nvSpPr>
        <p:spPr>
          <a:xfrm xmlns:a="http://schemas.openxmlformats.org/drawingml/2006/main">
            <a:off x="571500" y="1428750"/>
            <a:ext cx="80962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06B75"/>
                </a:solidFill>
              </a:defRPr>
            </a:pPr>
            <a:r>
              <a:rPr sz="2250" b="1">
                <a:solidFill>
                  <a:srgbClr val="006B75"/>
                </a:solidFill>
              </a:rPr>
              <a:t>WHAT I BUILT</a:t>
            </a:r>
          </a:p>
        </p:txBody>
      </p:sp>
      <p:sp>
        <p:nvSpPr>
          <p:cNvPr id="4" name="text">
            <a:extLst xmlns:a="http://schemas.openxmlformats.org/drawingml/2006/main">
              <a:ext uri="{FF2B5EF4-FFF2-40B4-BE49-F238E27FC236}">
                <a16:creationId xmlns:a16="http://schemas.microsoft.com/office/drawing/2014/main" id="{24D081FA-91DF-4898-BBF5-D2CDAEFE8B71}"/>
              </a:ext>
            </a:extLst>
          </p:cNvPr>
          <p:cNvSpPr>
            <a:spLocks xmlns:a="http://schemas.openxmlformats.org/drawingml/2006/main" noGrp="1"/>
          </p:cNvSpPr>
          <p:nvPr/>
        </p:nvSpPr>
        <p:spPr>
          <a:xfrm xmlns:a="http://schemas.openxmlformats.org/drawingml/2006/main">
            <a:off x="571500" y="2276475"/>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1.  RV32I pipeline, predictor and forwarding integrated</a:t>
            </a:r>
          </a:p>
        </p:txBody>
      </p:sp>
      <p:sp>
        <p:nvSpPr>
          <p:cNvPr id="5" name="text">
            <a:extLst xmlns:a="http://schemas.openxmlformats.org/drawingml/2006/main">
              <a:ext uri="{FF2B5EF4-FFF2-40B4-BE49-F238E27FC236}">
                <a16:creationId xmlns:a16="http://schemas.microsoft.com/office/drawing/2014/main" id="{17E2ED96-8159-4D00-941B-E604B8EFC3EA}"/>
              </a:ext>
            </a:extLst>
          </p:cNvPr>
          <p:cNvSpPr>
            <a:spLocks xmlns:a="http://schemas.openxmlformats.org/drawingml/2006/main" noGrp="1"/>
          </p:cNvSpPr>
          <p:nvPr/>
        </p:nvSpPr>
        <p:spPr>
          <a:xfrm xmlns:a="http://schemas.openxmlformats.org/drawingml/2006/main">
            <a:off x="571500" y="3790950"/>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2.  CSRs, traps and AXI access with explicit rules</a:t>
            </a:r>
          </a:p>
        </p:txBody>
      </p:sp>
      <p:sp>
        <p:nvSpPr>
          <p:cNvPr id="6" name="text">
            <a:extLst xmlns:a="http://schemas.openxmlformats.org/drawingml/2006/main">
              <a:ext uri="{FF2B5EF4-FFF2-40B4-BE49-F238E27FC236}">
                <a16:creationId xmlns:a16="http://schemas.microsoft.com/office/drawing/2014/main" id="{BCCC8123-1916-4703-B341-551E78B0429D}"/>
              </a:ext>
            </a:extLst>
          </p:cNvPr>
          <p:cNvSpPr>
            <a:spLocks xmlns:a="http://schemas.openxmlformats.org/drawingml/2006/main" noGrp="1"/>
          </p:cNvSpPr>
          <p:nvPr/>
        </p:nvSpPr>
        <p:spPr>
          <a:xfrm xmlns:a="http://schemas.openxmlformats.org/drawingml/2006/main">
            <a:off x="571500" y="5305425"/>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3.  Execution compared against an independent ISA model</a:t>
            </a:r>
          </a:p>
        </p:txBody>
      </p:sp>
      <p:sp>
        <p:nvSpPr>
          <p:cNvPr id="7" name="text">
            <a:extLst xmlns:a="http://schemas.openxmlformats.org/drawingml/2006/main">
              <a:ext uri="{FF2B5EF4-FFF2-40B4-BE49-F238E27FC236}">
                <a16:creationId xmlns:a16="http://schemas.microsoft.com/office/drawing/2014/main" id="{964EDC6B-0120-443D-A0EB-490D0E352934}"/>
              </a:ext>
            </a:extLst>
          </p:cNvPr>
          <p:cNvSpPr>
            <a:spLocks xmlns:a="http://schemas.openxmlformats.org/drawingml/2006/main" noGrp="1"/>
          </p:cNvSpPr>
          <p:nvPr/>
        </p:nvSpPr>
        <p:spPr>
          <a:xfrm xmlns:a="http://schemas.openxmlformats.org/drawingml/2006/main">
            <a:off x="9620250" y="1428750"/>
            <a:ext cx="80962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06B75"/>
                </a:solidFill>
              </a:defRPr>
            </a:pPr>
            <a:r>
              <a:rPr sz="2250" b="1">
                <a:solidFill>
                  <a:srgbClr val="006B75"/>
                </a:solidFill>
              </a:rPr>
              <a:t>WHAT I LEARNED</a:t>
            </a:r>
          </a:p>
        </p:txBody>
      </p:sp>
      <p:sp>
        <p:nvSpPr>
          <p:cNvPr id="8" name="text">
            <a:extLst xmlns:a="http://schemas.openxmlformats.org/drawingml/2006/main">
              <a:ext uri="{FF2B5EF4-FFF2-40B4-BE49-F238E27FC236}">
                <a16:creationId xmlns:a16="http://schemas.microsoft.com/office/drawing/2014/main" id="{062D9DE2-97D3-4328-A402-D0B53E96789D}"/>
              </a:ext>
            </a:extLst>
          </p:cNvPr>
          <p:cNvSpPr>
            <a:spLocks xmlns:a="http://schemas.openxmlformats.org/drawingml/2006/main" noGrp="1"/>
          </p:cNvSpPr>
          <p:nvPr/>
        </p:nvSpPr>
        <p:spPr>
          <a:xfrm xmlns:a="http://schemas.openxmlformats.org/drawingml/2006/main">
            <a:off x="9620250" y="2276475"/>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I defined the stall / flush / trap order before integration.</a:t>
            </a:r>
          </a:p>
        </p:txBody>
      </p:sp>
      <p:sp>
        <p:nvSpPr>
          <p:cNvPr id="9" name="text">
            <a:extLst xmlns:a="http://schemas.openxmlformats.org/drawingml/2006/main">
              <a:ext uri="{FF2B5EF4-FFF2-40B4-BE49-F238E27FC236}">
                <a16:creationId xmlns:a16="http://schemas.microsoft.com/office/drawing/2014/main" id="{10628046-D82C-4F37-9C96-19924781258B}"/>
              </a:ext>
            </a:extLst>
          </p:cNvPr>
          <p:cNvSpPr>
            <a:spLocks xmlns:a="http://schemas.openxmlformats.org/drawingml/2006/main" noGrp="1"/>
          </p:cNvSpPr>
          <p:nvPr/>
        </p:nvSpPr>
        <p:spPr>
          <a:xfrm xmlns:a="http://schemas.openxmlformats.org/drawingml/2006/main">
            <a:off x="9620250" y="3790950"/>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I separated protocol checking from the architectural effect.</a:t>
            </a:r>
          </a:p>
        </p:txBody>
      </p:sp>
      <p:sp>
        <p:nvSpPr>
          <p:cNvPr id="10" name="text">
            <a:extLst xmlns:a="http://schemas.openxmlformats.org/drawingml/2006/main">
              <a:ext uri="{FF2B5EF4-FFF2-40B4-BE49-F238E27FC236}">
                <a16:creationId xmlns:a16="http://schemas.microsoft.com/office/drawing/2014/main" id="{A4CE6466-E715-4BFF-9614-01BF1E61D14A}"/>
              </a:ext>
            </a:extLst>
          </p:cNvPr>
          <p:cNvSpPr>
            <a:spLocks xmlns:a="http://schemas.openxmlformats.org/drawingml/2006/main" noGrp="1"/>
          </p:cNvSpPr>
          <p:nvPr/>
        </p:nvSpPr>
        <p:spPr>
          <a:xfrm xmlns:a="http://schemas.openxmlformats.org/drawingml/2006/main">
            <a:off x="9620250" y="5305425"/>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I used concurrent scenarios to test the boundaries between blocks.</a:t>
            </a:r>
          </a:p>
        </p:txBody>
      </p:sp>
      <p:sp>
        <p:nvSpPr>
          <p:cNvPr id="11" name="">
            <a:extLst xmlns:a="http://schemas.openxmlformats.org/drawingml/2006/main">
              <a:ext uri="{FF2B5EF4-FFF2-40B4-BE49-F238E27FC236}">
                <a16:creationId xmlns:a16="http://schemas.microsoft.com/office/drawing/2014/main" id="{B83E03A2-B8C9-47C1-A4F9-BA835F5AE972}"/>
              </a:ext>
            </a:extLst>
          </p:cNvPr>
          <p:cNvSpPr>
            <a:spLocks xmlns:a="http://schemas.openxmlformats.org/drawingml/2006/main" noGrp="1"/>
          </p:cNvSpPr>
          <p:nvPr/>
        </p:nvSpPr>
        <p:spPr>
          <a:xfrm xmlns:a="http://schemas.openxmlformats.org/drawingml/2006/main">
            <a:off x="571500" y="7477125"/>
            <a:ext cx="17145000" cy="19050"/>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12" name="text">
            <a:extLst xmlns:a="http://schemas.openxmlformats.org/drawingml/2006/main">
              <a:ext uri="{FF2B5EF4-FFF2-40B4-BE49-F238E27FC236}">
                <a16:creationId xmlns:a16="http://schemas.microsoft.com/office/drawing/2014/main" id="{41762174-5ED8-4A7C-AF08-7F57FF871E8B}"/>
              </a:ext>
            </a:extLst>
          </p:cNvPr>
          <p:cNvSpPr>
            <a:spLocks xmlns:a="http://schemas.openxmlformats.org/drawingml/2006/main" noGrp="1"/>
          </p:cNvSpPr>
          <p:nvPr/>
        </p:nvSpPr>
        <p:spPr>
          <a:xfrm xmlns:a="http://schemas.openxmlformats.org/drawingml/2006/main">
            <a:off x="571500" y="7734300"/>
            <a:ext cx="1714500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006B75"/>
                </a:solidFill>
              </a:defRPr>
            </a:pPr>
            <a:r>
              <a:rPr sz="2325" b="1">
                <a:solidFill>
                  <a:srgbClr val="006B75"/>
                </a:solidFill>
              </a:rPr>
              <a:t>My contribution: design decisions → RTL → integration → verification</a:t>
            </a:r>
          </a:p>
        </p:txBody>
      </p:sp>
      <p:sp>
        <p:nvSpPr>
          <p:cNvPr id="13" name="footer">
            <a:extLst xmlns:a="http://schemas.openxmlformats.org/drawingml/2006/main">
              <a:ext uri="{FF2B5EF4-FFF2-40B4-BE49-F238E27FC236}">
                <a16:creationId xmlns:a16="http://schemas.microsoft.com/office/drawing/2014/main" id="{32EF04DA-AA75-476B-AC08-580A83A01CE3}"/>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07 / 07   ·   Conclusions</a:t>
            </a:r>
          </a:p>
        </p:txBody>
      </p:sp>
    </p:spTree>
    <p:extLst>
      <p:ext uri="{BB962C8B-B14F-4D97-AF65-F5344CB8AC3E}">
        <p14:creationId xmlns:p14="http://schemas.microsoft.com/office/powerpoint/2010/main" val="2554343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2026-09-21T20:37:11.2820000Z</dcterms:created>
  <dcterms:modified xsi:type="dcterms:W3CDTF">2026-09-21T20:37:11.2820000Z</dcterms:modified>
</coreProperties>
</file>