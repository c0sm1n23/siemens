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fc150b4ea94f69" /><Relationship Type="http://schemas.openxmlformats.org/officeDocument/2006/relationships/extended-properties" Target="/docProps/app.xml" Id="R5cf8ce79645c4380" /><Relationship Type="http://schemas.openxmlformats.org/officeDocument/2006/relationships/officeDocument" Target="/ppt/presentation.xml" Id="R7f0513608d2f4a2c" /></Relationships>
</file>

<file path=ppt/presentation.xml><?xml version="1.0" encoding="utf-8"?>
<p:presentation xmlns:p="http://schemas.openxmlformats.org/presentationml/2006/main">
  <p:sldMasterIdLst>
    <p:sldMasterId xmlns:r="http://schemas.openxmlformats.org/officeDocument/2006/relationships" id="2147483648" r:id="R99b238b7b3444a76"/>
  </p:sldMasterIdLst>
  <p:notesMasterIdLst>
    <p:notesMasterId xmlns:r="http://schemas.openxmlformats.org/officeDocument/2006/relationships" r:id="R1e8fd48e40794176"/>
  </p:notesMasterIdLst>
  <p:sldIdLst>
    <p:sldId xmlns:r="http://schemas.openxmlformats.org/officeDocument/2006/relationships" id="256" r:id="Re940096504914516"/>
    <p:sldId xmlns:r="http://schemas.openxmlformats.org/officeDocument/2006/relationships" id="257" r:id="R38ec1085f84f4f21"/>
    <p:sldId xmlns:r="http://schemas.openxmlformats.org/officeDocument/2006/relationships" id="258" r:id="R39d36d91f584481e"/>
    <p:sldId xmlns:r="http://schemas.openxmlformats.org/officeDocument/2006/relationships" id="259" r:id="R7ffd35ebf42c4ecf"/>
    <p:sldId xmlns:r="http://schemas.openxmlformats.org/officeDocument/2006/relationships" id="260" r:id="Ra25105cb80fc486f"/>
    <p:sldId xmlns:r="http://schemas.openxmlformats.org/officeDocument/2006/relationships" id="261" r:id="R73726a9b3ddb42f3"/>
    <p:sldId xmlns:r="http://schemas.openxmlformats.org/officeDocument/2006/relationships" id="262" r:id="R078600ee5c2a446a"/>
    <p:sldId xmlns:r="http://schemas.openxmlformats.org/officeDocument/2006/relationships" id="263" r:id="Raf34af365f3e4394"/>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99b238b7b3444a76" /><Relationship Type="http://schemas.openxmlformats.org/officeDocument/2006/relationships/theme" Target="/ppt/theme/theme1.xml" Id="R4a73c64f64974e29" /><Relationship Type="http://schemas.openxmlformats.org/officeDocument/2006/relationships/notesMaster" Target="/ppt/notesMasters/notesMaster1.xml" Id="R1e8fd48e40794176" /><Relationship Type="http://schemas.openxmlformats.org/officeDocument/2006/relationships/presProps" Target="/ppt/presProps.xml" Id="Re47274bb04dc4948" /><Relationship Type="http://schemas.openxmlformats.org/officeDocument/2006/relationships/viewProps" Target="/ppt/viewProps.xml" Id="Rd759880581c1419e" /><Relationship Type="http://schemas.openxmlformats.org/officeDocument/2006/relationships/tableStyles" Target="/ppt/tableStyles.xml" Id="R45013f704f3b455f" /><Relationship Type="http://schemas.openxmlformats.org/officeDocument/2006/relationships/slide" Target="/ppt/slides/slide1.xml" Id="Re940096504914516" /><Relationship Type="http://schemas.openxmlformats.org/officeDocument/2006/relationships/slide" Target="/ppt/slides/slide2.xml" Id="R38ec1085f84f4f21" /><Relationship Type="http://schemas.openxmlformats.org/officeDocument/2006/relationships/slide" Target="/ppt/slides/slide3.xml" Id="R39d36d91f584481e" /><Relationship Type="http://schemas.openxmlformats.org/officeDocument/2006/relationships/slide" Target="/ppt/slides/slide4.xml" Id="R7ffd35ebf42c4ecf" /><Relationship Type="http://schemas.openxmlformats.org/officeDocument/2006/relationships/slide" Target="/ppt/slides/slide5.xml" Id="Ra25105cb80fc486f" /><Relationship Type="http://schemas.openxmlformats.org/officeDocument/2006/relationships/slide" Target="/ppt/slides/slide6.xml" Id="R73726a9b3ddb42f3" /><Relationship Type="http://schemas.openxmlformats.org/officeDocument/2006/relationships/slide" Target="/ppt/slides/slide7.xml" Id="R078600ee5c2a446a" /><Relationship Type="http://schemas.openxmlformats.org/officeDocument/2006/relationships/slide" Target="/ppt/slides/slide8.xml" Id="Raf34af365f3e43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e61125219a0e4f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8f1523e4f24505" /><Relationship Type="http://schemas.openxmlformats.org/officeDocument/2006/relationships/notesMaster" Target="/ppt/notesMasters/notesMaster1.xml" Id="R25903653cca64f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cfbbc48ba24692" /><Relationship Type="http://schemas.openxmlformats.org/officeDocument/2006/relationships/notesMaster" Target="/ppt/notesMasters/notesMaster1.xml" Id="Ra28b194e583645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4caac5f9494151" /><Relationship Type="http://schemas.openxmlformats.org/officeDocument/2006/relationships/notesMaster" Target="/ppt/notesMasters/notesMaster1.xml" Id="R04398c868e4c46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eb73d06f5944ad" /><Relationship Type="http://schemas.openxmlformats.org/officeDocument/2006/relationships/notesMaster" Target="/ppt/notesMasters/notesMaster1.xml" Id="R04eae326383f4f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f587ed30f442a4" /><Relationship Type="http://schemas.openxmlformats.org/officeDocument/2006/relationships/notesMaster" Target="/ppt/notesMasters/notesMaster1.xml" Id="R8f19b6f705ee46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86a2d1017241ce" /><Relationship Type="http://schemas.openxmlformats.org/officeDocument/2006/relationships/notesMaster" Target="/ppt/notesMasters/notesMaster1.xml" Id="R62cdbf1bf7f241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fcb472bb9e446a" /><Relationship Type="http://schemas.openxmlformats.org/officeDocument/2006/relationships/notesMaster" Target="/ppt/notesMasters/notesMaster1.xml" Id="R4766f31ade8742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7e324a2c9a4327" /><Relationship Type="http://schemas.openxmlformats.org/officeDocument/2006/relationships/notesMaster" Target="/ppt/notesMasters/notesMaster1.xml" Id="Rec8aeba3354748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 The project is an RV32I core that I specified, wrote in RTL, integrated and verified. The figure is the SoC from the kick-off: the CPU has an instruction port, a data port on the interconnect and a direct link to the PIC. Total time: 10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These are the requirements from the kick-off and the CPU brief: the ISA, the three stages, two AXI4-Lite ports, a simple predictor, traps, CSRs and central stall/flush control; interrupts are taken only at instruction boundaries. The interrupt link to the PIC uses 16 sources, a 4-bit ID, a claim and an EOI.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 The brief asked 23 questions and left the answers to me; these five shaped the design most. The predictor size and mapping; the order when several redirects are requested together; what an AXI error turns into; how S1 avoids a wrong fetch while S2 is stalled, including a read that is already on the bus; and how a second trap is kept out while a handler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 Follow the main path from S1 to S3. Loads and stores finish inside S2, so a dependent instruction gets the value by forwarding from S3, with no extra bubble. The decisions from the previous slide sit in these blocks: the predictor next to fetch; the fetch unit, which holds an instruction during a stall and drains a wrong-path response; the LSU inside execution, which turns an AXI error into an exception; and the control block, which orders redirects and keeps the trap state. Parameters: RESET_PC, HART_ID, BP_ENTRIES and RAS_DEPTH.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The CSRs follow RISC-V; the part specific to this project is bits 16 to 31, one per PIC source. mie bit 16+n goes to the PIC as a mask, so a masked source is skipped in arbitration and cannot hold back the others. mip shows every pending source, not only the one offered. On trap entry the CPU saves cause 16+n and sends one claim; with vectored mtvec the handler address follows from n. MRET sends an EOI only when it closes an interrupt.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Stimulus and program go into the DUT; expected values and observations go into the checks. The ISA model is written separately from the RTL and gives the expected state after each of 1,287 instructions. The memories add delay and backpressure, so the same program also exercises stalls. Assertions are attached with bind and check pipeline and AXI rules. The mutation suite inserts a known defect into the RTL and requires a named bench to fail; all 16 are rejected.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 At 7575 ns the IRQ appears, but lsu_active is still 1, so there is no claim. At 7595 ns RVALID and RREADY are high on the same edge and the load response is accepted. At 7605 ns the claim and cpu_in_trap appear. An accepted response cannot be dropped to reach the handler sooner. The test also checks the loaded value and mepc.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 The result is an RV32I core connected to the PIC and checked against an independent model. What I keep from the project: simultaneous events need a written order; bus rules shape the pipeline control; and a test is useful only if a real defect makes it fail. The internship followed the path of a real block, from brief to verification, with reviews in between.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7d6785148e346dd"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28a2dcf6628404e" /><Relationship Type="http://schemas.openxmlformats.org/officeDocument/2006/relationships/slideLayout" Target="/ppt/slideLayouts/slideLayout2.xml" Id="R9e9d27a677c640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9d27a677c640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29a8f9a609514409" /><Relationship Type="http://schemas.openxmlformats.org/officeDocument/2006/relationships/image" Target="/ppt/media/image.png" Id="Rc6557533bbc24556" /><Relationship Type="http://schemas.openxmlformats.org/officeDocument/2006/relationships/image" Target="/ppt/media/image.svg" Id="R1b840e77283b4ed3" /><Relationship Type="http://schemas.openxmlformats.org/officeDocument/2006/relationships/notesSlide" Target="/ppt/notesSlides/notesSlide1.xml" Id="Rb682511d9b4942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10cc338ddc34270" /><Relationship Type="http://schemas.openxmlformats.org/officeDocument/2006/relationships/notesSlide" Target="/ppt/notesSlides/notesSlide2.xml" Id="R4912d584228940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e9c1fb8b53f4ef0" /><Relationship Type="http://schemas.openxmlformats.org/officeDocument/2006/relationships/notesSlide" Target="/ppt/notesSlides/notesSlide3.xml" Id="Rc2c8b27ccfff42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6efa78bb6444bc3" /><Relationship Type="http://schemas.openxmlformats.org/officeDocument/2006/relationships/image" Target="/ppt/media/image2.png" Id="R66175af6bf87492b" /><Relationship Type="http://schemas.openxmlformats.org/officeDocument/2006/relationships/image" Target="/ppt/media/image2.svg" Id="R967762e80e4e494b" /><Relationship Type="http://schemas.openxmlformats.org/officeDocument/2006/relationships/notesSlide" Target="/ppt/notesSlides/notesSlide4.xml" Id="Ra1cd7730910047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2d0703034b048d8" /><Relationship Type="http://schemas.openxmlformats.org/officeDocument/2006/relationships/image" Target="/ppt/media/image3.png" Id="Rbf16fc2e784943dd" /><Relationship Type="http://schemas.openxmlformats.org/officeDocument/2006/relationships/image" Target="/ppt/media/image3.svg" Id="Rd7b4b64d63b2497f" /><Relationship Type="http://schemas.openxmlformats.org/officeDocument/2006/relationships/notesSlide" Target="/ppt/notesSlides/notesSlide5.xml" Id="Re6f8e87cd50045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d140ded7bdb4491" /><Relationship Type="http://schemas.openxmlformats.org/officeDocument/2006/relationships/image" Target="/ppt/media/image4.png" Id="Ra4ea5a018ba84ee9" /><Relationship Type="http://schemas.openxmlformats.org/officeDocument/2006/relationships/image" Target="/ppt/media/image4.svg" Id="Rb96e98b5284b4d08" /><Relationship Type="http://schemas.openxmlformats.org/officeDocument/2006/relationships/notesSlide" Target="/ppt/notesSlides/notesSlide6.xml" Id="R92431a6234a742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aef9180b7e64eb7" /><Relationship Type="http://schemas.openxmlformats.org/officeDocument/2006/relationships/image" Target="/ppt/media/image5.png" Id="R31991bd572754057" /><Relationship Type="http://schemas.openxmlformats.org/officeDocument/2006/relationships/image" Target="/ppt/media/image5.svg" Id="R40cb9a4dd21e405f" /><Relationship Type="http://schemas.openxmlformats.org/officeDocument/2006/relationships/notesSlide" Target="/ppt/notesSlides/notesSlide7.xml" Id="R0af1310946064a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e95bdf89a7e4b74" /><Relationship Type="http://schemas.openxmlformats.org/officeDocument/2006/relationships/notesSlide" Target="/ppt/notesSlides/notesSlide8.xml" Id="R3d3832aa31224a8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07E08B8-4DBD-40AA-B275-DA9EEF46302C}"/>
              </a:ext>
            </a:extLst>
          </p:cNvPr>
          <p:cNvSpPr>
            <a:spLocks xmlns:a="http://schemas.openxmlformats.org/drawingml/2006/main" noGrp="1"/>
          </p:cNvSpPr>
          <p:nvPr/>
        </p:nvSpPr>
        <p:spPr>
          <a:xfrm xmlns:a="http://schemas.openxmlformats.org/drawingml/2006/main">
            <a:off x="1047750" y="2390775"/>
            <a:ext cx="73533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0">
                <a:solidFill>
                  <a:srgbClr val="526772"/>
                </a:solidFill>
              </a:defRPr>
            </a:pPr>
            <a:r>
              <a:rPr sz="1950" b="0">
                <a:solidFill>
                  <a:srgbClr val="526772"/>
                </a:solidFill>
              </a:rPr>
              <a:t>INTERNSHIP · SIEMENS · 2026</a:t>
            </a:r>
          </a:p>
        </p:txBody>
      </p:sp>
      <p:sp>
        <p:nvSpPr>
          <p:cNvPr id="2" name="">
            <a:extLst xmlns:a="http://schemas.openxmlformats.org/drawingml/2006/main">
              <a:ext uri="{FF2B5EF4-FFF2-40B4-BE49-F238E27FC236}">
                <a16:creationId xmlns:a16="http://schemas.microsoft.com/office/drawing/2014/main" id="{DC708D46-0E27-4774-9B27-A8CC50FC4C47}"/>
              </a:ext>
            </a:extLst>
          </p:cNvPr>
          <p:cNvSpPr>
            <a:spLocks xmlns:a="http://schemas.openxmlformats.org/drawingml/2006/main" noGrp="1"/>
          </p:cNvSpPr>
          <p:nvPr/>
        </p:nvSpPr>
        <p:spPr>
          <a:xfrm xmlns:a="http://schemas.openxmlformats.org/drawingml/2006/main">
            <a:off x="1047750" y="2838450"/>
            <a:ext cx="2095500" cy="47625"/>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95D09299-E883-4B50-B5D4-DB5AFA9DDD29}"/>
              </a:ext>
            </a:extLst>
          </p:cNvPr>
          <p:cNvSpPr>
            <a:spLocks xmlns:a="http://schemas.openxmlformats.org/drawingml/2006/main" noGrp="1"/>
          </p:cNvSpPr>
          <p:nvPr/>
        </p:nvSpPr>
        <p:spPr>
          <a:xfrm xmlns:a="http://schemas.openxmlformats.org/drawingml/2006/main">
            <a:off x="1047750" y="3228975"/>
            <a:ext cx="7353300" cy="9620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6300" b="1">
                <a:solidFill>
                  <a:srgbClr val="173442"/>
                </a:solidFill>
              </a:defRPr>
            </a:pPr>
            <a:r>
              <a:rPr sz="6300" b="1">
                <a:solidFill>
                  <a:srgbClr val="173442"/>
                </a:solidFill>
              </a:rPr>
              <a:t>RV32I Processor</a:t>
            </a:r>
          </a:p>
        </p:txBody>
      </p:sp>
      <p:sp>
        <p:nvSpPr>
          <p:cNvPr id="4" name="">
            <a:extLst xmlns:a="http://schemas.openxmlformats.org/drawingml/2006/main">
              <a:ext uri="{FF2B5EF4-FFF2-40B4-BE49-F238E27FC236}">
                <a16:creationId xmlns:a16="http://schemas.microsoft.com/office/drawing/2014/main" id="{0F62DA00-03A9-4357-B4C8-B2C6D968C5A4}"/>
              </a:ext>
            </a:extLst>
          </p:cNvPr>
          <p:cNvSpPr>
            <a:spLocks xmlns:a="http://schemas.openxmlformats.org/drawingml/2006/main" noGrp="1"/>
          </p:cNvSpPr>
          <p:nvPr/>
        </p:nvSpPr>
        <p:spPr>
          <a:xfrm xmlns:a="http://schemas.openxmlformats.org/drawingml/2006/main">
            <a:off x="1047750" y="4286250"/>
            <a:ext cx="7353300" cy="5048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0">
                <a:solidFill>
                  <a:srgbClr val="006B75"/>
                </a:solidFill>
              </a:defRPr>
            </a:pPr>
            <a:r>
              <a:rPr sz="3300" b="0">
                <a:solidFill>
                  <a:srgbClr val="006B75"/>
                </a:solidFill>
              </a:rPr>
              <a:t>Three-stage pipeline</a:t>
            </a:r>
          </a:p>
        </p:txBody>
      </p:sp>
      <p:sp>
        <p:nvSpPr>
          <p:cNvPr id="5" name="">
            <a:extLst xmlns:a="http://schemas.openxmlformats.org/drawingml/2006/main">
              <a:ext uri="{FF2B5EF4-FFF2-40B4-BE49-F238E27FC236}">
                <a16:creationId xmlns:a16="http://schemas.microsoft.com/office/drawing/2014/main" id="{75EEA199-4EA0-498F-8521-3CDEE2B8D85F}"/>
              </a:ext>
            </a:extLst>
          </p:cNvPr>
          <p:cNvSpPr>
            <a:spLocks xmlns:a="http://schemas.openxmlformats.org/drawingml/2006/main" noGrp="1"/>
          </p:cNvSpPr>
          <p:nvPr/>
        </p:nvSpPr>
        <p:spPr>
          <a:xfrm xmlns:a="http://schemas.openxmlformats.org/drawingml/2006/main">
            <a:off x="1047750" y="5457825"/>
            <a:ext cx="7353300" cy="419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173442"/>
                </a:solidFill>
              </a:defRPr>
            </a:pPr>
            <a:r>
              <a:rPr sz="2700" b="1">
                <a:solidFill>
                  <a:srgbClr val="173442"/>
                </a:solidFill>
              </a:rPr>
              <a:t>Bunea Cosmin-Andrei</a:t>
            </a:r>
          </a:p>
        </p:txBody>
      </p:sp>
      <p:sp>
        <p:nvSpPr>
          <p:cNvPr id="6" name="">
            <a:extLst xmlns:a="http://schemas.openxmlformats.org/drawingml/2006/main">
              <a:ext uri="{FF2B5EF4-FFF2-40B4-BE49-F238E27FC236}">
                <a16:creationId xmlns:a16="http://schemas.microsoft.com/office/drawing/2014/main" id="{1E3F9887-4E7A-4647-B0DA-EFA6B3A46A78}"/>
              </a:ext>
            </a:extLst>
          </p:cNvPr>
          <p:cNvSpPr>
            <a:spLocks xmlns:a="http://schemas.openxmlformats.org/drawingml/2006/main" noGrp="1"/>
          </p:cNvSpPr>
          <p:nvPr/>
        </p:nvSpPr>
        <p:spPr>
          <a:xfrm xmlns:a="http://schemas.openxmlformats.org/drawingml/2006/main">
            <a:off x="1047750" y="5943600"/>
            <a:ext cx="7353300" cy="1104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00" b="0">
                <a:solidFill>
                  <a:srgbClr val="173442"/>
                </a:solidFill>
              </a:defRPr>
            </a:pPr>
            <a:r>
              <a:rPr sz="2400" b="0">
                <a:solidFill>
                  <a:srgbClr val="173442"/>
                </a:solidFill>
              </a:rPr>
              <a:t>Computer Engineering, year III</a:t>
            </a:r>
          </a:p>
          <a:p xmlns:a="http://schemas.openxmlformats.org/drawingml/2006/main">
            <a:pPr>
              <a:defRPr sz="2400" b="0">
                <a:solidFill>
                  <a:srgbClr val="173442"/>
                </a:solidFill>
              </a:defRPr>
            </a:pPr>
            <a:r>
              <a:rPr sz="2400" b="0">
                <a:solidFill>
                  <a:srgbClr val="173442"/>
                </a:solidFill>
              </a:rPr>
              <a:t>Academic year 2025–2026</a:t>
            </a:r>
          </a:p>
          <a:p xmlns:a="http://schemas.openxmlformats.org/drawingml/2006/main">
            <a:pPr>
              <a:defRPr sz="2400" b="0">
                <a:solidFill>
                  <a:srgbClr val="173442"/>
                </a:solidFill>
              </a:defRPr>
            </a:pPr>
            <a:r>
              <a:rPr sz="2400" b="0">
                <a:solidFill>
                  <a:srgbClr val="173442"/>
                </a:solidFill>
              </a:rPr>
              <a:t>Transilvania University of Brașov</a:t>
            </a:r>
          </a:p>
        </p:txBody>
      </p:sp>
      <p:sp>
        <p:nvSpPr>
          <p:cNvPr id="7" name="">
            <a:extLst xmlns:a="http://schemas.openxmlformats.org/drawingml/2006/main">
              <a:ext uri="{FF2B5EF4-FFF2-40B4-BE49-F238E27FC236}">
                <a16:creationId xmlns:a16="http://schemas.microsoft.com/office/drawing/2014/main" id="{AEAEC2A8-A362-48D2-854E-CA3193C34108}"/>
              </a:ext>
            </a:extLst>
          </p:cNvPr>
          <p:cNvSpPr>
            <a:spLocks xmlns:a="http://schemas.openxmlformats.org/drawingml/2006/main" noGrp="1"/>
          </p:cNvSpPr>
          <p:nvPr/>
        </p:nvSpPr>
        <p:spPr>
          <a:xfrm xmlns:a="http://schemas.openxmlformats.org/drawingml/2006/main">
            <a:off x="1047750" y="7572375"/>
            <a:ext cx="73533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0">
                <a:solidFill>
                  <a:srgbClr val="526772"/>
                </a:solidFill>
              </a:defRPr>
            </a:pPr>
            <a:r>
              <a:rPr sz="2100" b="0">
                <a:solidFill>
                  <a:srgbClr val="526772"/>
                </a:solidFill>
              </a:rPr>
              <a:t>RTL implementation · interfaces · verification</a:t>
            </a:r>
          </a:p>
        </p:txBody>
      </p:sp>
      <p:pic>
        <p:nvPicPr>
          <p:cNvPr id="8" name="asset-presentations/assets/soc_context_cpu"/>
          <p:cNvPicPr>
            <a:picLocks xmlns:a="http://schemas.openxmlformats.org/drawingml/2006/main" noChangeAspect="1"/>
          </p:cNvPicPr>
          <p:nvPr/>
        </p:nvPicPr>
        <p:blipFill>
          <a:blip xmlns:r="http://schemas.openxmlformats.org/officeDocument/2006/relationships" xmlns:a="http://schemas.openxmlformats.org/drawingml/2006/main" r:embed="Rc6557533bbc24556">
            <a:extLst>
              <a:ext uri="{96DAC541-7B7A-43D3-8B79-37D633B846F1}">
                <asvg:svgBlip xmlns:asvg="http://schemas.microsoft.com/office/drawing/2016/SVG/main" r:embed="R1b840e77283b4ed3"/>
              </a:ext>
            </a:extLst>
          </a:blip>
          <a:stretch xmlns:a="http://schemas.openxmlformats.org/drawingml/2006/main"/>
        </p:blipFill>
        <p:spPr>
          <a:xfrm xmlns:a="http://schemas.openxmlformats.org/drawingml/2006/main">
            <a:off x="9068686" y="2457450"/>
            <a:ext cx="8382000" cy="5378450"/>
          </a:xfrm>
          <a:prstGeom xmlns:a="http://schemas.openxmlformats.org/drawingml/2006/main" prst="rect">
            <a:avLst/>
          </a:prstGeom>
        </p:spPr>
      </p:pic>
    </p:spTree>
    <p:extLst>
      <p:ext uri="{BB962C8B-B14F-4D97-AF65-F5344CB8AC3E}">
        <p14:creationId xmlns:p14="http://schemas.microsoft.com/office/powerpoint/2010/main" val="97320414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3F8E330D-487F-4F80-AECD-BD30DC00B379}"/>
              </a:ext>
            </a:extLst>
          </p:cNvPr>
          <p:cNvSpPr>
            <a:spLocks xmlns:a="http://schemas.openxmlformats.org/drawingml/2006/main" noGrp="1"/>
          </p:cNvSpPr>
          <p:nvPr/>
        </p:nvSpPr>
        <p:spPr>
          <a:xfrm xmlns:a="http://schemas.openxmlformats.org/drawingml/2006/main">
            <a:off x="666750" y="419100"/>
            <a:ext cx="169545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73442"/>
                </a:solidFill>
              </a:defRPr>
            </a:pPr>
            <a:r>
              <a:rPr sz="3750" b="1">
                <a:solidFill>
                  <a:srgbClr val="173442"/>
                </a:solidFill>
              </a:rPr>
              <a:t>The task: a three-stage RV32I core with two AXI4-Lite ports</a:t>
            </a:r>
          </a:p>
        </p:txBody>
      </p:sp>
      <p:sp>
        <p:nvSpPr>
          <p:cNvPr id="2" name="">
            <a:extLst xmlns:a="http://schemas.openxmlformats.org/drawingml/2006/main">
              <a:ext uri="{FF2B5EF4-FFF2-40B4-BE49-F238E27FC236}">
                <a16:creationId xmlns:a16="http://schemas.microsoft.com/office/drawing/2014/main" id="{B7A16C2C-631C-4609-8308-36E82BFAC74E}"/>
              </a:ext>
            </a:extLst>
          </p:cNvPr>
          <p:cNvSpPr>
            <a:spLocks xmlns:a="http://schemas.openxmlformats.org/drawingml/2006/main" noGrp="1"/>
          </p:cNvSpPr>
          <p:nvPr/>
        </p:nvSpPr>
        <p:spPr>
          <a:xfrm xmlns:a="http://schemas.openxmlformats.org/drawingml/2006/main">
            <a:off x="666750" y="11239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D154A657-6D6E-4F31-A7CE-0A9437A91927}"/>
              </a:ext>
            </a:extLst>
          </p:cNvPr>
          <p:cNvSpPr>
            <a:spLocks xmlns:a="http://schemas.openxmlformats.org/drawingml/2006/main" noGrp="1"/>
          </p:cNvSpPr>
          <p:nvPr/>
        </p:nvSpPr>
        <p:spPr>
          <a:xfrm xmlns:a="http://schemas.openxmlformats.org/drawingml/2006/main">
            <a:off x="666750" y="1428750"/>
            <a:ext cx="8343900" cy="1501140"/>
          </a:xfrm>
          <a:prstGeom xmlns:a="http://schemas.openxmlformats.org/drawingml/2006/main" prst="roundRect">
            <a:avLst>
              <a:gd name="adj" fmla="val 7614"/>
            </a:avLst>
          </a:prstGeom>
          <a:solidFill xmlns:a="http://schemas.openxmlformats.org/drawingml/2006/main">
            <a:srgbClr val="EEF5F5"/>
          </a:solidFill>
        </p:spPr>
      </p:sp>
      <p:sp>
        <p:nvSpPr>
          <p:cNvPr id="4" name="">
            <a:extLst xmlns:a="http://schemas.openxmlformats.org/drawingml/2006/main">
              <a:ext uri="{FF2B5EF4-FFF2-40B4-BE49-F238E27FC236}">
                <a16:creationId xmlns:a16="http://schemas.microsoft.com/office/drawing/2014/main" id="{DF5068BF-724B-455D-8DD0-6C215F5D956D}"/>
              </a:ext>
            </a:extLst>
          </p:cNvPr>
          <p:cNvSpPr>
            <a:spLocks xmlns:a="http://schemas.openxmlformats.org/drawingml/2006/main" noGrp="1"/>
          </p:cNvSpPr>
          <p:nvPr/>
        </p:nvSpPr>
        <p:spPr>
          <a:xfrm xmlns:a="http://schemas.openxmlformats.org/drawingml/2006/main">
            <a:off x="990600" y="1971675"/>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01</a:t>
            </a:r>
          </a:p>
        </p:txBody>
      </p:sp>
      <p:sp>
        <p:nvSpPr>
          <p:cNvPr id="5" name="">
            <a:extLst xmlns:a="http://schemas.openxmlformats.org/drawingml/2006/main">
              <a:ext uri="{FF2B5EF4-FFF2-40B4-BE49-F238E27FC236}">
                <a16:creationId xmlns:a16="http://schemas.microsoft.com/office/drawing/2014/main" id="{8049D0EA-58C2-41C8-815E-43A7E88053C2}"/>
              </a:ext>
            </a:extLst>
          </p:cNvPr>
          <p:cNvSpPr>
            <a:spLocks xmlns:a="http://schemas.openxmlformats.org/drawingml/2006/main" noGrp="1"/>
          </p:cNvSpPr>
          <p:nvPr/>
        </p:nvSpPr>
        <p:spPr>
          <a:xfrm xmlns:a="http://schemas.openxmlformats.org/drawingml/2006/main">
            <a:off x="1847850" y="1981200"/>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RV32I base ISA; no multiply or divide</a:t>
            </a:r>
          </a:p>
        </p:txBody>
      </p:sp>
      <p:sp>
        <p:nvSpPr>
          <p:cNvPr id="6" name="">
            <a:extLst xmlns:a="http://schemas.openxmlformats.org/drawingml/2006/main">
              <a:ext uri="{FF2B5EF4-FFF2-40B4-BE49-F238E27FC236}">
                <a16:creationId xmlns:a16="http://schemas.microsoft.com/office/drawing/2014/main" id="{FF8D030D-52D6-4E3C-86AF-BEA73B754386}"/>
              </a:ext>
            </a:extLst>
          </p:cNvPr>
          <p:cNvSpPr>
            <a:spLocks xmlns:a="http://schemas.openxmlformats.org/drawingml/2006/main" noGrp="1"/>
          </p:cNvSpPr>
          <p:nvPr/>
        </p:nvSpPr>
        <p:spPr>
          <a:xfrm xmlns:a="http://schemas.openxmlformats.org/drawingml/2006/main">
            <a:off x="9277350" y="1428750"/>
            <a:ext cx="8343900" cy="1501140"/>
          </a:xfrm>
          <a:prstGeom xmlns:a="http://schemas.openxmlformats.org/drawingml/2006/main" prst="roundRect">
            <a:avLst>
              <a:gd name="adj" fmla="val 7614"/>
            </a:avLst>
          </a:prstGeom>
          <a:solidFill xmlns:a="http://schemas.openxmlformats.org/drawingml/2006/main">
            <a:srgbClr val="EEF5F5"/>
          </a:solidFill>
        </p:spPr>
      </p:sp>
      <p:sp>
        <p:nvSpPr>
          <p:cNvPr id="7" name="">
            <a:extLst xmlns:a="http://schemas.openxmlformats.org/drawingml/2006/main">
              <a:ext uri="{FF2B5EF4-FFF2-40B4-BE49-F238E27FC236}">
                <a16:creationId xmlns:a16="http://schemas.microsoft.com/office/drawing/2014/main" id="{C6B4EDF0-2D4E-49E6-84AE-467D25A26CB9}"/>
              </a:ext>
            </a:extLst>
          </p:cNvPr>
          <p:cNvSpPr>
            <a:spLocks xmlns:a="http://schemas.openxmlformats.org/drawingml/2006/main" noGrp="1"/>
          </p:cNvSpPr>
          <p:nvPr/>
        </p:nvSpPr>
        <p:spPr>
          <a:xfrm xmlns:a="http://schemas.openxmlformats.org/drawingml/2006/main">
            <a:off x="9601200" y="1971675"/>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06</a:t>
            </a:r>
          </a:p>
        </p:txBody>
      </p:sp>
      <p:sp>
        <p:nvSpPr>
          <p:cNvPr id="8" name="">
            <a:extLst xmlns:a="http://schemas.openxmlformats.org/drawingml/2006/main">
              <a:ext uri="{FF2B5EF4-FFF2-40B4-BE49-F238E27FC236}">
                <a16:creationId xmlns:a16="http://schemas.microsoft.com/office/drawing/2014/main" id="{8A637D22-6B34-47CE-996A-065B407229C8}"/>
              </a:ext>
            </a:extLst>
          </p:cNvPr>
          <p:cNvSpPr>
            <a:spLocks xmlns:a="http://schemas.openxmlformats.org/drawingml/2006/main" noGrp="1"/>
          </p:cNvSpPr>
          <p:nvPr/>
        </p:nvSpPr>
        <p:spPr>
          <a:xfrm xmlns:a="http://schemas.openxmlformats.org/drawingml/2006/main">
            <a:off x="10458450" y="1981200"/>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CSRs for traps and interrupt control</a:t>
            </a:r>
          </a:p>
        </p:txBody>
      </p:sp>
      <p:sp>
        <p:nvSpPr>
          <p:cNvPr id="9" name="">
            <a:extLst xmlns:a="http://schemas.openxmlformats.org/drawingml/2006/main">
              <a:ext uri="{FF2B5EF4-FFF2-40B4-BE49-F238E27FC236}">
                <a16:creationId xmlns:a16="http://schemas.microsoft.com/office/drawing/2014/main" id="{4CA1DA97-0D71-4466-BC34-01DA2DEBE5A7}"/>
              </a:ext>
            </a:extLst>
          </p:cNvPr>
          <p:cNvSpPr>
            <a:spLocks xmlns:a="http://schemas.openxmlformats.org/drawingml/2006/main" noGrp="1"/>
          </p:cNvSpPr>
          <p:nvPr/>
        </p:nvSpPr>
        <p:spPr>
          <a:xfrm xmlns:a="http://schemas.openxmlformats.org/drawingml/2006/main">
            <a:off x="666750" y="3101340"/>
            <a:ext cx="8343900" cy="1501140"/>
          </a:xfrm>
          <a:prstGeom xmlns:a="http://schemas.openxmlformats.org/drawingml/2006/main" prst="roundRect">
            <a:avLst>
              <a:gd name="adj" fmla="val 7614"/>
            </a:avLst>
          </a:prstGeom>
          <a:solidFill xmlns:a="http://schemas.openxmlformats.org/drawingml/2006/main">
            <a:srgbClr val="EEF5F5"/>
          </a:solidFill>
        </p:spPr>
      </p:sp>
      <p:sp>
        <p:nvSpPr>
          <p:cNvPr id="10" name="">
            <a:extLst xmlns:a="http://schemas.openxmlformats.org/drawingml/2006/main">
              <a:ext uri="{FF2B5EF4-FFF2-40B4-BE49-F238E27FC236}">
                <a16:creationId xmlns:a16="http://schemas.microsoft.com/office/drawing/2014/main" id="{E76C90CB-76D2-42C8-AAA9-F2CB31B56CB5}"/>
              </a:ext>
            </a:extLst>
          </p:cNvPr>
          <p:cNvSpPr>
            <a:spLocks xmlns:a="http://schemas.openxmlformats.org/drawingml/2006/main" noGrp="1"/>
          </p:cNvSpPr>
          <p:nvPr/>
        </p:nvSpPr>
        <p:spPr>
          <a:xfrm xmlns:a="http://schemas.openxmlformats.org/drawingml/2006/main">
            <a:off x="990600" y="3648075"/>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02</a:t>
            </a:r>
          </a:p>
        </p:txBody>
      </p:sp>
      <p:sp>
        <p:nvSpPr>
          <p:cNvPr id="11" name="">
            <a:extLst xmlns:a="http://schemas.openxmlformats.org/drawingml/2006/main">
              <a:ext uri="{FF2B5EF4-FFF2-40B4-BE49-F238E27FC236}">
                <a16:creationId xmlns:a16="http://schemas.microsoft.com/office/drawing/2014/main" id="{EEEAEE85-2F57-48F7-8D5F-CC22DA0DF4FF}"/>
              </a:ext>
            </a:extLst>
          </p:cNvPr>
          <p:cNvSpPr>
            <a:spLocks xmlns:a="http://schemas.openxmlformats.org/drawingml/2006/main" noGrp="1"/>
          </p:cNvSpPr>
          <p:nvPr/>
        </p:nvSpPr>
        <p:spPr>
          <a:xfrm xmlns:a="http://schemas.openxmlformats.org/drawingml/2006/main">
            <a:off x="1847850" y="3657600"/>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Three stages: fetch, decode + execute, writeback</a:t>
            </a:r>
          </a:p>
        </p:txBody>
      </p:sp>
      <p:sp>
        <p:nvSpPr>
          <p:cNvPr id="12" name="">
            <a:extLst xmlns:a="http://schemas.openxmlformats.org/drawingml/2006/main">
              <a:ext uri="{FF2B5EF4-FFF2-40B4-BE49-F238E27FC236}">
                <a16:creationId xmlns:a16="http://schemas.microsoft.com/office/drawing/2014/main" id="{88E3F007-279B-47D1-9AA3-603B1B1398B5}"/>
              </a:ext>
            </a:extLst>
          </p:cNvPr>
          <p:cNvSpPr>
            <a:spLocks xmlns:a="http://schemas.openxmlformats.org/drawingml/2006/main" noGrp="1"/>
          </p:cNvSpPr>
          <p:nvPr/>
        </p:nvSpPr>
        <p:spPr>
          <a:xfrm xmlns:a="http://schemas.openxmlformats.org/drawingml/2006/main">
            <a:off x="9277350" y="3101340"/>
            <a:ext cx="8343900" cy="1501140"/>
          </a:xfrm>
          <a:prstGeom xmlns:a="http://schemas.openxmlformats.org/drawingml/2006/main" prst="roundRect">
            <a:avLst>
              <a:gd name="adj" fmla="val 7614"/>
            </a:avLst>
          </a:prstGeom>
          <a:solidFill xmlns:a="http://schemas.openxmlformats.org/drawingml/2006/main">
            <a:srgbClr val="EEF5F5"/>
          </a:solidFill>
        </p:spPr>
      </p:sp>
      <p:sp>
        <p:nvSpPr>
          <p:cNvPr id="13" name="">
            <a:extLst xmlns:a="http://schemas.openxmlformats.org/drawingml/2006/main">
              <a:ext uri="{FF2B5EF4-FFF2-40B4-BE49-F238E27FC236}">
                <a16:creationId xmlns:a16="http://schemas.microsoft.com/office/drawing/2014/main" id="{0B16112D-3556-4D2C-A26C-BBE356E2893E}"/>
              </a:ext>
            </a:extLst>
          </p:cNvPr>
          <p:cNvSpPr>
            <a:spLocks xmlns:a="http://schemas.openxmlformats.org/drawingml/2006/main" noGrp="1"/>
          </p:cNvSpPr>
          <p:nvPr/>
        </p:nvSpPr>
        <p:spPr>
          <a:xfrm xmlns:a="http://schemas.openxmlformats.org/drawingml/2006/main">
            <a:off x="9601200" y="3648075"/>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07</a:t>
            </a:r>
          </a:p>
        </p:txBody>
      </p:sp>
      <p:sp>
        <p:nvSpPr>
          <p:cNvPr id="14" name="">
            <a:extLst xmlns:a="http://schemas.openxmlformats.org/drawingml/2006/main">
              <a:ext uri="{FF2B5EF4-FFF2-40B4-BE49-F238E27FC236}">
                <a16:creationId xmlns:a16="http://schemas.microsoft.com/office/drawing/2014/main" id="{8575D492-9D45-4612-BE8A-68A59B1EF586}"/>
              </a:ext>
            </a:extLst>
          </p:cNvPr>
          <p:cNvSpPr>
            <a:spLocks xmlns:a="http://schemas.openxmlformats.org/drawingml/2006/main" noGrp="1"/>
          </p:cNvSpPr>
          <p:nvPr/>
        </p:nvSpPr>
        <p:spPr>
          <a:xfrm xmlns:a="http://schemas.openxmlformats.org/drawingml/2006/main">
            <a:off x="10458450" y="3657600"/>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Two independent AXI4-Lite masters</a:t>
            </a:r>
          </a:p>
        </p:txBody>
      </p:sp>
      <p:sp>
        <p:nvSpPr>
          <p:cNvPr id="15" name="">
            <a:extLst xmlns:a="http://schemas.openxmlformats.org/drawingml/2006/main">
              <a:ext uri="{FF2B5EF4-FFF2-40B4-BE49-F238E27FC236}">
                <a16:creationId xmlns:a16="http://schemas.microsoft.com/office/drawing/2014/main" id="{22868BD9-9A9A-4358-9DA8-3ADBD9BA5418}"/>
              </a:ext>
            </a:extLst>
          </p:cNvPr>
          <p:cNvSpPr>
            <a:spLocks xmlns:a="http://schemas.openxmlformats.org/drawingml/2006/main" noGrp="1"/>
          </p:cNvSpPr>
          <p:nvPr/>
        </p:nvSpPr>
        <p:spPr>
          <a:xfrm xmlns:a="http://schemas.openxmlformats.org/drawingml/2006/main">
            <a:off x="666750" y="4773930"/>
            <a:ext cx="8343900" cy="1501140"/>
          </a:xfrm>
          <a:prstGeom xmlns:a="http://schemas.openxmlformats.org/drawingml/2006/main" prst="roundRect">
            <a:avLst>
              <a:gd name="adj" fmla="val 7614"/>
            </a:avLst>
          </a:prstGeom>
          <a:solidFill xmlns:a="http://schemas.openxmlformats.org/drawingml/2006/main">
            <a:srgbClr val="EEF5F5"/>
          </a:solidFill>
        </p:spPr>
      </p:sp>
      <p:sp>
        <p:nvSpPr>
          <p:cNvPr id="16" name="">
            <a:extLst xmlns:a="http://schemas.openxmlformats.org/drawingml/2006/main">
              <a:ext uri="{FF2B5EF4-FFF2-40B4-BE49-F238E27FC236}">
                <a16:creationId xmlns:a16="http://schemas.microsoft.com/office/drawing/2014/main" id="{25810F34-3158-4FED-BAF3-172975043EAD}"/>
              </a:ext>
            </a:extLst>
          </p:cNvPr>
          <p:cNvSpPr>
            <a:spLocks xmlns:a="http://schemas.openxmlformats.org/drawingml/2006/main" noGrp="1"/>
          </p:cNvSpPr>
          <p:nvPr/>
        </p:nvSpPr>
        <p:spPr>
          <a:xfrm xmlns:a="http://schemas.openxmlformats.org/drawingml/2006/main">
            <a:off x="990600" y="5324475"/>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03</a:t>
            </a:r>
          </a:p>
        </p:txBody>
      </p:sp>
      <p:sp>
        <p:nvSpPr>
          <p:cNvPr id="17" name="">
            <a:extLst xmlns:a="http://schemas.openxmlformats.org/drawingml/2006/main">
              <a:ext uri="{FF2B5EF4-FFF2-40B4-BE49-F238E27FC236}">
                <a16:creationId xmlns:a16="http://schemas.microsoft.com/office/drawing/2014/main" id="{DFD2D506-FA38-46D1-BFB8-DB65E87AD126}"/>
              </a:ext>
            </a:extLst>
          </p:cNvPr>
          <p:cNvSpPr>
            <a:spLocks xmlns:a="http://schemas.openxmlformats.org/drawingml/2006/main" noGrp="1"/>
          </p:cNvSpPr>
          <p:nvPr/>
        </p:nvSpPr>
        <p:spPr>
          <a:xfrm xmlns:a="http://schemas.openxmlformats.org/drawingml/2006/main">
            <a:off x="1847850" y="5334000"/>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32 × 32-bit register file; x0 reads as zero</a:t>
            </a:r>
          </a:p>
        </p:txBody>
      </p:sp>
      <p:sp>
        <p:nvSpPr>
          <p:cNvPr id="18" name="">
            <a:extLst xmlns:a="http://schemas.openxmlformats.org/drawingml/2006/main">
              <a:ext uri="{FF2B5EF4-FFF2-40B4-BE49-F238E27FC236}">
                <a16:creationId xmlns:a16="http://schemas.microsoft.com/office/drawing/2014/main" id="{3CB36AA5-EC47-4E87-9F0D-AE5E6D975B5C}"/>
              </a:ext>
            </a:extLst>
          </p:cNvPr>
          <p:cNvSpPr>
            <a:spLocks xmlns:a="http://schemas.openxmlformats.org/drawingml/2006/main" noGrp="1"/>
          </p:cNvSpPr>
          <p:nvPr/>
        </p:nvSpPr>
        <p:spPr>
          <a:xfrm xmlns:a="http://schemas.openxmlformats.org/drawingml/2006/main">
            <a:off x="9277350" y="4773930"/>
            <a:ext cx="8343900" cy="1501140"/>
          </a:xfrm>
          <a:prstGeom xmlns:a="http://schemas.openxmlformats.org/drawingml/2006/main" prst="roundRect">
            <a:avLst>
              <a:gd name="adj" fmla="val 7614"/>
            </a:avLst>
          </a:prstGeom>
          <a:solidFill xmlns:a="http://schemas.openxmlformats.org/drawingml/2006/main">
            <a:srgbClr val="EEF5F5"/>
          </a:solidFill>
        </p:spPr>
      </p:sp>
      <p:sp>
        <p:nvSpPr>
          <p:cNvPr id="19" name="">
            <a:extLst xmlns:a="http://schemas.openxmlformats.org/drawingml/2006/main">
              <a:ext uri="{FF2B5EF4-FFF2-40B4-BE49-F238E27FC236}">
                <a16:creationId xmlns:a16="http://schemas.microsoft.com/office/drawing/2014/main" id="{4FF222E2-1EFE-4CE2-9C98-EB724CD6F219}"/>
              </a:ext>
            </a:extLst>
          </p:cNvPr>
          <p:cNvSpPr>
            <a:spLocks xmlns:a="http://schemas.openxmlformats.org/drawingml/2006/main" noGrp="1"/>
          </p:cNvSpPr>
          <p:nvPr/>
        </p:nvSpPr>
        <p:spPr>
          <a:xfrm xmlns:a="http://schemas.openxmlformats.org/drawingml/2006/main">
            <a:off x="9601200" y="5324475"/>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08</a:t>
            </a:r>
          </a:p>
        </p:txBody>
      </p:sp>
      <p:sp>
        <p:nvSpPr>
          <p:cNvPr id="20" name="">
            <a:extLst xmlns:a="http://schemas.openxmlformats.org/drawingml/2006/main">
              <a:ext uri="{FF2B5EF4-FFF2-40B4-BE49-F238E27FC236}">
                <a16:creationId xmlns:a16="http://schemas.microsoft.com/office/drawing/2014/main" id="{A4B99804-2FF7-42D7-B4C2-C3E56BD7F372}"/>
              </a:ext>
            </a:extLst>
          </p:cNvPr>
          <p:cNvSpPr>
            <a:spLocks xmlns:a="http://schemas.openxmlformats.org/drawingml/2006/main" noGrp="1"/>
          </p:cNvSpPr>
          <p:nvPr/>
        </p:nvSpPr>
        <p:spPr>
          <a:xfrm xmlns:a="http://schemas.openxmlformats.org/drawingml/2006/main">
            <a:off x="10458450" y="5334000"/>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Central stall and flush control</a:t>
            </a:r>
          </a:p>
        </p:txBody>
      </p:sp>
      <p:sp>
        <p:nvSpPr>
          <p:cNvPr id="21" name="">
            <a:extLst xmlns:a="http://schemas.openxmlformats.org/drawingml/2006/main">
              <a:ext uri="{FF2B5EF4-FFF2-40B4-BE49-F238E27FC236}">
                <a16:creationId xmlns:a16="http://schemas.microsoft.com/office/drawing/2014/main" id="{2CAE2D8A-3939-4D7A-860E-B9B2CE9EFD71}"/>
              </a:ext>
            </a:extLst>
          </p:cNvPr>
          <p:cNvSpPr>
            <a:spLocks xmlns:a="http://schemas.openxmlformats.org/drawingml/2006/main" noGrp="1"/>
          </p:cNvSpPr>
          <p:nvPr/>
        </p:nvSpPr>
        <p:spPr>
          <a:xfrm xmlns:a="http://schemas.openxmlformats.org/drawingml/2006/main">
            <a:off x="666750" y="6446520"/>
            <a:ext cx="8343900" cy="1501140"/>
          </a:xfrm>
          <a:prstGeom xmlns:a="http://schemas.openxmlformats.org/drawingml/2006/main" prst="roundRect">
            <a:avLst>
              <a:gd name="adj" fmla="val 7614"/>
            </a:avLst>
          </a:prstGeom>
          <a:solidFill xmlns:a="http://schemas.openxmlformats.org/drawingml/2006/main">
            <a:srgbClr val="EEF5F5"/>
          </a:solidFill>
        </p:spPr>
      </p:sp>
      <p:sp>
        <p:nvSpPr>
          <p:cNvPr id="22" name="">
            <a:extLst xmlns:a="http://schemas.openxmlformats.org/drawingml/2006/main">
              <a:ext uri="{FF2B5EF4-FFF2-40B4-BE49-F238E27FC236}">
                <a16:creationId xmlns:a16="http://schemas.microsoft.com/office/drawing/2014/main" id="{91C0B69C-B31A-4497-A499-07E7648D09F7}"/>
              </a:ext>
            </a:extLst>
          </p:cNvPr>
          <p:cNvSpPr>
            <a:spLocks xmlns:a="http://schemas.openxmlformats.org/drawingml/2006/main" noGrp="1"/>
          </p:cNvSpPr>
          <p:nvPr/>
        </p:nvSpPr>
        <p:spPr>
          <a:xfrm xmlns:a="http://schemas.openxmlformats.org/drawingml/2006/main">
            <a:off x="990600" y="699135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04</a:t>
            </a:r>
          </a:p>
        </p:txBody>
      </p:sp>
      <p:sp>
        <p:nvSpPr>
          <p:cNvPr id="23" name="">
            <a:extLst xmlns:a="http://schemas.openxmlformats.org/drawingml/2006/main">
              <a:ext uri="{FF2B5EF4-FFF2-40B4-BE49-F238E27FC236}">
                <a16:creationId xmlns:a16="http://schemas.microsoft.com/office/drawing/2014/main" id="{ACF54E51-C77C-427C-ADE3-0EDF04108E52}"/>
              </a:ext>
            </a:extLst>
          </p:cNvPr>
          <p:cNvSpPr>
            <a:spLocks xmlns:a="http://schemas.openxmlformats.org/drawingml/2006/main" noGrp="1"/>
          </p:cNvSpPr>
          <p:nvPr/>
        </p:nvSpPr>
        <p:spPr>
          <a:xfrm xmlns:a="http://schemas.openxmlformats.org/drawingml/2006/main">
            <a:off x="1847850" y="7000875"/>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Branch predictor with one direction bit</a:t>
            </a:r>
          </a:p>
        </p:txBody>
      </p:sp>
      <p:sp>
        <p:nvSpPr>
          <p:cNvPr id="24" name="">
            <a:extLst xmlns:a="http://schemas.openxmlformats.org/drawingml/2006/main">
              <a:ext uri="{FF2B5EF4-FFF2-40B4-BE49-F238E27FC236}">
                <a16:creationId xmlns:a16="http://schemas.microsoft.com/office/drawing/2014/main" id="{F88DD5A1-EC64-4295-A9EC-C398179782E5}"/>
              </a:ext>
            </a:extLst>
          </p:cNvPr>
          <p:cNvSpPr>
            <a:spLocks xmlns:a="http://schemas.openxmlformats.org/drawingml/2006/main" noGrp="1"/>
          </p:cNvSpPr>
          <p:nvPr/>
        </p:nvSpPr>
        <p:spPr>
          <a:xfrm xmlns:a="http://schemas.openxmlformats.org/drawingml/2006/main">
            <a:off x="9277350" y="6446520"/>
            <a:ext cx="8343900" cy="1501140"/>
          </a:xfrm>
          <a:prstGeom xmlns:a="http://schemas.openxmlformats.org/drawingml/2006/main" prst="roundRect">
            <a:avLst>
              <a:gd name="adj" fmla="val 7614"/>
            </a:avLst>
          </a:prstGeom>
          <a:solidFill xmlns:a="http://schemas.openxmlformats.org/drawingml/2006/main">
            <a:srgbClr val="EEF5F5"/>
          </a:solidFill>
        </p:spPr>
      </p:sp>
      <p:sp>
        <p:nvSpPr>
          <p:cNvPr id="25" name="">
            <a:extLst xmlns:a="http://schemas.openxmlformats.org/drawingml/2006/main">
              <a:ext uri="{FF2B5EF4-FFF2-40B4-BE49-F238E27FC236}">
                <a16:creationId xmlns:a16="http://schemas.microsoft.com/office/drawing/2014/main" id="{D581EA6E-D945-45F1-9BAF-C06299ABBDC2}"/>
              </a:ext>
            </a:extLst>
          </p:cNvPr>
          <p:cNvSpPr>
            <a:spLocks xmlns:a="http://schemas.openxmlformats.org/drawingml/2006/main" noGrp="1"/>
          </p:cNvSpPr>
          <p:nvPr/>
        </p:nvSpPr>
        <p:spPr>
          <a:xfrm xmlns:a="http://schemas.openxmlformats.org/drawingml/2006/main">
            <a:off x="9601200" y="699135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09</a:t>
            </a:r>
          </a:p>
        </p:txBody>
      </p:sp>
      <p:sp>
        <p:nvSpPr>
          <p:cNvPr id="26" name="">
            <a:extLst xmlns:a="http://schemas.openxmlformats.org/drawingml/2006/main">
              <a:ext uri="{FF2B5EF4-FFF2-40B4-BE49-F238E27FC236}">
                <a16:creationId xmlns:a16="http://schemas.microsoft.com/office/drawing/2014/main" id="{E1E553B7-BD7B-4B13-A665-FF237F0781C2}"/>
              </a:ext>
            </a:extLst>
          </p:cNvPr>
          <p:cNvSpPr>
            <a:spLocks xmlns:a="http://schemas.openxmlformats.org/drawingml/2006/main" noGrp="1"/>
          </p:cNvSpPr>
          <p:nvPr/>
        </p:nvSpPr>
        <p:spPr>
          <a:xfrm xmlns:a="http://schemas.openxmlformats.org/drawingml/2006/main">
            <a:off x="10458450" y="7000875"/>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Interrupt link to the PIC</a:t>
            </a:r>
          </a:p>
        </p:txBody>
      </p:sp>
      <p:sp>
        <p:nvSpPr>
          <p:cNvPr id="27" name="">
            <a:extLst xmlns:a="http://schemas.openxmlformats.org/drawingml/2006/main">
              <a:ext uri="{FF2B5EF4-FFF2-40B4-BE49-F238E27FC236}">
                <a16:creationId xmlns:a16="http://schemas.microsoft.com/office/drawing/2014/main" id="{5073677E-2E33-4F70-ACDE-EDCB062A2985}"/>
              </a:ext>
            </a:extLst>
          </p:cNvPr>
          <p:cNvSpPr>
            <a:spLocks xmlns:a="http://schemas.openxmlformats.org/drawingml/2006/main" noGrp="1"/>
          </p:cNvSpPr>
          <p:nvPr/>
        </p:nvSpPr>
        <p:spPr>
          <a:xfrm xmlns:a="http://schemas.openxmlformats.org/drawingml/2006/main">
            <a:off x="666750" y="8119110"/>
            <a:ext cx="8343900" cy="1501140"/>
          </a:xfrm>
          <a:prstGeom xmlns:a="http://schemas.openxmlformats.org/drawingml/2006/main" prst="roundRect">
            <a:avLst>
              <a:gd name="adj" fmla="val 7614"/>
            </a:avLst>
          </a:prstGeom>
          <a:solidFill xmlns:a="http://schemas.openxmlformats.org/drawingml/2006/main">
            <a:srgbClr val="EEF5F5"/>
          </a:solidFill>
        </p:spPr>
      </p:sp>
      <p:sp>
        <p:nvSpPr>
          <p:cNvPr id="28" name="">
            <a:extLst xmlns:a="http://schemas.openxmlformats.org/drawingml/2006/main">
              <a:ext uri="{FF2B5EF4-FFF2-40B4-BE49-F238E27FC236}">
                <a16:creationId xmlns:a16="http://schemas.microsoft.com/office/drawing/2014/main" id="{69F0924E-8925-40F8-9669-EF7F6FBA2E63}"/>
              </a:ext>
            </a:extLst>
          </p:cNvPr>
          <p:cNvSpPr>
            <a:spLocks xmlns:a="http://schemas.openxmlformats.org/drawingml/2006/main" noGrp="1"/>
          </p:cNvSpPr>
          <p:nvPr/>
        </p:nvSpPr>
        <p:spPr>
          <a:xfrm xmlns:a="http://schemas.openxmlformats.org/drawingml/2006/main">
            <a:off x="990600" y="866775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05</a:t>
            </a:r>
          </a:p>
        </p:txBody>
      </p:sp>
      <p:sp>
        <p:nvSpPr>
          <p:cNvPr id="29" name="">
            <a:extLst xmlns:a="http://schemas.openxmlformats.org/drawingml/2006/main">
              <a:ext uri="{FF2B5EF4-FFF2-40B4-BE49-F238E27FC236}">
                <a16:creationId xmlns:a16="http://schemas.microsoft.com/office/drawing/2014/main" id="{F991168B-0B71-467E-BF59-C7D230206842}"/>
              </a:ext>
            </a:extLst>
          </p:cNvPr>
          <p:cNvSpPr>
            <a:spLocks xmlns:a="http://schemas.openxmlformats.org/drawingml/2006/main" noGrp="1"/>
          </p:cNvSpPr>
          <p:nvPr/>
        </p:nvSpPr>
        <p:spPr>
          <a:xfrm xmlns:a="http://schemas.openxmlformats.org/drawingml/2006/main">
            <a:off x="1847850" y="8677275"/>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Exceptions and external interrupts</a:t>
            </a:r>
          </a:p>
        </p:txBody>
      </p:sp>
      <p:sp>
        <p:nvSpPr>
          <p:cNvPr id="30" name="">
            <a:extLst xmlns:a="http://schemas.openxmlformats.org/drawingml/2006/main">
              <a:ext uri="{FF2B5EF4-FFF2-40B4-BE49-F238E27FC236}">
                <a16:creationId xmlns:a16="http://schemas.microsoft.com/office/drawing/2014/main" id="{E9AE5C8B-9D2B-45FE-B97A-093CD1AF77B2}"/>
              </a:ext>
            </a:extLst>
          </p:cNvPr>
          <p:cNvSpPr>
            <a:spLocks xmlns:a="http://schemas.openxmlformats.org/drawingml/2006/main" noGrp="1"/>
          </p:cNvSpPr>
          <p:nvPr/>
        </p:nvSpPr>
        <p:spPr>
          <a:xfrm xmlns:a="http://schemas.openxmlformats.org/drawingml/2006/main">
            <a:off x="9277350" y="8119110"/>
            <a:ext cx="8343900" cy="1501140"/>
          </a:xfrm>
          <a:prstGeom xmlns:a="http://schemas.openxmlformats.org/drawingml/2006/main" prst="roundRect">
            <a:avLst>
              <a:gd name="adj" fmla="val 7614"/>
            </a:avLst>
          </a:prstGeom>
          <a:solidFill xmlns:a="http://schemas.openxmlformats.org/drawingml/2006/main">
            <a:srgbClr val="EEF5F5"/>
          </a:solidFill>
        </p:spPr>
      </p:sp>
      <p:sp>
        <p:nvSpPr>
          <p:cNvPr id="31" name="">
            <a:extLst xmlns:a="http://schemas.openxmlformats.org/drawingml/2006/main">
              <a:ext uri="{FF2B5EF4-FFF2-40B4-BE49-F238E27FC236}">
                <a16:creationId xmlns:a16="http://schemas.microsoft.com/office/drawing/2014/main" id="{EEE0A49C-798B-4E5A-9E2B-8FB2EEB500C4}"/>
              </a:ext>
            </a:extLst>
          </p:cNvPr>
          <p:cNvSpPr>
            <a:spLocks xmlns:a="http://schemas.openxmlformats.org/drawingml/2006/main" noGrp="1"/>
          </p:cNvSpPr>
          <p:nvPr/>
        </p:nvSpPr>
        <p:spPr>
          <a:xfrm xmlns:a="http://schemas.openxmlformats.org/drawingml/2006/main">
            <a:off x="9601200" y="8667750"/>
            <a:ext cx="6096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1">
                <a:solidFill>
                  <a:srgbClr val="006B75"/>
                </a:solidFill>
              </a:defRPr>
            </a:pPr>
            <a:r>
              <a:rPr sz="2700" b="1">
                <a:solidFill>
                  <a:srgbClr val="006B75"/>
                </a:solidFill>
              </a:rPr>
              <a:t>10</a:t>
            </a:r>
          </a:p>
        </p:txBody>
      </p:sp>
      <p:sp>
        <p:nvSpPr>
          <p:cNvPr id="32" name="">
            <a:extLst xmlns:a="http://schemas.openxmlformats.org/drawingml/2006/main">
              <a:ext uri="{FF2B5EF4-FFF2-40B4-BE49-F238E27FC236}">
                <a16:creationId xmlns:a16="http://schemas.microsoft.com/office/drawing/2014/main" id="{7DB5C2D3-0CD4-45B3-B6C2-F519E6296896}"/>
              </a:ext>
            </a:extLst>
          </p:cNvPr>
          <p:cNvSpPr>
            <a:spLocks xmlns:a="http://schemas.openxmlformats.org/drawingml/2006/main" noGrp="1"/>
          </p:cNvSpPr>
          <p:nvPr/>
        </p:nvSpPr>
        <p:spPr>
          <a:xfrm xmlns:a="http://schemas.openxmlformats.org/drawingml/2006/main">
            <a:off x="10458450" y="8677275"/>
            <a:ext cx="6838950"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0">
                <a:solidFill>
                  <a:srgbClr val="173442"/>
                </a:solidFill>
              </a:defRPr>
            </a:pPr>
            <a:r>
              <a:rPr sz="2550" b="0">
                <a:solidFill>
                  <a:srgbClr val="173442"/>
                </a:solidFill>
              </a:rPr>
              <a:t>Interrupts taken only at instruction boundaries</a:t>
            </a:r>
          </a:p>
        </p:txBody>
      </p:sp>
      <p:sp>
        <p:nvSpPr>
          <p:cNvPr id="33" name="footer">
            <a:extLst xmlns:a="http://schemas.openxmlformats.org/drawingml/2006/main">
              <a:ext uri="{FF2B5EF4-FFF2-40B4-BE49-F238E27FC236}">
                <a16:creationId xmlns:a16="http://schemas.microsoft.com/office/drawing/2014/main" id="{388B54F9-D8CE-4E0F-AE5C-7758AE633FCC}"/>
              </a:ext>
            </a:extLst>
          </p:cNvPr>
          <p:cNvSpPr>
            <a:spLocks xmlns:a="http://schemas.openxmlformats.org/drawingml/2006/main" noGrp="1"/>
          </p:cNvSpPr>
          <p:nvPr/>
        </p:nvSpPr>
        <p:spPr>
          <a:xfrm xmlns:a="http://schemas.openxmlformats.org/drawingml/2006/main">
            <a:off x="666750" y="977265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02 / 08   ·   Requirements</a:t>
            </a:r>
          </a:p>
        </p:txBody>
      </p:sp>
    </p:spTree>
    <p:extLst>
      <p:ext uri="{BB962C8B-B14F-4D97-AF65-F5344CB8AC3E}">
        <p14:creationId xmlns:p14="http://schemas.microsoft.com/office/powerpoint/2010/main" val="78399075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00E262CC-71DE-4050-9207-0A5332CD951C}"/>
              </a:ext>
            </a:extLst>
          </p:cNvPr>
          <p:cNvSpPr>
            <a:spLocks xmlns:a="http://schemas.openxmlformats.org/drawingml/2006/main" noGrp="1"/>
          </p:cNvSpPr>
          <p:nvPr/>
        </p:nvSpPr>
        <p:spPr>
          <a:xfrm xmlns:a="http://schemas.openxmlformats.org/drawingml/2006/main">
            <a:off x="666750" y="419100"/>
            <a:ext cx="169545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73442"/>
                </a:solidFill>
              </a:defRPr>
            </a:pPr>
            <a:r>
              <a:rPr sz="3750" b="1">
                <a:solidFill>
                  <a:srgbClr val="173442"/>
                </a:solidFill>
              </a:rPr>
              <a:t>The brief left 23 questions open; five of them shaped the design</a:t>
            </a:r>
          </a:p>
        </p:txBody>
      </p:sp>
      <p:sp>
        <p:nvSpPr>
          <p:cNvPr id="2" name="">
            <a:extLst xmlns:a="http://schemas.openxmlformats.org/drawingml/2006/main">
              <a:ext uri="{FF2B5EF4-FFF2-40B4-BE49-F238E27FC236}">
                <a16:creationId xmlns:a16="http://schemas.microsoft.com/office/drawing/2014/main" id="{C24D1342-F95F-47C8-8286-055D7E1BBEA9}"/>
              </a:ext>
            </a:extLst>
          </p:cNvPr>
          <p:cNvSpPr>
            <a:spLocks xmlns:a="http://schemas.openxmlformats.org/drawingml/2006/main" noGrp="1"/>
          </p:cNvSpPr>
          <p:nvPr/>
        </p:nvSpPr>
        <p:spPr>
          <a:xfrm xmlns:a="http://schemas.openxmlformats.org/drawingml/2006/main">
            <a:off x="666750" y="11239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6824FD18-E8F2-4DCF-8198-C4B102E30380}"/>
              </a:ext>
            </a:extLst>
          </p:cNvPr>
          <p:cNvSpPr>
            <a:spLocks xmlns:a="http://schemas.openxmlformats.org/drawingml/2006/main" noGrp="1"/>
          </p:cNvSpPr>
          <p:nvPr/>
        </p:nvSpPr>
        <p:spPr>
          <a:xfrm xmlns:a="http://schemas.openxmlformats.org/drawingml/2006/main">
            <a:off x="1600200" y="1428750"/>
            <a:ext cx="57150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526772"/>
                </a:solidFill>
              </a:defRPr>
            </a:pPr>
            <a:r>
              <a:rPr sz="1875" b="1">
                <a:solidFill>
                  <a:srgbClr val="526772"/>
                </a:solidFill>
              </a:rPr>
              <a:t>Question from the brief</a:t>
            </a:r>
          </a:p>
        </p:txBody>
      </p:sp>
      <p:sp>
        <p:nvSpPr>
          <p:cNvPr id="4" name="">
            <a:extLst xmlns:a="http://schemas.openxmlformats.org/drawingml/2006/main">
              <a:ext uri="{FF2B5EF4-FFF2-40B4-BE49-F238E27FC236}">
                <a16:creationId xmlns:a16="http://schemas.microsoft.com/office/drawing/2014/main" id="{5C48DAFF-D40A-4331-9FA0-BE2B49F920E6}"/>
              </a:ext>
            </a:extLst>
          </p:cNvPr>
          <p:cNvSpPr>
            <a:spLocks xmlns:a="http://schemas.openxmlformats.org/drawingml/2006/main" noGrp="1"/>
          </p:cNvSpPr>
          <p:nvPr/>
        </p:nvSpPr>
        <p:spPr>
          <a:xfrm xmlns:a="http://schemas.openxmlformats.org/drawingml/2006/main">
            <a:off x="8191500" y="1428750"/>
            <a:ext cx="85725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006B75"/>
                </a:solidFill>
              </a:defRPr>
            </a:pPr>
            <a:r>
              <a:rPr sz="1875" b="1">
                <a:solidFill>
                  <a:srgbClr val="006B75"/>
                </a:solidFill>
              </a:rPr>
              <a:t>What I decided</a:t>
            </a:r>
          </a:p>
        </p:txBody>
      </p:sp>
      <p:sp>
        <p:nvSpPr>
          <p:cNvPr id="5" name="">
            <a:extLst xmlns:a="http://schemas.openxmlformats.org/drawingml/2006/main">
              <a:ext uri="{FF2B5EF4-FFF2-40B4-BE49-F238E27FC236}">
                <a16:creationId xmlns:a16="http://schemas.microsoft.com/office/drawing/2014/main" id="{403A9271-03D2-47C5-8045-F2563086B326}"/>
              </a:ext>
            </a:extLst>
          </p:cNvPr>
          <p:cNvSpPr>
            <a:spLocks xmlns:a="http://schemas.openxmlformats.org/drawingml/2006/main" noGrp="1"/>
          </p:cNvSpPr>
          <p:nvPr/>
        </p:nvSpPr>
        <p:spPr>
          <a:xfrm xmlns:a="http://schemas.openxmlformats.org/drawingml/2006/main">
            <a:off x="666750" y="1828800"/>
            <a:ext cx="16954500" cy="1451610"/>
          </a:xfrm>
          <a:prstGeom xmlns:a="http://schemas.openxmlformats.org/drawingml/2006/main" prst="roundRect">
            <a:avLst>
              <a:gd name="adj" fmla="val 7874"/>
            </a:avLst>
          </a:prstGeom>
          <a:solidFill xmlns:a="http://schemas.openxmlformats.org/drawingml/2006/main">
            <a:srgbClr val="EEF5F5"/>
          </a:solidFill>
        </p:spPr>
      </p:sp>
      <p:sp>
        <p:nvSpPr>
          <p:cNvPr id="6" name="">
            <a:extLst xmlns:a="http://schemas.openxmlformats.org/drawingml/2006/main">
              <a:ext uri="{FF2B5EF4-FFF2-40B4-BE49-F238E27FC236}">
                <a16:creationId xmlns:a16="http://schemas.microsoft.com/office/drawing/2014/main" id="{D703AAB9-7255-43C1-BF7C-1B072A2D9C20}"/>
              </a:ext>
            </a:extLst>
          </p:cNvPr>
          <p:cNvSpPr>
            <a:spLocks xmlns:a="http://schemas.openxmlformats.org/drawingml/2006/main" noGrp="1"/>
          </p:cNvSpPr>
          <p:nvPr/>
        </p:nvSpPr>
        <p:spPr>
          <a:xfrm xmlns:a="http://schemas.openxmlformats.org/drawingml/2006/main">
            <a:off x="990600" y="2333625"/>
            <a:ext cx="38100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1</a:t>
            </a:r>
          </a:p>
        </p:txBody>
      </p:sp>
      <p:sp>
        <p:nvSpPr>
          <p:cNvPr id="7" name="">
            <a:extLst xmlns:a="http://schemas.openxmlformats.org/drawingml/2006/main">
              <a:ext uri="{FF2B5EF4-FFF2-40B4-BE49-F238E27FC236}">
                <a16:creationId xmlns:a16="http://schemas.microsoft.com/office/drawing/2014/main" id="{605F1896-C8CA-445F-9B1B-BA402AD7ADD9}"/>
              </a:ext>
            </a:extLst>
          </p:cNvPr>
          <p:cNvSpPr>
            <a:spLocks xmlns:a="http://schemas.openxmlformats.org/drawingml/2006/main" noGrp="1"/>
          </p:cNvSpPr>
          <p:nvPr/>
        </p:nvSpPr>
        <p:spPr>
          <a:xfrm xmlns:a="http://schemas.openxmlformats.org/drawingml/2006/main">
            <a:off x="1600200" y="2219325"/>
            <a:ext cx="57150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526772"/>
                </a:solidFill>
              </a:defRPr>
            </a:pPr>
            <a:r>
              <a:rPr sz="2175" b="0">
                <a:solidFill>
                  <a:srgbClr val="526772"/>
                </a:solidFill>
              </a:rPr>
              <a:t>How large is the predictor, and how is a branch mapped?</a:t>
            </a:r>
          </a:p>
        </p:txBody>
      </p:sp>
      <p:sp>
        <p:nvSpPr>
          <p:cNvPr id="8" name="">
            <a:extLst xmlns:a="http://schemas.openxmlformats.org/drawingml/2006/main">
              <a:ext uri="{FF2B5EF4-FFF2-40B4-BE49-F238E27FC236}">
                <a16:creationId xmlns:a16="http://schemas.microsoft.com/office/drawing/2014/main" id="{E90C6F24-CE34-4EF8-9A9B-85925A99320D}"/>
              </a:ext>
            </a:extLst>
          </p:cNvPr>
          <p:cNvSpPr>
            <a:spLocks xmlns:a="http://schemas.openxmlformats.org/drawingml/2006/main" noGrp="1"/>
          </p:cNvSpPr>
          <p:nvPr/>
        </p:nvSpPr>
        <p:spPr>
          <a:xfrm xmlns:a="http://schemas.openxmlformats.org/drawingml/2006/main">
            <a:off x="7543800" y="2352675"/>
            <a:ext cx="4191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0">
                <a:solidFill>
                  <a:srgbClr val="006B75"/>
                </a:solidFill>
              </a:defRPr>
            </a:pPr>
            <a:r>
              <a:rPr sz="2700" b="0">
                <a:solidFill>
                  <a:srgbClr val="006B75"/>
                </a:solidFill>
              </a:rPr>
              <a:t>→</a:t>
            </a:r>
          </a:p>
        </p:txBody>
      </p:sp>
      <p:sp>
        <p:nvSpPr>
          <p:cNvPr id="9" name="">
            <a:extLst xmlns:a="http://schemas.openxmlformats.org/drawingml/2006/main">
              <a:ext uri="{FF2B5EF4-FFF2-40B4-BE49-F238E27FC236}">
                <a16:creationId xmlns:a16="http://schemas.microsoft.com/office/drawing/2014/main" id="{2678780C-C39C-4D54-9DE9-6F2B854F727C}"/>
              </a:ext>
            </a:extLst>
          </p:cNvPr>
          <p:cNvSpPr>
            <a:spLocks xmlns:a="http://schemas.openxmlformats.org/drawingml/2006/main" noGrp="1"/>
          </p:cNvSpPr>
          <p:nvPr/>
        </p:nvSpPr>
        <p:spPr>
          <a:xfrm xmlns:a="http://schemas.openxmlformats.org/drawingml/2006/main">
            <a:off x="8191500" y="2381250"/>
            <a:ext cx="8572500" cy="3524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128 entries, direct-mapped by PC, with a tag; a miss predicts not taken</a:t>
            </a:r>
          </a:p>
        </p:txBody>
      </p:sp>
      <p:sp>
        <p:nvSpPr>
          <p:cNvPr id="10" name="">
            <a:extLst xmlns:a="http://schemas.openxmlformats.org/drawingml/2006/main">
              <a:ext uri="{FF2B5EF4-FFF2-40B4-BE49-F238E27FC236}">
                <a16:creationId xmlns:a16="http://schemas.microsoft.com/office/drawing/2014/main" id="{00836D59-9460-43F6-A204-43E3DD11AAAC}"/>
              </a:ext>
            </a:extLst>
          </p:cNvPr>
          <p:cNvSpPr>
            <a:spLocks xmlns:a="http://schemas.openxmlformats.org/drawingml/2006/main" noGrp="1"/>
          </p:cNvSpPr>
          <p:nvPr/>
        </p:nvSpPr>
        <p:spPr>
          <a:xfrm xmlns:a="http://schemas.openxmlformats.org/drawingml/2006/main">
            <a:off x="666750" y="3413760"/>
            <a:ext cx="16954500" cy="1451610"/>
          </a:xfrm>
          <a:prstGeom xmlns:a="http://schemas.openxmlformats.org/drawingml/2006/main" prst="roundRect">
            <a:avLst>
              <a:gd name="adj" fmla="val 7874"/>
            </a:avLst>
          </a:prstGeom>
          <a:solidFill xmlns:a="http://schemas.openxmlformats.org/drawingml/2006/main">
            <a:srgbClr val="EEF5F5"/>
          </a:solidFill>
        </p:spPr>
      </p:sp>
      <p:sp>
        <p:nvSpPr>
          <p:cNvPr id="11" name="">
            <a:extLst xmlns:a="http://schemas.openxmlformats.org/drawingml/2006/main">
              <a:ext uri="{FF2B5EF4-FFF2-40B4-BE49-F238E27FC236}">
                <a16:creationId xmlns:a16="http://schemas.microsoft.com/office/drawing/2014/main" id="{08765021-D0C0-43F6-AE5A-5AC735F9A410}"/>
              </a:ext>
            </a:extLst>
          </p:cNvPr>
          <p:cNvSpPr>
            <a:spLocks xmlns:a="http://schemas.openxmlformats.org/drawingml/2006/main" noGrp="1"/>
          </p:cNvSpPr>
          <p:nvPr/>
        </p:nvSpPr>
        <p:spPr>
          <a:xfrm xmlns:a="http://schemas.openxmlformats.org/drawingml/2006/main">
            <a:off x="990600" y="3924300"/>
            <a:ext cx="38100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2</a:t>
            </a:r>
          </a:p>
        </p:txBody>
      </p:sp>
      <p:sp>
        <p:nvSpPr>
          <p:cNvPr id="12" name="">
            <a:extLst xmlns:a="http://schemas.openxmlformats.org/drawingml/2006/main">
              <a:ext uri="{FF2B5EF4-FFF2-40B4-BE49-F238E27FC236}">
                <a16:creationId xmlns:a16="http://schemas.microsoft.com/office/drawing/2014/main" id="{C2EF9F1C-9E5E-47C1-B593-C3C5756F41DE}"/>
              </a:ext>
            </a:extLst>
          </p:cNvPr>
          <p:cNvSpPr>
            <a:spLocks xmlns:a="http://schemas.openxmlformats.org/drawingml/2006/main" noGrp="1"/>
          </p:cNvSpPr>
          <p:nvPr/>
        </p:nvSpPr>
        <p:spPr>
          <a:xfrm xmlns:a="http://schemas.openxmlformats.org/drawingml/2006/main">
            <a:off x="1600200" y="3981450"/>
            <a:ext cx="57150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526772"/>
                </a:solidFill>
              </a:defRPr>
            </a:pPr>
            <a:r>
              <a:rPr sz="2175" b="0">
                <a:solidFill>
                  <a:srgbClr val="526772"/>
                </a:solidFill>
              </a:rPr>
              <a:t>Trap, MRET and misprediction in the same cycle?</a:t>
            </a:r>
          </a:p>
        </p:txBody>
      </p:sp>
      <p:sp>
        <p:nvSpPr>
          <p:cNvPr id="13" name="">
            <a:extLst xmlns:a="http://schemas.openxmlformats.org/drawingml/2006/main">
              <a:ext uri="{FF2B5EF4-FFF2-40B4-BE49-F238E27FC236}">
                <a16:creationId xmlns:a16="http://schemas.microsoft.com/office/drawing/2014/main" id="{021CCA4F-7120-4366-AC46-CEEDD9DBF5F6}"/>
              </a:ext>
            </a:extLst>
          </p:cNvPr>
          <p:cNvSpPr>
            <a:spLocks xmlns:a="http://schemas.openxmlformats.org/drawingml/2006/main" noGrp="1"/>
          </p:cNvSpPr>
          <p:nvPr/>
        </p:nvSpPr>
        <p:spPr>
          <a:xfrm xmlns:a="http://schemas.openxmlformats.org/drawingml/2006/main">
            <a:off x="7543800" y="3943350"/>
            <a:ext cx="4191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0">
                <a:solidFill>
                  <a:srgbClr val="006B75"/>
                </a:solidFill>
              </a:defRPr>
            </a:pPr>
            <a:r>
              <a:rPr sz="2700" b="0">
                <a:solidFill>
                  <a:srgbClr val="006B75"/>
                </a:solidFill>
              </a:rPr>
              <a:t>→</a:t>
            </a:r>
          </a:p>
        </p:txBody>
      </p:sp>
      <p:sp>
        <p:nvSpPr>
          <p:cNvPr id="14" name="">
            <a:extLst xmlns:a="http://schemas.openxmlformats.org/drawingml/2006/main">
              <a:ext uri="{FF2B5EF4-FFF2-40B4-BE49-F238E27FC236}">
                <a16:creationId xmlns:a16="http://schemas.microsoft.com/office/drawing/2014/main" id="{6A9D2229-51D1-4444-A66D-B0E3FD1ED839}"/>
              </a:ext>
            </a:extLst>
          </p:cNvPr>
          <p:cNvSpPr>
            <a:spLocks xmlns:a="http://schemas.openxmlformats.org/drawingml/2006/main" noGrp="1"/>
          </p:cNvSpPr>
          <p:nvPr/>
        </p:nvSpPr>
        <p:spPr>
          <a:xfrm xmlns:a="http://schemas.openxmlformats.org/drawingml/2006/main">
            <a:off x="8191500" y="3790950"/>
            <a:ext cx="8572500" cy="704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One redirect, only when S2 completes: IRQ, then exception, then MRET, then branch</a:t>
            </a:r>
          </a:p>
        </p:txBody>
      </p:sp>
      <p:sp>
        <p:nvSpPr>
          <p:cNvPr id="15" name="">
            <a:extLst xmlns:a="http://schemas.openxmlformats.org/drawingml/2006/main">
              <a:ext uri="{FF2B5EF4-FFF2-40B4-BE49-F238E27FC236}">
                <a16:creationId xmlns:a16="http://schemas.microsoft.com/office/drawing/2014/main" id="{0FF6ADC5-6BA0-4718-AE9D-98A9A4468F07}"/>
              </a:ext>
            </a:extLst>
          </p:cNvPr>
          <p:cNvSpPr>
            <a:spLocks xmlns:a="http://schemas.openxmlformats.org/drawingml/2006/main" noGrp="1"/>
          </p:cNvSpPr>
          <p:nvPr/>
        </p:nvSpPr>
        <p:spPr>
          <a:xfrm xmlns:a="http://schemas.openxmlformats.org/drawingml/2006/main">
            <a:off x="666750" y="4998720"/>
            <a:ext cx="16954500" cy="1451610"/>
          </a:xfrm>
          <a:prstGeom xmlns:a="http://schemas.openxmlformats.org/drawingml/2006/main" prst="roundRect">
            <a:avLst>
              <a:gd name="adj" fmla="val 7874"/>
            </a:avLst>
          </a:prstGeom>
          <a:solidFill xmlns:a="http://schemas.openxmlformats.org/drawingml/2006/main">
            <a:srgbClr val="EEF5F5"/>
          </a:solidFill>
        </p:spPr>
      </p:sp>
      <p:sp>
        <p:nvSpPr>
          <p:cNvPr id="16" name="">
            <a:extLst xmlns:a="http://schemas.openxmlformats.org/drawingml/2006/main">
              <a:ext uri="{FF2B5EF4-FFF2-40B4-BE49-F238E27FC236}">
                <a16:creationId xmlns:a16="http://schemas.microsoft.com/office/drawing/2014/main" id="{87A787C0-D383-4F95-BF6D-DAE89FD40A89}"/>
              </a:ext>
            </a:extLst>
          </p:cNvPr>
          <p:cNvSpPr>
            <a:spLocks xmlns:a="http://schemas.openxmlformats.org/drawingml/2006/main" noGrp="1"/>
          </p:cNvSpPr>
          <p:nvPr/>
        </p:nvSpPr>
        <p:spPr>
          <a:xfrm xmlns:a="http://schemas.openxmlformats.org/drawingml/2006/main">
            <a:off x="990600" y="5505450"/>
            <a:ext cx="38100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3</a:t>
            </a:r>
          </a:p>
        </p:txBody>
      </p:sp>
      <p:sp>
        <p:nvSpPr>
          <p:cNvPr id="17" name="">
            <a:extLst xmlns:a="http://schemas.openxmlformats.org/drawingml/2006/main">
              <a:ext uri="{FF2B5EF4-FFF2-40B4-BE49-F238E27FC236}">
                <a16:creationId xmlns:a16="http://schemas.microsoft.com/office/drawing/2014/main" id="{27FBA951-C66E-4B6C-B4CA-8621D4FEE3E3}"/>
              </a:ext>
            </a:extLst>
          </p:cNvPr>
          <p:cNvSpPr>
            <a:spLocks xmlns:a="http://schemas.openxmlformats.org/drawingml/2006/main" noGrp="1"/>
          </p:cNvSpPr>
          <p:nvPr/>
        </p:nvSpPr>
        <p:spPr>
          <a:xfrm xmlns:a="http://schemas.openxmlformats.org/drawingml/2006/main">
            <a:off x="1600200" y="5562600"/>
            <a:ext cx="57150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526772"/>
                </a:solidFill>
              </a:defRPr>
            </a:pPr>
            <a:r>
              <a:rPr sz="2175" b="0">
                <a:solidFill>
                  <a:srgbClr val="526772"/>
                </a:solidFill>
              </a:rPr>
              <a:t>What happens on an AXI error response?</a:t>
            </a:r>
          </a:p>
        </p:txBody>
      </p:sp>
      <p:sp>
        <p:nvSpPr>
          <p:cNvPr id="18" name="">
            <a:extLst xmlns:a="http://schemas.openxmlformats.org/drawingml/2006/main">
              <a:ext uri="{FF2B5EF4-FFF2-40B4-BE49-F238E27FC236}">
                <a16:creationId xmlns:a16="http://schemas.microsoft.com/office/drawing/2014/main" id="{9BF3174D-CDA3-4C1F-A41C-9FFA8516D687}"/>
              </a:ext>
            </a:extLst>
          </p:cNvPr>
          <p:cNvSpPr>
            <a:spLocks xmlns:a="http://schemas.openxmlformats.org/drawingml/2006/main" noGrp="1"/>
          </p:cNvSpPr>
          <p:nvPr/>
        </p:nvSpPr>
        <p:spPr>
          <a:xfrm xmlns:a="http://schemas.openxmlformats.org/drawingml/2006/main">
            <a:off x="7543800" y="5524500"/>
            <a:ext cx="4191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0">
                <a:solidFill>
                  <a:srgbClr val="006B75"/>
                </a:solidFill>
              </a:defRPr>
            </a:pPr>
            <a:r>
              <a:rPr sz="2700" b="0">
                <a:solidFill>
                  <a:srgbClr val="006B75"/>
                </a:solidFill>
              </a:rPr>
              <a:t>→</a:t>
            </a:r>
          </a:p>
        </p:txBody>
      </p:sp>
      <p:sp>
        <p:nvSpPr>
          <p:cNvPr id="19" name="">
            <a:extLst xmlns:a="http://schemas.openxmlformats.org/drawingml/2006/main">
              <a:ext uri="{FF2B5EF4-FFF2-40B4-BE49-F238E27FC236}">
                <a16:creationId xmlns:a16="http://schemas.microsoft.com/office/drawing/2014/main" id="{B0F982BA-1768-4D60-8BC9-2F8FC06F602C}"/>
              </a:ext>
            </a:extLst>
          </p:cNvPr>
          <p:cNvSpPr>
            <a:spLocks xmlns:a="http://schemas.openxmlformats.org/drawingml/2006/main" noGrp="1"/>
          </p:cNvSpPr>
          <p:nvPr/>
        </p:nvSpPr>
        <p:spPr>
          <a:xfrm xmlns:a="http://schemas.openxmlformats.org/drawingml/2006/main">
            <a:off x="8191500" y="5372100"/>
            <a:ext cx="8572500" cy="704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Access-fault exception (cause 1, 5 or 7); the destination register is not written</a:t>
            </a:r>
          </a:p>
        </p:txBody>
      </p:sp>
      <p:sp>
        <p:nvSpPr>
          <p:cNvPr id="20" name="">
            <a:extLst xmlns:a="http://schemas.openxmlformats.org/drawingml/2006/main">
              <a:ext uri="{FF2B5EF4-FFF2-40B4-BE49-F238E27FC236}">
                <a16:creationId xmlns:a16="http://schemas.microsoft.com/office/drawing/2014/main" id="{DB31A0C0-13CD-4865-A0CE-EBC962D57645}"/>
              </a:ext>
            </a:extLst>
          </p:cNvPr>
          <p:cNvSpPr>
            <a:spLocks xmlns:a="http://schemas.openxmlformats.org/drawingml/2006/main" noGrp="1"/>
          </p:cNvSpPr>
          <p:nvPr/>
        </p:nvSpPr>
        <p:spPr>
          <a:xfrm xmlns:a="http://schemas.openxmlformats.org/drawingml/2006/main">
            <a:off x="666750" y="6583680"/>
            <a:ext cx="16954500" cy="1451610"/>
          </a:xfrm>
          <a:prstGeom xmlns:a="http://schemas.openxmlformats.org/drawingml/2006/main" prst="roundRect">
            <a:avLst>
              <a:gd name="adj" fmla="val 7874"/>
            </a:avLst>
          </a:prstGeom>
          <a:solidFill xmlns:a="http://schemas.openxmlformats.org/drawingml/2006/main">
            <a:srgbClr val="EEF5F5"/>
          </a:solidFill>
        </p:spPr>
      </p:sp>
      <p:sp>
        <p:nvSpPr>
          <p:cNvPr id="21" name="">
            <a:extLst xmlns:a="http://schemas.openxmlformats.org/drawingml/2006/main">
              <a:ext uri="{FF2B5EF4-FFF2-40B4-BE49-F238E27FC236}">
                <a16:creationId xmlns:a16="http://schemas.microsoft.com/office/drawing/2014/main" id="{FD6EF700-51F3-4F1D-8783-06EAC96A0EC8}"/>
              </a:ext>
            </a:extLst>
          </p:cNvPr>
          <p:cNvSpPr>
            <a:spLocks xmlns:a="http://schemas.openxmlformats.org/drawingml/2006/main" noGrp="1"/>
          </p:cNvSpPr>
          <p:nvPr/>
        </p:nvSpPr>
        <p:spPr>
          <a:xfrm xmlns:a="http://schemas.openxmlformats.org/drawingml/2006/main">
            <a:off x="990600" y="7086600"/>
            <a:ext cx="38100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4</a:t>
            </a:r>
          </a:p>
        </p:txBody>
      </p:sp>
      <p:sp>
        <p:nvSpPr>
          <p:cNvPr id="22" name="">
            <a:extLst xmlns:a="http://schemas.openxmlformats.org/drawingml/2006/main">
              <a:ext uri="{FF2B5EF4-FFF2-40B4-BE49-F238E27FC236}">
                <a16:creationId xmlns:a16="http://schemas.microsoft.com/office/drawing/2014/main" id="{9F847C0F-2047-4D8B-BD1B-840E48B8B64E}"/>
              </a:ext>
            </a:extLst>
          </p:cNvPr>
          <p:cNvSpPr>
            <a:spLocks xmlns:a="http://schemas.openxmlformats.org/drawingml/2006/main" noGrp="1"/>
          </p:cNvSpPr>
          <p:nvPr/>
        </p:nvSpPr>
        <p:spPr>
          <a:xfrm xmlns:a="http://schemas.openxmlformats.org/drawingml/2006/main">
            <a:off x="1600200" y="7143750"/>
            <a:ext cx="57150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526772"/>
                </a:solidFill>
              </a:defRPr>
            </a:pPr>
            <a:r>
              <a:rPr sz="2175" b="0">
                <a:solidFill>
                  <a:srgbClr val="526772"/>
                </a:solidFill>
              </a:rPr>
              <a:t>During a stall, how is a wrong fetch avoided?</a:t>
            </a:r>
          </a:p>
        </p:txBody>
      </p:sp>
      <p:sp>
        <p:nvSpPr>
          <p:cNvPr id="23" name="">
            <a:extLst xmlns:a="http://schemas.openxmlformats.org/drawingml/2006/main">
              <a:ext uri="{FF2B5EF4-FFF2-40B4-BE49-F238E27FC236}">
                <a16:creationId xmlns:a16="http://schemas.microsoft.com/office/drawing/2014/main" id="{1E1893D3-8A74-4C40-A327-85403D7B4966}"/>
              </a:ext>
            </a:extLst>
          </p:cNvPr>
          <p:cNvSpPr>
            <a:spLocks xmlns:a="http://schemas.openxmlformats.org/drawingml/2006/main" noGrp="1"/>
          </p:cNvSpPr>
          <p:nvPr/>
        </p:nvSpPr>
        <p:spPr>
          <a:xfrm xmlns:a="http://schemas.openxmlformats.org/drawingml/2006/main">
            <a:off x="7543800" y="7105650"/>
            <a:ext cx="4191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0">
                <a:solidFill>
                  <a:srgbClr val="006B75"/>
                </a:solidFill>
              </a:defRPr>
            </a:pPr>
            <a:r>
              <a:rPr sz="2700" b="0">
                <a:solidFill>
                  <a:srgbClr val="006B75"/>
                </a:solidFill>
              </a:rPr>
              <a:t>→</a:t>
            </a:r>
          </a:p>
        </p:txBody>
      </p:sp>
      <p:sp>
        <p:nvSpPr>
          <p:cNvPr id="24" name="">
            <a:extLst xmlns:a="http://schemas.openxmlformats.org/drawingml/2006/main">
              <a:ext uri="{FF2B5EF4-FFF2-40B4-BE49-F238E27FC236}">
                <a16:creationId xmlns:a16="http://schemas.microsoft.com/office/drawing/2014/main" id="{468C0DCD-D7A9-4881-8561-102467704693}"/>
              </a:ext>
            </a:extLst>
          </p:cNvPr>
          <p:cNvSpPr>
            <a:spLocks xmlns:a="http://schemas.openxmlformats.org/drawingml/2006/main" noGrp="1"/>
          </p:cNvSpPr>
          <p:nvPr/>
        </p:nvSpPr>
        <p:spPr>
          <a:xfrm xmlns:a="http://schemas.openxmlformats.org/drawingml/2006/main">
            <a:off x="8191500" y="6953250"/>
            <a:ext cx="8572500" cy="704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S1 holds one instruction until S2 is free; a redirect waits for S2, and a wrong-path response is drained</a:t>
            </a:r>
          </a:p>
        </p:txBody>
      </p:sp>
      <p:sp>
        <p:nvSpPr>
          <p:cNvPr id="25" name="">
            <a:extLst xmlns:a="http://schemas.openxmlformats.org/drawingml/2006/main">
              <a:ext uri="{FF2B5EF4-FFF2-40B4-BE49-F238E27FC236}">
                <a16:creationId xmlns:a16="http://schemas.microsoft.com/office/drawing/2014/main" id="{03841505-AD1C-448F-A2EF-4F3FBC5C0451}"/>
              </a:ext>
            </a:extLst>
          </p:cNvPr>
          <p:cNvSpPr>
            <a:spLocks xmlns:a="http://schemas.openxmlformats.org/drawingml/2006/main" noGrp="1"/>
          </p:cNvSpPr>
          <p:nvPr/>
        </p:nvSpPr>
        <p:spPr>
          <a:xfrm xmlns:a="http://schemas.openxmlformats.org/drawingml/2006/main">
            <a:off x="666750" y="8168640"/>
            <a:ext cx="16954500" cy="1451610"/>
          </a:xfrm>
          <a:prstGeom xmlns:a="http://schemas.openxmlformats.org/drawingml/2006/main" prst="roundRect">
            <a:avLst>
              <a:gd name="adj" fmla="val 7874"/>
            </a:avLst>
          </a:prstGeom>
          <a:solidFill xmlns:a="http://schemas.openxmlformats.org/drawingml/2006/main">
            <a:srgbClr val="EEF5F5"/>
          </a:solidFill>
        </p:spPr>
      </p:sp>
      <p:sp>
        <p:nvSpPr>
          <p:cNvPr id="26" name="">
            <a:extLst xmlns:a="http://schemas.openxmlformats.org/drawingml/2006/main">
              <a:ext uri="{FF2B5EF4-FFF2-40B4-BE49-F238E27FC236}">
                <a16:creationId xmlns:a16="http://schemas.microsoft.com/office/drawing/2014/main" id="{77AD30E4-C433-4509-9049-6487C67F44FE}"/>
              </a:ext>
            </a:extLst>
          </p:cNvPr>
          <p:cNvSpPr>
            <a:spLocks xmlns:a="http://schemas.openxmlformats.org/drawingml/2006/main" noGrp="1"/>
          </p:cNvSpPr>
          <p:nvPr/>
        </p:nvSpPr>
        <p:spPr>
          <a:xfrm xmlns:a="http://schemas.openxmlformats.org/drawingml/2006/main">
            <a:off x="990600" y="8677275"/>
            <a:ext cx="38100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850" b="1">
                <a:solidFill>
                  <a:srgbClr val="006B75"/>
                </a:solidFill>
              </a:defRPr>
            </a:pPr>
            <a:r>
              <a:rPr sz="2850" b="1">
                <a:solidFill>
                  <a:srgbClr val="006B75"/>
                </a:solidFill>
              </a:rPr>
              <a:t>5</a:t>
            </a:r>
          </a:p>
        </p:txBody>
      </p:sp>
      <p:sp>
        <p:nvSpPr>
          <p:cNvPr id="27" name="">
            <a:extLst xmlns:a="http://schemas.openxmlformats.org/drawingml/2006/main">
              <a:ext uri="{FF2B5EF4-FFF2-40B4-BE49-F238E27FC236}">
                <a16:creationId xmlns:a16="http://schemas.microsoft.com/office/drawing/2014/main" id="{1F9974B3-F9C5-4815-8417-35DD910561C4}"/>
              </a:ext>
            </a:extLst>
          </p:cNvPr>
          <p:cNvSpPr>
            <a:spLocks xmlns:a="http://schemas.openxmlformats.org/drawingml/2006/main" noGrp="1"/>
          </p:cNvSpPr>
          <p:nvPr/>
        </p:nvSpPr>
        <p:spPr>
          <a:xfrm xmlns:a="http://schemas.openxmlformats.org/drawingml/2006/main">
            <a:off x="1600200" y="8734425"/>
            <a:ext cx="57150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526772"/>
                </a:solidFill>
              </a:defRPr>
            </a:pPr>
            <a:r>
              <a:rPr sz="2175" b="0">
                <a:solidFill>
                  <a:srgbClr val="526772"/>
                </a:solidFill>
              </a:rPr>
              <a:t>How is a new trap blocked while a handler runs?</a:t>
            </a:r>
          </a:p>
        </p:txBody>
      </p:sp>
      <p:sp>
        <p:nvSpPr>
          <p:cNvPr id="28" name="">
            <a:extLst xmlns:a="http://schemas.openxmlformats.org/drawingml/2006/main">
              <a:ext uri="{FF2B5EF4-FFF2-40B4-BE49-F238E27FC236}">
                <a16:creationId xmlns:a16="http://schemas.microsoft.com/office/drawing/2014/main" id="{0264B84B-F98B-44D0-A1CC-FCD2E6F98C0B}"/>
              </a:ext>
            </a:extLst>
          </p:cNvPr>
          <p:cNvSpPr>
            <a:spLocks xmlns:a="http://schemas.openxmlformats.org/drawingml/2006/main" noGrp="1"/>
          </p:cNvSpPr>
          <p:nvPr/>
        </p:nvSpPr>
        <p:spPr>
          <a:xfrm xmlns:a="http://schemas.openxmlformats.org/drawingml/2006/main">
            <a:off x="7543800" y="8696325"/>
            <a:ext cx="419100" cy="4095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700" b="0">
                <a:solidFill>
                  <a:srgbClr val="006B75"/>
                </a:solidFill>
              </a:defRPr>
            </a:pPr>
            <a:r>
              <a:rPr sz="2700" b="0">
                <a:solidFill>
                  <a:srgbClr val="006B75"/>
                </a:solidFill>
              </a:rPr>
              <a:t>→</a:t>
            </a:r>
          </a:p>
        </p:txBody>
      </p:sp>
      <p:sp>
        <p:nvSpPr>
          <p:cNvPr id="29" name="">
            <a:extLst xmlns:a="http://schemas.openxmlformats.org/drawingml/2006/main">
              <a:ext uri="{FF2B5EF4-FFF2-40B4-BE49-F238E27FC236}">
                <a16:creationId xmlns:a16="http://schemas.microsoft.com/office/drawing/2014/main" id="{28A1D97B-F2FA-405F-86A5-57F4360DA169}"/>
              </a:ext>
            </a:extLst>
          </p:cNvPr>
          <p:cNvSpPr>
            <a:spLocks xmlns:a="http://schemas.openxmlformats.org/drawingml/2006/main" noGrp="1"/>
          </p:cNvSpPr>
          <p:nvPr/>
        </p:nvSpPr>
        <p:spPr>
          <a:xfrm xmlns:a="http://schemas.openxmlformats.org/drawingml/2006/main">
            <a:off x="8191500" y="8543925"/>
            <a:ext cx="8572500" cy="704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Trap entry clears MIE; a 16-level stack tells MRET whether to send an EOI</a:t>
            </a:r>
          </a:p>
        </p:txBody>
      </p:sp>
      <p:sp>
        <p:nvSpPr>
          <p:cNvPr id="30" name="footer">
            <a:extLst xmlns:a="http://schemas.openxmlformats.org/drawingml/2006/main">
              <a:ext uri="{FF2B5EF4-FFF2-40B4-BE49-F238E27FC236}">
                <a16:creationId xmlns:a16="http://schemas.microsoft.com/office/drawing/2014/main" id="{79966619-3C96-4935-A302-C865E59A9D26}"/>
              </a:ext>
            </a:extLst>
          </p:cNvPr>
          <p:cNvSpPr>
            <a:spLocks xmlns:a="http://schemas.openxmlformats.org/drawingml/2006/main" noGrp="1"/>
          </p:cNvSpPr>
          <p:nvPr/>
        </p:nvSpPr>
        <p:spPr>
          <a:xfrm xmlns:a="http://schemas.openxmlformats.org/drawingml/2006/main">
            <a:off x="666750" y="977265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03 / 08   ·   Design decisions</a:t>
            </a:r>
          </a:p>
        </p:txBody>
      </p:sp>
    </p:spTree>
    <p:extLst>
      <p:ext uri="{BB962C8B-B14F-4D97-AF65-F5344CB8AC3E}">
        <p14:creationId xmlns:p14="http://schemas.microsoft.com/office/powerpoint/2010/main" val="12998326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FC97E1D8-063F-4CBA-8785-8EFDC0EB388B}"/>
              </a:ext>
            </a:extLst>
          </p:cNvPr>
          <p:cNvSpPr>
            <a:spLocks xmlns:a="http://schemas.openxmlformats.org/drawingml/2006/main" noGrp="1"/>
          </p:cNvSpPr>
          <p:nvPr/>
        </p:nvSpPr>
        <p:spPr>
          <a:xfrm xmlns:a="http://schemas.openxmlformats.org/drawingml/2006/main">
            <a:off x="171450" y="114300"/>
            <a:ext cx="179451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73442"/>
                </a:solidFill>
              </a:defRPr>
            </a:pPr>
            <a:r>
              <a:rPr sz="3600" b="1">
                <a:solidFill>
                  <a:srgbClr val="173442"/>
                </a:solidFill>
              </a:rPr>
              <a:t>Three stages; S2 decides when an instruction is complete</a:t>
            </a:r>
          </a:p>
        </p:txBody>
      </p:sp>
      <p:pic>
        <p:nvPicPr>
          <p:cNvPr id="2" name="asset-figures/cpu_essential"/>
          <p:cNvPicPr>
            <a:picLocks xmlns:a="http://schemas.openxmlformats.org/drawingml/2006/main" noChangeAspect="1"/>
          </p:cNvPicPr>
          <p:nvPr/>
        </p:nvPicPr>
        <p:blipFill>
          <a:blip xmlns:r="http://schemas.openxmlformats.org/officeDocument/2006/relationships" xmlns:a="http://schemas.openxmlformats.org/drawingml/2006/main" r:embed="R66175af6bf87492b">
            <a:extLst>
              <a:ext uri="{96DAC541-7B7A-43D3-8B79-37D633B846F1}">
                <asvg:svgBlip xmlns:asvg="http://schemas.microsoft.com/office/drawing/2016/SVG/main" r:embed="R967762e80e4e494b"/>
              </a:ext>
            </a:extLst>
          </a:blip>
          <a:stretch xmlns:a="http://schemas.openxmlformats.org/drawingml/2006/main"/>
        </p:blipFill>
        <p:spPr>
          <a:xfrm xmlns:a="http://schemas.openxmlformats.org/drawingml/2006/main">
            <a:off x="635955" y="704850"/>
            <a:ext cx="17016090" cy="9429750"/>
          </a:xfrm>
          <a:prstGeom xmlns:a="http://schemas.openxmlformats.org/drawingml/2006/main" prst="rect">
            <a:avLst/>
          </a:prstGeom>
        </p:spPr>
      </p:pic>
    </p:spTree>
    <p:extLst>
      <p:ext uri="{BB962C8B-B14F-4D97-AF65-F5344CB8AC3E}">
        <p14:creationId xmlns:p14="http://schemas.microsoft.com/office/powerpoint/2010/main" val="85009643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BC0CD928-1DE9-48D7-ACFB-29B5392BFF0F}"/>
              </a:ext>
            </a:extLst>
          </p:cNvPr>
          <p:cNvSpPr>
            <a:spLocks xmlns:a="http://schemas.openxmlformats.org/drawingml/2006/main" noGrp="1"/>
          </p:cNvSpPr>
          <p:nvPr/>
        </p:nvSpPr>
        <p:spPr>
          <a:xfrm xmlns:a="http://schemas.openxmlformats.org/drawingml/2006/main">
            <a:off x="666750" y="419100"/>
            <a:ext cx="169545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73442"/>
                </a:solidFill>
              </a:defRPr>
            </a:pPr>
            <a:r>
              <a:rPr sz="3750" b="1">
                <a:solidFill>
                  <a:srgbClr val="173442"/>
                </a:solidFill>
              </a:rPr>
              <a:t>CSR bits 16 to 31 connect software to the PIC</a:t>
            </a:r>
          </a:p>
        </p:txBody>
      </p:sp>
      <p:sp>
        <p:nvSpPr>
          <p:cNvPr id="2" name="">
            <a:extLst xmlns:a="http://schemas.openxmlformats.org/drawingml/2006/main">
              <a:ext uri="{FF2B5EF4-FFF2-40B4-BE49-F238E27FC236}">
                <a16:creationId xmlns:a16="http://schemas.microsoft.com/office/drawing/2014/main" id="{C1536A2E-B4A5-4E5D-8763-0700754A6692}"/>
              </a:ext>
            </a:extLst>
          </p:cNvPr>
          <p:cNvSpPr>
            <a:spLocks xmlns:a="http://schemas.openxmlformats.org/drawingml/2006/main" noGrp="1"/>
          </p:cNvSpPr>
          <p:nvPr/>
        </p:nvSpPr>
        <p:spPr>
          <a:xfrm xmlns:a="http://schemas.openxmlformats.org/drawingml/2006/main">
            <a:off x="666750" y="11239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A0C25C29-4614-4A11-8BA6-E37E68BE20D7}"/>
              </a:ext>
            </a:extLst>
          </p:cNvPr>
          <p:cNvSpPr>
            <a:spLocks xmlns:a="http://schemas.openxmlformats.org/drawingml/2006/main" noGrp="1"/>
          </p:cNvSpPr>
          <p:nvPr/>
        </p:nvSpPr>
        <p:spPr>
          <a:xfrm xmlns:a="http://schemas.openxmlformats.org/drawingml/2006/main">
            <a:off x="876300" y="1524000"/>
            <a:ext cx="24384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526772"/>
                </a:solidFill>
              </a:defRPr>
            </a:pPr>
            <a:r>
              <a:rPr sz="1875" b="1">
                <a:solidFill>
                  <a:srgbClr val="526772"/>
                </a:solidFill>
              </a:rPr>
              <a:t>CSR / event</a:t>
            </a:r>
          </a:p>
        </p:txBody>
      </p:sp>
      <p:sp>
        <p:nvSpPr>
          <p:cNvPr id="4" name="">
            <a:extLst xmlns:a="http://schemas.openxmlformats.org/drawingml/2006/main">
              <a:ext uri="{FF2B5EF4-FFF2-40B4-BE49-F238E27FC236}">
                <a16:creationId xmlns:a16="http://schemas.microsoft.com/office/drawing/2014/main" id="{AE68213B-BC03-4DE6-9A5F-D382C1AAB200}"/>
              </a:ext>
            </a:extLst>
          </p:cNvPr>
          <p:cNvSpPr>
            <a:spLocks xmlns:a="http://schemas.openxmlformats.org/drawingml/2006/main" noGrp="1"/>
          </p:cNvSpPr>
          <p:nvPr/>
        </p:nvSpPr>
        <p:spPr>
          <a:xfrm xmlns:a="http://schemas.openxmlformats.org/drawingml/2006/main">
            <a:off x="3695700" y="1524000"/>
            <a:ext cx="2581275"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526772"/>
                </a:solidFill>
              </a:defRPr>
            </a:pPr>
            <a:r>
              <a:rPr sz="1875" b="1">
                <a:solidFill>
                  <a:srgbClr val="526772"/>
                </a:solidFill>
              </a:rPr>
              <a:t>PIC signal</a:t>
            </a:r>
          </a:p>
        </p:txBody>
      </p:sp>
      <p:sp>
        <p:nvSpPr>
          <p:cNvPr id="5" name="">
            <a:extLst xmlns:a="http://schemas.openxmlformats.org/drawingml/2006/main">
              <a:ext uri="{FF2B5EF4-FFF2-40B4-BE49-F238E27FC236}">
                <a16:creationId xmlns:a16="http://schemas.microsoft.com/office/drawing/2014/main" id="{235A434B-83DD-4797-9C97-256C0CA55546}"/>
              </a:ext>
            </a:extLst>
          </p:cNvPr>
          <p:cNvSpPr>
            <a:spLocks xmlns:a="http://schemas.openxmlformats.org/drawingml/2006/main" noGrp="1"/>
          </p:cNvSpPr>
          <p:nvPr/>
        </p:nvSpPr>
        <p:spPr>
          <a:xfrm xmlns:a="http://schemas.openxmlformats.org/drawingml/2006/main">
            <a:off x="6657975" y="1524000"/>
            <a:ext cx="4505325"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526772"/>
                </a:solidFill>
              </a:defRPr>
            </a:pPr>
            <a:r>
              <a:rPr sz="1875" b="1">
                <a:solidFill>
                  <a:srgbClr val="526772"/>
                </a:solidFill>
              </a:rPr>
              <a:t>Rule</a:t>
            </a:r>
          </a:p>
        </p:txBody>
      </p:sp>
      <p:sp>
        <p:nvSpPr>
          <p:cNvPr id="6" name="">
            <a:extLst xmlns:a="http://schemas.openxmlformats.org/drawingml/2006/main">
              <a:ext uri="{FF2B5EF4-FFF2-40B4-BE49-F238E27FC236}">
                <a16:creationId xmlns:a16="http://schemas.microsoft.com/office/drawing/2014/main" id="{6A1C6484-AC7A-4323-845F-E981F5715322}"/>
              </a:ext>
            </a:extLst>
          </p:cNvPr>
          <p:cNvSpPr>
            <a:spLocks xmlns:a="http://schemas.openxmlformats.org/drawingml/2006/main" noGrp="1"/>
          </p:cNvSpPr>
          <p:nvPr/>
        </p:nvSpPr>
        <p:spPr>
          <a:xfrm xmlns:a="http://schemas.openxmlformats.org/drawingml/2006/main">
            <a:off x="666750" y="1924050"/>
            <a:ext cx="2815167" cy="1235075"/>
          </a:xfrm>
          <a:prstGeom xmlns:a="http://schemas.openxmlformats.org/drawingml/2006/main" prst="rect">
            <a:avLst/>
          </a:prstGeom>
          <a:solidFill xmlns:a="http://schemas.openxmlformats.org/drawingml/2006/main">
            <a:srgbClr val="FFFFFF"/>
          </a:solidFill>
        </p:spPr>
      </p:sp>
      <p:sp>
        <p:nvSpPr>
          <p:cNvPr id="7" name="">
            <a:extLst xmlns:a="http://schemas.openxmlformats.org/drawingml/2006/main">
              <a:ext uri="{FF2B5EF4-FFF2-40B4-BE49-F238E27FC236}">
                <a16:creationId xmlns:a16="http://schemas.microsoft.com/office/drawing/2014/main" id="{9AF50215-C80B-4CC6-A260-C1E673732BF6}"/>
              </a:ext>
            </a:extLst>
          </p:cNvPr>
          <p:cNvSpPr>
            <a:spLocks xmlns:a="http://schemas.openxmlformats.org/drawingml/2006/main" noGrp="1"/>
          </p:cNvSpPr>
          <p:nvPr/>
        </p:nvSpPr>
        <p:spPr>
          <a:xfrm xmlns:a="http://schemas.openxmlformats.org/drawingml/2006/main">
            <a:off x="876300" y="2371725"/>
            <a:ext cx="24384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mie[16+n]</a:t>
            </a:r>
          </a:p>
        </p:txBody>
      </p:sp>
      <p:sp>
        <p:nvSpPr>
          <p:cNvPr id="8" name="">
            <a:extLst xmlns:a="http://schemas.openxmlformats.org/drawingml/2006/main">
              <a:ext uri="{FF2B5EF4-FFF2-40B4-BE49-F238E27FC236}">
                <a16:creationId xmlns:a16="http://schemas.microsoft.com/office/drawing/2014/main" id="{4B186CEA-746D-4C05-8651-E620CE62F129}"/>
              </a:ext>
            </a:extLst>
          </p:cNvPr>
          <p:cNvSpPr>
            <a:spLocks xmlns:a="http://schemas.openxmlformats.org/drawingml/2006/main" noGrp="1"/>
          </p:cNvSpPr>
          <p:nvPr/>
        </p:nvSpPr>
        <p:spPr>
          <a:xfrm xmlns:a="http://schemas.openxmlformats.org/drawingml/2006/main">
            <a:off x="3481917" y="1924050"/>
            <a:ext cx="2963333" cy="1235075"/>
          </a:xfrm>
          <a:prstGeom xmlns:a="http://schemas.openxmlformats.org/drawingml/2006/main" prst="rect">
            <a:avLst/>
          </a:prstGeom>
          <a:solidFill xmlns:a="http://schemas.openxmlformats.org/drawingml/2006/main">
            <a:srgbClr val="FFFFFF"/>
          </a:solidFill>
        </p:spPr>
      </p:sp>
      <p:sp>
        <p:nvSpPr>
          <p:cNvPr id="9" name="">
            <a:extLst xmlns:a="http://schemas.openxmlformats.org/drawingml/2006/main">
              <a:ext uri="{FF2B5EF4-FFF2-40B4-BE49-F238E27FC236}">
                <a16:creationId xmlns:a16="http://schemas.microsoft.com/office/drawing/2014/main" id="{93F37D5B-038A-4468-889F-36B4B7C425EE}"/>
              </a:ext>
            </a:extLst>
          </p:cNvPr>
          <p:cNvSpPr>
            <a:spLocks xmlns:a="http://schemas.openxmlformats.org/drawingml/2006/main" noGrp="1"/>
          </p:cNvSpPr>
          <p:nvPr/>
        </p:nvSpPr>
        <p:spPr>
          <a:xfrm xmlns:a="http://schemas.openxmlformats.org/drawingml/2006/main">
            <a:off x="3695700" y="2371725"/>
            <a:ext cx="258127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cpu_mask_i[n]</a:t>
            </a:r>
          </a:p>
        </p:txBody>
      </p:sp>
      <p:sp>
        <p:nvSpPr>
          <p:cNvPr id="10" name="">
            <a:extLst xmlns:a="http://schemas.openxmlformats.org/drawingml/2006/main">
              <a:ext uri="{FF2B5EF4-FFF2-40B4-BE49-F238E27FC236}">
                <a16:creationId xmlns:a16="http://schemas.microsoft.com/office/drawing/2014/main" id="{EB2A5664-F9C6-436D-981E-6C575F7C2D55}"/>
              </a:ext>
            </a:extLst>
          </p:cNvPr>
          <p:cNvSpPr>
            <a:spLocks xmlns:a="http://schemas.openxmlformats.org/drawingml/2006/main" noGrp="1"/>
          </p:cNvSpPr>
          <p:nvPr/>
        </p:nvSpPr>
        <p:spPr>
          <a:xfrm xmlns:a="http://schemas.openxmlformats.org/drawingml/2006/main">
            <a:off x="6445250" y="1924050"/>
            <a:ext cx="4889500" cy="1235075"/>
          </a:xfrm>
          <a:prstGeom xmlns:a="http://schemas.openxmlformats.org/drawingml/2006/main" prst="rect">
            <a:avLst/>
          </a:prstGeom>
          <a:solidFill xmlns:a="http://schemas.openxmlformats.org/drawingml/2006/main">
            <a:srgbClr val="FFFFFF"/>
          </a:solidFill>
        </p:spPr>
      </p:sp>
      <p:sp>
        <p:nvSpPr>
          <p:cNvPr id="11" name="">
            <a:extLst xmlns:a="http://schemas.openxmlformats.org/drawingml/2006/main">
              <a:ext uri="{FF2B5EF4-FFF2-40B4-BE49-F238E27FC236}">
                <a16:creationId xmlns:a16="http://schemas.microsoft.com/office/drawing/2014/main" id="{89DDA2AD-C8FD-476C-AC7E-B0D2F1717C95}"/>
              </a:ext>
            </a:extLst>
          </p:cNvPr>
          <p:cNvSpPr>
            <a:spLocks xmlns:a="http://schemas.openxmlformats.org/drawingml/2006/main" noGrp="1"/>
          </p:cNvSpPr>
          <p:nvPr/>
        </p:nvSpPr>
        <p:spPr>
          <a:xfrm xmlns:a="http://schemas.openxmlformats.org/drawingml/2006/main">
            <a:off x="6657975" y="2371725"/>
            <a:ext cx="450532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Masked sources are skipped by the PIC</a:t>
            </a:r>
          </a:p>
        </p:txBody>
      </p:sp>
      <p:sp>
        <p:nvSpPr>
          <p:cNvPr id="12" name="">
            <a:extLst xmlns:a="http://schemas.openxmlformats.org/drawingml/2006/main">
              <a:ext uri="{FF2B5EF4-FFF2-40B4-BE49-F238E27FC236}">
                <a16:creationId xmlns:a16="http://schemas.microsoft.com/office/drawing/2014/main" id="{BB55A444-67E1-4981-A107-A54F16B943B6}"/>
              </a:ext>
            </a:extLst>
          </p:cNvPr>
          <p:cNvSpPr>
            <a:spLocks xmlns:a="http://schemas.openxmlformats.org/drawingml/2006/main" noGrp="1"/>
          </p:cNvSpPr>
          <p:nvPr/>
        </p:nvSpPr>
        <p:spPr>
          <a:xfrm xmlns:a="http://schemas.openxmlformats.org/drawingml/2006/main">
            <a:off x="666750" y="3216275"/>
            <a:ext cx="2815167" cy="1235075"/>
          </a:xfrm>
          <a:prstGeom xmlns:a="http://schemas.openxmlformats.org/drawingml/2006/main" prst="rect">
            <a:avLst/>
          </a:prstGeom>
          <a:solidFill xmlns:a="http://schemas.openxmlformats.org/drawingml/2006/main">
            <a:srgbClr val="F5F9F9"/>
          </a:solidFill>
        </p:spPr>
      </p:sp>
      <p:sp>
        <p:nvSpPr>
          <p:cNvPr id="13" name="">
            <a:extLst xmlns:a="http://schemas.openxmlformats.org/drawingml/2006/main">
              <a:ext uri="{FF2B5EF4-FFF2-40B4-BE49-F238E27FC236}">
                <a16:creationId xmlns:a16="http://schemas.microsoft.com/office/drawing/2014/main" id="{35709BC8-D924-4B7E-AAB0-3BD73B744E2C}"/>
              </a:ext>
            </a:extLst>
          </p:cNvPr>
          <p:cNvSpPr>
            <a:spLocks xmlns:a="http://schemas.openxmlformats.org/drawingml/2006/main" noGrp="1"/>
          </p:cNvSpPr>
          <p:nvPr/>
        </p:nvSpPr>
        <p:spPr>
          <a:xfrm xmlns:a="http://schemas.openxmlformats.org/drawingml/2006/main">
            <a:off x="876300" y="3667125"/>
            <a:ext cx="24384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mip[16+n]</a:t>
            </a:r>
          </a:p>
        </p:txBody>
      </p:sp>
      <p:sp>
        <p:nvSpPr>
          <p:cNvPr id="14" name="">
            <a:extLst xmlns:a="http://schemas.openxmlformats.org/drawingml/2006/main">
              <a:ext uri="{FF2B5EF4-FFF2-40B4-BE49-F238E27FC236}">
                <a16:creationId xmlns:a16="http://schemas.microsoft.com/office/drawing/2014/main" id="{204234ED-4228-4C2C-BFA5-FD85A235D3D0}"/>
              </a:ext>
            </a:extLst>
          </p:cNvPr>
          <p:cNvSpPr>
            <a:spLocks xmlns:a="http://schemas.openxmlformats.org/drawingml/2006/main" noGrp="1"/>
          </p:cNvSpPr>
          <p:nvPr/>
        </p:nvSpPr>
        <p:spPr>
          <a:xfrm xmlns:a="http://schemas.openxmlformats.org/drawingml/2006/main">
            <a:off x="3481917" y="3216275"/>
            <a:ext cx="2963333" cy="1235075"/>
          </a:xfrm>
          <a:prstGeom xmlns:a="http://schemas.openxmlformats.org/drawingml/2006/main" prst="rect">
            <a:avLst/>
          </a:prstGeom>
          <a:solidFill xmlns:a="http://schemas.openxmlformats.org/drawingml/2006/main">
            <a:srgbClr val="F5F9F9"/>
          </a:solidFill>
        </p:spPr>
      </p:sp>
      <p:sp>
        <p:nvSpPr>
          <p:cNvPr id="15" name="">
            <a:extLst xmlns:a="http://schemas.openxmlformats.org/drawingml/2006/main">
              <a:ext uri="{FF2B5EF4-FFF2-40B4-BE49-F238E27FC236}">
                <a16:creationId xmlns:a16="http://schemas.microsoft.com/office/drawing/2014/main" id="{C1E0258C-6D97-47B8-9A59-9B4A5E7FB377}"/>
              </a:ext>
            </a:extLst>
          </p:cNvPr>
          <p:cNvSpPr>
            <a:spLocks xmlns:a="http://schemas.openxmlformats.org/drawingml/2006/main" noGrp="1"/>
          </p:cNvSpPr>
          <p:nvPr/>
        </p:nvSpPr>
        <p:spPr>
          <a:xfrm xmlns:a="http://schemas.openxmlformats.org/drawingml/2006/main">
            <a:off x="3695700" y="3667125"/>
            <a:ext cx="258127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pending_o[n]</a:t>
            </a:r>
          </a:p>
        </p:txBody>
      </p:sp>
      <p:sp>
        <p:nvSpPr>
          <p:cNvPr id="16" name="">
            <a:extLst xmlns:a="http://schemas.openxmlformats.org/drawingml/2006/main">
              <a:ext uri="{FF2B5EF4-FFF2-40B4-BE49-F238E27FC236}">
                <a16:creationId xmlns:a16="http://schemas.microsoft.com/office/drawing/2014/main" id="{C0BD2362-D807-4C36-B8CC-CB0D3DF11D1F}"/>
              </a:ext>
            </a:extLst>
          </p:cNvPr>
          <p:cNvSpPr>
            <a:spLocks xmlns:a="http://schemas.openxmlformats.org/drawingml/2006/main" noGrp="1"/>
          </p:cNvSpPr>
          <p:nvPr/>
        </p:nvSpPr>
        <p:spPr>
          <a:xfrm xmlns:a="http://schemas.openxmlformats.org/drawingml/2006/main">
            <a:off x="6445250" y="3216275"/>
            <a:ext cx="4889500" cy="1235075"/>
          </a:xfrm>
          <a:prstGeom xmlns:a="http://schemas.openxmlformats.org/drawingml/2006/main" prst="rect">
            <a:avLst/>
          </a:prstGeom>
          <a:solidFill xmlns:a="http://schemas.openxmlformats.org/drawingml/2006/main">
            <a:srgbClr val="F5F9F9"/>
          </a:solidFill>
        </p:spPr>
      </p:sp>
      <p:sp>
        <p:nvSpPr>
          <p:cNvPr id="17" name="">
            <a:extLst xmlns:a="http://schemas.openxmlformats.org/drawingml/2006/main">
              <a:ext uri="{FF2B5EF4-FFF2-40B4-BE49-F238E27FC236}">
                <a16:creationId xmlns:a16="http://schemas.microsoft.com/office/drawing/2014/main" id="{ED8B01BC-A5A4-4BAE-9391-462C75F583A4}"/>
              </a:ext>
            </a:extLst>
          </p:cNvPr>
          <p:cNvSpPr>
            <a:spLocks xmlns:a="http://schemas.openxmlformats.org/drawingml/2006/main" noGrp="1"/>
          </p:cNvSpPr>
          <p:nvPr/>
        </p:nvSpPr>
        <p:spPr>
          <a:xfrm xmlns:a="http://schemas.openxmlformats.org/drawingml/2006/main">
            <a:off x="6657975" y="3667125"/>
            <a:ext cx="450532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Every pending source is visible</a:t>
            </a:r>
          </a:p>
        </p:txBody>
      </p:sp>
      <p:sp>
        <p:nvSpPr>
          <p:cNvPr id="18" name="">
            <a:extLst xmlns:a="http://schemas.openxmlformats.org/drawingml/2006/main">
              <a:ext uri="{FF2B5EF4-FFF2-40B4-BE49-F238E27FC236}">
                <a16:creationId xmlns:a16="http://schemas.microsoft.com/office/drawing/2014/main" id="{35A5BEBC-D8ED-48DB-B380-F2BE51791768}"/>
              </a:ext>
            </a:extLst>
          </p:cNvPr>
          <p:cNvSpPr>
            <a:spLocks xmlns:a="http://schemas.openxmlformats.org/drawingml/2006/main" noGrp="1"/>
          </p:cNvSpPr>
          <p:nvPr/>
        </p:nvSpPr>
        <p:spPr>
          <a:xfrm xmlns:a="http://schemas.openxmlformats.org/drawingml/2006/main">
            <a:off x="666750" y="4508500"/>
            <a:ext cx="2815167" cy="1235075"/>
          </a:xfrm>
          <a:prstGeom xmlns:a="http://schemas.openxmlformats.org/drawingml/2006/main" prst="rect">
            <a:avLst/>
          </a:prstGeom>
          <a:solidFill xmlns:a="http://schemas.openxmlformats.org/drawingml/2006/main">
            <a:srgbClr val="FFFFFF"/>
          </a:solidFill>
        </p:spPr>
      </p:sp>
      <p:sp>
        <p:nvSpPr>
          <p:cNvPr id="19" name="">
            <a:extLst xmlns:a="http://schemas.openxmlformats.org/drawingml/2006/main">
              <a:ext uri="{FF2B5EF4-FFF2-40B4-BE49-F238E27FC236}">
                <a16:creationId xmlns:a16="http://schemas.microsoft.com/office/drawing/2014/main" id="{B36B88FF-E811-40D6-AE00-758E4BA800A8}"/>
              </a:ext>
            </a:extLst>
          </p:cNvPr>
          <p:cNvSpPr>
            <a:spLocks xmlns:a="http://schemas.openxmlformats.org/drawingml/2006/main" noGrp="1"/>
          </p:cNvSpPr>
          <p:nvPr/>
        </p:nvSpPr>
        <p:spPr>
          <a:xfrm xmlns:a="http://schemas.openxmlformats.org/drawingml/2006/main">
            <a:off x="876300" y="4962525"/>
            <a:ext cx="24384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mcause</a:t>
            </a:r>
          </a:p>
        </p:txBody>
      </p:sp>
      <p:sp>
        <p:nvSpPr>
          <p:cNvPr id="20" name="">
            <a:extLst xmlns:a="http://schemas.openxmlformats.org/drawingml/2006/main">
              <a:ext uri="{FF2B5EF4-FFF2-40B4-BE49-F238E27FC236}">
                <a16:creationId xmlns:a16="http://schemas.microsoft.com/office/drawing/2014/main" id="{DEB5A555-2122-4253-ABC6-554986725FBD}"/>
              </a:ext>
            </a:extLst>
          </p:cNvPr>
          <p:cNvSpPr>
            <a:spLocks xmlns:a="http://schemas.openxmlformats.org/drawingml/2006/main" noGrp="1"/>
          </p:cNvSpPr>
          <p:nvPr/>
        </p:nvSpPr>
        <p:spPr>
          <a:xfrm xmlns:a="http://schemas.openxmlformats.org/drawingml/2006/main">
            <a:off x="3481917" y="4508500"/>
            <a:ext cx="2963333" cy="1235075"/>
          </a:xfrm>
          <a:prstGeom xmlns:a="http://schemas.openxmlformats.org/drawingml/2006/main" prst="rect">
            <a:avLst/>
          </a:prstGeom>
          <a:solidFill xmlns:a="http://schemas.openxmlformats.org/drawingml/2006/main">
            <a:srgbClr val="FFFFFF"/>
          </a:solidFill>
        </p:spPr>
      </p:sp>
      <p:sp>
        <p:nvSpPr>
          <p:cNvPr id="21" name="">
            <a:extLst xmlns:a="http://schemas.openxmlformats.org/drawingml/2006/main">
              <a:ext uri="{FF2B5EF4-FFF2-40B4-BE49-F238E27FC236}">
                <a16:creationId xmlns:a16="http://schemas.microsoft.com/office/drawing/2014/main" id="{FDAC7B5E-B5E9-4749-BD1F-3AFEC4AD9075}"/>
              </a:ext>
            </a:extLst>
          </p:cNvPr>
          <p:cNvSpPr>
            <a:spLocks xmlns:a="http://schemas.openxmlformats.org/drawingml/2006/main" noGrp="1"/>
          </p:cNvSpPr>
          <p:nvPr/>
        </p:nvSpPr>
        <p:spPr>
          <a:xfrm xmlns:a="http://schemas.openxmlformats.org/drawingml/2006/main">
            <a:off x="3695700" y="4962525"/>
            <a:ext cx="258127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cpu_irq_vec_o</a:t>
            </a:r>
          </a:p>
        </p:txBody>
      </p:sp>
      <p:sp>
        <p:nvSpPr>
          <p:cNvPr id="22" name="">
            <a:extLst xmlns:a="http://schemas.openxmlformats.org/drawingml/2006/main">
              <a:ext uri="{FF2B5EF4-FFF2-40B4-BE49-F238E27FC236}">
                <a16:creationId xmlns:a16="http://schemas.microsoft.com/office/drawing/2014/main" id="{0696C65C-23C1-4C7C-BE50-6251AA2697C1}"/>
              </a:ext>
            </a:extLst>
          </p:cNvPr>
          <p:cNvSpPr>
            <a:spLocks xmlns:a="http://schemas.openxmlformats.org/drawingml/2006/main" noGrp="1"/>
          </p:cNvSpPr>
          <p:nvPr/>
        </p:nvSpPr>
        <p:spPr>
          <a:xfrm xmlns:a="http://schemas.openxmlformats.org/drawingml/2006/main">
            <a:off x="6445250" y="4508500"/>
            <a:ext cx="4889500" cy="1235075"/>
          </a:xfrm>
          <a:prstGeom xmlns:a="http://schemas.openxmlformats.org/drawingml/2006/main" prst="rect">
            <a:avLst/>
          </a:prstGeom>
          <a:solidFill xmlns:a="http://schemas.openxmlformats.org/drawingml/2006/main">
            <a:srgbClr val="FFFFFF"/>
          </a:solidFill>
        </p:spPr>
      </p:sp>
      <p:sp>
        <p:nvSpPr>
          <p:cNvPr id="23" name="">
            <a:extLst xmlns:a="http://schemas.openxmlformats.org/drawingml/2006/main">
              <a:ext uri="{FF2B5EF4-FFF2-40B4-BE49-F238E27FC236}">
                <a16:creationId xmlns:a16="http://schemas.microsoft.com/office/drawing/2014/main" id="{9F06C138-9B3C-4754-8CBA-D8D664391BC5}"/>
              </a:ext>
            </a:extLst>
          </p:cNvPr>
          <p:cNvSpPr>
            <a:spLocks xmlns:a="http://schemas.openxmlformats.org/drawingml/2006/main" noGrp="1"/>
          </p:cNvSpPr>
          <p:nvPr/>
        </p:nvSpPr>
        <p:spPr>
          <a:xfrm xmlns:a="http://schemas.openxmlformats.org/drawingml/2006/main">
            <a:off x="6657975" y="4962525"/>
            <a:ext cx="450532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0x8000_0000 + 16 + n</a:t>
            </a:r>
          </a:p>
        </p:txBody>
      </p:sp>
      <p:sp>
        <p:nvSpPr>
          <p:cNvPr id="24" name="">
            <a:extLst xmlns:a="http://schemas.openxmlformats.org/drawingml/2006/main">
              <a:ext uri="{FF2B5EF4-FFF2-40B4-BE49-F238E27FC236}">
                <a16:creationId xmlns:a16="http://schemas.microsoft.com/office/drawing/2014/main" id="{25F255D7-B524-457B-B59B-0942349F025D}"/>
              </a:ext>
            </a:extLst>
          </p:cNvPr>
          <p:cNvSpPr>
            <a:spLocks xmlns:a="http://schemas.openxmlformats.org/drawingml/2006/main" noGrp="1"/>
          </p:cNvSpPr>
          <p:nvPr/>
        </p:nvSpPr>
        <p:spPr>
          <a:xfrm xmlns:a="http://schemas.openxmlformats.org/drawingml/2006/main">
            <a:off x="666750" y="5800725"/>
            <a:ext cx="2815167" cy="1235075"/>
          </a:xfrm>
          <a:prstGeom xmlns:a="http://schemas.openxmlformats.org/drawingml/2006/main" prst="rect">
            <a:avLst/>
          </a:prstGeom>
          <a:solidFill xmlns:a="http://schemas.openxmlformats.org/drawingml/2006/main">
            <a:srgbClr val="F5F9F9"/>
          </a:solidFill>
        </p:spPr>
      </p:sp>
      <p:sp>
        <p:nvSpPr>
          <p:cNvPr id="25" name="">
            <a:extLst xmlns:a="http://schemas.openxmlformats.org/drawingml/2006/main">
              <a:ext uri="{FF2B5EF4-FFF2-40B4-BE49-F238E27FC236}">
                <a16:creationId xmlns:a16="http://schemas.microsoft.com/office/drawing/2014/main" id="{F5AF21EC-91F0-4BC4-AF80-C504D7DB5354}"/>
              </a:ext>
            </a:extLst>
          </p:cNvPr>
          <p:cNvSpPr>
            <a:spLocks xmlns:a="http://schemas.openxmlformats.org/drawingml/2006/main" noGrp="1"/>
          </p:cNvSpPr>
          <p:nvPr/>
        </p:nvSpPr>
        <p:spPr>
          <a:xfrm xmlns:a="http://schemas.openxmlformats.org/drawingml/2006/main">
            <a:off x="876300" y="6248400"/>
            <a:ext cx="24384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mtvec, MODE = 1</a:t>
            </a:r>
          </a:p>
        </p:txBody>
      </p:sp>
      <p:sp>
        <p:nvSpPr>
          <p:cNvPr id="26" name="">
            <a:extLst xmlns:a="http://schemas.openxmlformats.org/drawingml/2006/main">
              <a:ext uri="{FF2B5EF4-FFF2-40B4-BE49-F238E27FC236}">
                <a16:creationId xmlns:a16="http://schemas.microsoft.com/office/drawing/2014/main" id="{FC45427B-D2DE-467B-8D15-ED7F29F55122}"/>
              </a:ext>
            </a:extLst>
          </p:cNvPr>
          <p:cNvSpPr>
            <a:spLocks xmlns:a="http://schemas.openxmlformats.org/drawingml/2006/main" noGrp="1"/>
          </p:cNvSpPr>
          <p:nvPr/>
        </p:nvSpPr>
        <p:spPr>
          <a:xfrm xmlns:a="http://schemas.openxmlformats.org/drawingml/2006/main">
            <a:off x="3481917" y="5800725"/>
            <a:ext cx="2963333" cy="1235075"/>
          </a:xfrm>
          <a:prstGeom xmlns:a="http://schemas.openxmlformats.org/drawingml/2006/main" prst="rect">
            <a:avLst/>
          </a:prstGeom>
          <a:solidFill xmlns:a="http://schemas.openxmlformats.org/drawingml/2006/main">
            <a:srgbClr val="F5F9F9"/>
          </a:solidFill>
        </p:spPr>
      </p:sp>
      <p:sp>
        <p:nvSpPr>
          <p:cNvPr id="27" name="">
            <a:extLst xmlns:a="http://schemas.openxmlformats.org/drawingml/2006/main">
              <a:ext uri="{FF2B5EF4-FFF2-40B4-BE49-F238E27FC236}">
                <a16:creationId xmlns:a16="http://schemas.microsoft.com/office/drawing/2014/main" id="{DD0750BC-2A21-46F0-896B-E61942A86F0D}"/>
              </a:ext>
            </a:extLst>
          </p:cNvPr>
          <p:cNvSpPr>
            <a:spLocks xmlns:a="http://schemas.openxmlformats.org/drawingml/2006/main" noGrp="1"/>
          </p:cNvSpPr>
          <p:nvPr/>
        </p:nvSpPr>
        <p:spPr>
          <a:xfrm xmlns:a="http://schemas.openxmlformats.org/drawingml/2006/main">
            <a:off x="3695700" y="6248400"/>
            <a:ext cx="258127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a:t>
            </a:r>
          </a:p>
        </p:txBody>
      </p:sp>
      <p:sp>
        <p:nvSpPr>
          <p:cNvPr id="28" name="">
            <a:extLst xmlns:a="http://schemas.openxmlformats.org/drawingml/2006/main">
              <a:ext uri="{FF2B5EF4-FFF2-40B4-BE49-F238E27FC236}">
                <a16:creationId xmlns:a16="http://schemas.microsoft.com/office/drawing/2014/main" id="{8A65AF7D-A320-4011-81E5-4FF78499FD82}"/>
              </a:ext>
            </a:extLst>
          </p:cNvPr>
          <p:cNvSpPr>
            <a:spLocks xmlns:a="http://schemas.openxmlformats.org/drawingml/2006/main" noGrp="1"/>
          </p:cNvSpPr>
          <p:nvPr/>
        </p:nvSpPr>
        <p:spPr>
          <a:xfrm xmlns:a="http://schemas.openxmlformats.org/drawingml/2006/main">
            <a:off x="6445250" y="5800725"/>
            <a:ext cx="4889500" cy="1235075"/>
          </a:xfrm>
          <a:prstGeom xmlns:a="http://schemas.openxmlformats.org/drawingml/2006/main" prst="rect">
            <a:avLst/>
          </a:prstGeom>
          <a:solidFill xmlns:a="http://schemas.openxmlformats.org/drawingml/2006/main">
            <a:srgbClr val="F5F9F9"/>
          </a:solidFill>
        </p:spPr>
      </p:sp>
      <p:sp>
        <p:nvSpPr>
          <p:cNvPr id="29" name="">
            <a:extLst xmlns:a="http://schemas.openxmlformats.org/drawingml/2006/main">
              <a:ext uri="{FF2B5EF4-FFF2-40B4-BE49-F238E27FC236}">
                <a16:creationId xmlns:a16="http://schemas.microsoft.com/office/drawing/2014/main" id="{08DECB79-95F7-423C-9562-D2B2CDB36D96}"/>
              </a:ext>
            </a:extLst>
          </p:cNvPr>
          <p:cNvSpPr>
            <a:spLocks xmlns:a="http://schemas.openxmlformats.org/drawingml/2006/main" noGrp="1"/>
          </p:cNvSpPr>
          <p:nvPr/>
        </p:nvSpPr>
        <p:spPr>
          <a:xfrm xmlns:a="http://schemas.openxmlformats.org/drawingml/2006/main">
            <a:off x="6657975" y="6248400"/>
            <a:ext cx="450532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Handler at BASE + 4 × (16 + n)</a:t>
            </a:r>
          </a:p>
        </p:txBody>
      </p:sp>
      <p:sp>
        <p:nvSpPr>
          <p:cNvPr id="30" name="">
            <a:extLst xmlns:a="http://schemas.openxmlformats.org/drawingml/2006/main">
              <a:ext uri="{FF2B5EF4-FFF2-40B4-BE49-F238E27FC236}">
                <a16:creationId xmlns:a16="http://schemas.microsoft.com/office/drawing/2014/main" id="{F4CB6F2F-1552-43E6-9C26-DD2FF45577E9}"/>
              </a:ext>
            </a:extLst>
          </p:cNvPr>
          <p:cNvSpPr>
            <a:spLocks xmlns:a="http://schemas.openxmlformats.org/drawingml/2006/main" noGrp="1"/>
          </p:cNvSpPr>
          <p:nvPr/>
        </p:nvSpPr>
        <p:spPr>
          <a:xfrm xmlns:a="http://schemas.openxmlformats.org/drawingml/2006/main">
            <a:off x="666750" y="7092950"/>
            <a:ext cx="2815167" cy="1235075"/>
          </a:xfrm>
          <a:prstGeom xmlns:a="http://schemas.openxmlformats.org/drawingml/2006/main" prst="rect">
            <a:avLst/>
          </a:prstGeom>
          <a:solidFill xmlns:a="http://schemas.openxmlformats.org/drawingml/2006/main">
            <a:srgbClr val="FFFFFF"/>
          </a:solidFill>
        </p:spPr>
      </p:sp>
      <p:sp>
        <p:nvSpPr>
          <p:cNvPr id="31" name="">
            <a:extLst xmlns:a="http://schemas.openxmlformats.org/drawingml/2006/main">
              <a:ext uri="{FF2B5EF4-FFF2-40B4-BE49-F238E27FC236}">
                <a16:creationId xmlns:a16="http://schemas.microsoft.com/office/drawing/2014/main" id="{E40D00B5-7FAE-4AB6-848F-0FC6464A2DF8}"/>
              </a:ext>
            </a:extLst>
          </p:cNvPr>
          <p:cNvSpPr>
            <a:spLocks xmlns:a="http://schemas.openxmlformats.org/drawingml/2006/main" noGrp="1"/>
          </p:cNvSpPr>
          <p:nvPr/>
        </p:nvSpPr>
        <p:spPr>
          <a:xfrm xmlns:a="http://schemas.openxmlformats.org/drawingml/2006/main">
            <a:off x="876300" y="7543800"/>
            <a:ext cx="24384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Trap entry</a:t>
            </a:r>
          </a:p>
        </p:txBody>
      </p:sp>
      <p:sp>
        <p:nvSpPr>
          <p:cNvPr id="32" name="">
            <a:extLst xmlns:a="http://schemas.openxmlformats.org/drawingml/2006/main">
              <a:ext uri="{FF2B5EF4-FFF2-40B4-BE49-F238E27FC236}">
                <a16:creationId xmlns:a16="http://schemas.microsoft.com/office/drawing/2014/main" id="{18B8DF0B-8212-4B90-8511-5B99B33FA66F}"/>
              </a:ext>
            </a:extLst>
          </p:cNvPr>
          <p:cNvSpPr>
            <a:spLocks xmlns:a="http://schemas.openxmlformats.org/drawingml/2006/main" noGrp="1"/>
          </p:cNvSpPr>
          <p:nvPr/>
        </p:nvSpPr>
        <p:spPr>
          <a:xfrm xmlns:a="http://schemas.openxmlformats.org/drawingml/2006/main">
            <a:off x="3481917" y="7092950"/>
            <a:ext cx="2963333" cy="1235075"/>
          </a:xfrm>
          <a:prstGeom xmlns:a="http://schemas.openxmlformats.org/drawingml/2006/main" prst="rect">
            <a:avLst/>
          </a:prstGeom>
          <a:solidFill xmlns:a="http://schemas.openxmlformats.org/drawingml/2006/main">
            <a:srgbClr val="FFFFFF"/>
          </a:solidFill>
        </p:spPr>
      </p:sp>
      <p:sp>
        <p:nvSpPr>
          <p:cNvPr id="33" name="">
            <a:extLst xmlns:a="http://schemas.openxmlformats.org/drawingml/2006/main">
              <a:ext uri="{FF2B5EF4-FFF2-40B4-BE49-F238E27FC236}">
                <a16:creationId xmlns:a16="http://schemas.microsoft.com/office/drawing/2014/main" id="{BD4E3D56-990A-4222-8C0B-657D915709E4}"/>
              </a:ext>
            </a:extLst>
          </p:cNvPr>
          <p:cNvSpPr>
            <a:spLocks xmlns:a="http://schemas.openxmlformats.org/drawingml/2006/main" noGrp="1"/>
          </p:cNvSpPr>
          <p:nvPr/>
        </p:nvSpPr>
        <p:spPr>
          <a:xfrm xmlns:a="http://schemas.openxmlformats.org/drawingml/2006/main">
            <a:off x="3695700" y="7543800"/>
            <a:ext cx="258127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cpu_irq_ack_i</a:t>
            </a:r>
          </a:p>
        </p:txBody>
      </p:sp>
      <p:sp>
        <p:nvSpPr>
          <p:cNvPr id="34" name="">
            <a:extLst xmlns:a="http://schemas.openxmlformats.org/drawingml/2006/main">
              <a:ext uri="{FF2B5EF4-FFF2-40B4-BE49-F238E27FC236}">
                <a16:creationId xmlns:a16="http://schemas.microsoft.com/office/drawing/2014/main" id="{8D53C1A0-4DEA-4DFA-A86C-B78F71A83C6D}"/>
              </a:ext>
            </a:extLst>
          </p:cNvPr>
          <p:cNvSpPr>
            <a:spLocks xmlns:a="http://schemas.openxmlformats.org/drawingml/2006/main" noGrp="1"/>
          </p:cNvSpPr>
          <p:nvPr/>
        </p:nvSpPr>
        <p:spPr>
          <a:xfrm xmlns:a="http://schemas.openxmlformats.org/drawingml/2006/main">
            <a:off x="6445250" y="7092950"/>
            <a:ext cx="4889500" cy="1235075"/>
          </a:xfrm>
          <a:prstGeom xmlns:a="http://schemas.openxmlformats.org/drawingml/2006/main" prst="rect">
            <a:avLst/>
          </a:prstGeom>
          <a:solidFill xmlns:a="http://schemas.openxmlformats.org/drawingml/2006/main">
            <a:srgbClr val="FFFFFF"/>
          </a:solidFill>
        </p:spPr>
      </p:sp>
      <p:sp>
        <p:nvSpPr>
          <p:cNvPr id="35" name="">
            <a:extLst xmlns:a="http://schemas.openxmlformats.org/drawingml/2006/main">
              <a:ext uri="{FF2B5EF4-FFF2-40B4-BE49-F238E27FC236}">
                <a16:creationId xmlns:a16="http://schemas.microsoft.com/office/drawing/2014/main" id="{720E7626-B3A2-4D99-ACA5-B1A87DCBC0BA}"/>
              </a:ext>
            </a:extLst>
          </p:cNvPr>
          <p:cNvSpPr>
            <a:spLocks xmlns:a="http://schemas.openxmlformats.org/drawingml/2006/main" noGrp="1"/>
          </p:cNvSpPr>
          <p:nvPr/>
        </p:nvSpPr>
        <p:spPr>
          <a:xfrm xmlns:a="http://schemas.openxmlformats.org/drawingml/2006/main">
            <a:off x="6657975" y="7543800"/>
            <a:ext cx="450532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One-cycle claim</a:t>
            </a:r>
          </a:p>
        </p:txBody>
      </p:sp>
      <p:sp>
        <p:nvSpPr>
          <p:cNvPr id="36" name="">
            <a:extLst xmlns:a="http://schemas.openxmlformats.org/drawingml/2006/main">
              <a:ext uri="{FF2B5EF4-FFF2-40B4-BE49-F238E27FC236}">
                <a16:creationId xmlns:a16="http://schemas.microsoft.com/office/drawing/2014/main" id="{B6F279BF-CF8B-4887-8853-EFA6BF410139}"/>
              </a:ext>
            </a:extLst>
          </p:cNvPr>
          <p:cNvSpPr>
            <a:spLocks xmlns:a="http://schemas.openxmlformats.org/drawingml/2006/main" noGrp="1"/>
          </p:cNvSpPr>
          <p:nvPr/>
        </p:nvSpPr>
        <p:spPr>
          <a:xfrm xmlns:a="http://schemas.openxmlformats.org/drawingml/2006/main">
            <a:off x="666750" y="8385175"/>
            <a:ext cx="2815167" cy="1235075"/>
          </a:xfrm>
          <a:prstGeom xmlns:a="http://schemas.openxmlformats.org/drawingml/2006/main" prst="rect">
            <a:avLst/>
          </a:prstGeom>
          <a:solidFill xmlns:a="http://schemas.openxmlformats.org/drawingml/2006/main">
            <a:srgbClr val="F5F9F9"/>
          </a:solidFill>
        </p:spPr>
      </p:sp>
      <p:sp>
        <p:nvSpPr>
          <p:cNvPr id="37" name="">
            <a:extLst xmlns:a="http://schemas.openxmlformats.org/drawingml/2006/main">
              <a:ext uri="{FF2B5EF4-FFF2-40B4-BE49-F238E27FC236}">
                <a16:creationId xmlns:a16="http://schemas.microsoft.com/office/drawing/2014/main" id="{825C7CF6-2DBD-4BA5-8666-EB76EDE3E02A}"/>
              </a:ext>
            </a:extLst>
          </p:cNvPr>
          <p:cNvSpPr>
            <a:spLocks xmlns:a="http://schemas.openxmlformats.org/drawingml/2006/main" noGrp="1"/>
          </p:cNvSpPr>
          <p:nvPr/>
        </p:nvSpPr>
        <p:spPr>
          <a:xfrm xmlns:a="http://schemas.openxmlformats.org/drawingml/2006/main">
            <a:off x="876300" y="8839200"/>
            <a:ext cx="2438400"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1">
                <a:solidFill>
                  <a:srgbClr val="006B75"/>
                </a:solidFill>
              </a:defRPr>
            </a:pPr>
            <a:r>
              <a:rPr sz="2175" b="1">
                <a:solidFill>
                  <a:srgbClr val="006B75"/>
                </a:solidFill>
              </a:rPr>
              <a:t>MRET</a:t>
            </a:r>
          </a:p>
        </p:txBody>
      </p:sp>
      <p:sp>
        <p:nvSpPr>
          <p:cNvPr id="38" name="">
            <a:extLst xmlns:a="http://schemas.openxmlformats.org/drawingml/2006/main">
              <a:ext uri="{FF2B5EF4-FFF2-40B4-BE49-F238E27FC236}">
                <a16:creationId xmlns:a16="http://schemas.microsoft.com/office/drawing/2014/main" id="{AA6F8BDD-6892-44BA-899B-1F51F804C32B}"/>
              </a:ext>
            </a:extLst>
          </p:cNvPr>
          <p:cNvSpPr>
            <a:spLocks xmlns:a="http://schemas.openxmlformats.org/drawingml/2006/main" noGrp="1"/>
          </p:cNvSpPr>
          <p:nvPr/>
        </p:nvSpPr>
        <p:spPr>
          <a:xfrm xmlns:a="http://schemas.openxmlformats.org/drawingml/2006/main">
            <a:off x="3481917" y="8385175"/>
            <a:ext cx="2963333" cy="1235075"/>
          </a:xfrm>
          <a:prstGeom xmlns:a="http://schemas.openxmlformats.org/drawingml/2006/main" prst="rect">
            <a:avLst/>
          </a:prstGeom>
          <a:solidFill xmlns:a="http://schemas.openxmlformats.org/drawingml/2006/main">
            <a:srgbClr val="F5F9F9"/>
          </a:solidFill>
        </p:spPr>
      </p:sp>
      <p:sp>
        <p:nvSpPr>
          <p:cNvPr id="39" name="">
            <a:extLst xmlns:a="http://schemas.openxmlformats.org/drawingml/2006/main">
              <a:ext uri="{FF2B5EF4-FFF2-40B4-BE49-F238E27FC236}">
                <a16:creationId xmlns:a16="http://schemas.microsoft.com/office/drawing/2014/main" id="{13911D66-DC2D-4122-B494-098B165E802E}"/>
              </a:ext>
            </a:extLst>
          </p:cNvPr>
          <p:cNvSpPr>
            <a:spLocks xmlns:a="http://schemas.openxmlformats.org/drawingml/2006/main" noGrp="1"/>
          </p:cNvSpPr>
          <p:nvPr/>
        </p:nvSpPr>
        <p:spPr>
          <a:xfrm xmlns:a="http://schemas.openxmlformats.org/drawingml/2006/main">
            <a:off x="3695700" y="8839200"/>
            <a:ext cx="258127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cpu_irq_eoi_i</a:t>
            </a:r>
          </a:p>
        </p:txBody>
      </p:sp>
      <p:sp>
        <p:nvSpPr>
          <p:cNvPr id="40" name="">
            <a:extLst xmlns:a="http://schemas.openxmlformats.org/drawingml/2006/main">
              <a:ext uri="{FF2B5EF4-FFF2-40B4-BE49-F238E27FC236}">
                <a16:creationId xmlns:a16="http://schemas.microsoft.com/office/drawing/2014/main" id="{4D291230-1CC9-482F-8855-18B3E58F60D0}"/>
              </a:ext>
            </a:extLst>
          </p:cNvPr>
          <p:cNvSpPr>
            <a:spLocks xmlns:a="http://schemas.openxmlformats.org/drawingml/2006/main" noGrp="1"/>
          </p:cNvSpPr>
          <p:nvPr/>
        </p:nvSpPr>
        <p:spPr>
          <a:xfrm xmlns:a="http://schemas.openxmlformats.org/drawingml/2006/main">
            <a:off x="6445250" y="8385175"/>
            <a:ext cx="4889500" cy="1235075"/>
          </a:xfrm>
          <a:prstGeom xmlns:a="http://schemas.openxmlformats.org/drawingml/2006/main" prst="rect">
            <a:avLst/>
          </a:prstGeom>
          <a:solidFill xmlns:a="http://schemas.openxmlformats.org/drawingml/2006/main">
            <a:srgbClr val="F5F9F9"/>
          </a:solidFill>
        </p:spPr>
      </p:sp>
      <p:sp>
        <p:nvSpPr>
          <p:cNvPr id="41" name="">
            <a:extLst xmlns:a="http://schemas.openxmlformats.org/drawingml/2006/main">
              <a:ext uri="{FF2B5EF4-FFF2-40B4-BE49-F238E27FC236}">
                <a16:creationId xmlns:a16="http://schemas.microsoft.com/office/drawing/2014/main" id="{6D6AD535-5A4B-4F6F-99E0-0BC3CE5B6F71}"/>
              </a:ext>
            </a:extLst>
          </p:cNvPr>
          <p:cNvSpPr>
            <a:spLocks xmlns:a="http://schemas.openxmlformats.org/drawingml/2006/main" noGrp="1"/>
          </p:cNvSpPr>
          <p:nvPr/>
        </p:nvSpPr>
        <p:spPr>
          <a:xfrm xmlns:a="http://schemas.openxmlformats.org/drawingml/2006/main">
            <a:off x="6657975" y="8839200"/>
            <a:ext cx="450532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EOI only after an interrupt</a:t>
            </a:r>
          </a:p>
        </p:txBody>
      </p:sp>
      <p:pic>
        <p:nvPicPr>
          <p:cNvPr id="42" name="asset-figures/cpu_software"/>
          <p:cNvPicPr>
            <a:picLocks xmlns:a="http://schemas.openxmlformats.org/drawingml/2006/main" noChangeAspect="1"/>
          </p:cNvPicPr>
          <p:nvPr/>
        </p:nvPicPr>
        <p:blipFill>
          <a:blip xmlns:r="http://schemas.openxmlformats.org/officeDocument/2006/relationships" xmlns:a="http://schemas.openxmlformats.org/drawingml/2006/main" r:embed="Rbf16fc2e784943dd">
            <a:extLst>
              <a:ext uri="{96DAC541-7B7A-43D3-8B79-37D633B846F1}">
                <asvg:svgBlip xmlns:asvg="http://schemas.microsoft.com/office/drawing/2016/SVG/main" r:embed="Rd7b4b64d63b2497f"/>
              </a:ext>
            </a:extLst>
          </a:blip>
          <a:stretch xmlns:a="http://schemas.openxmlformats.org/drawingml/2006/main"/>
        </p:blipFill>
        <p:spPr>
          <a:xfrm xmlns:a="http://schemas.openxmlformats.org/drawingml/2006/main">
            <a:off x="11906250" y="1600200"/>
            <a:ext cx="5715000" cy="7847463"/>
          </a:xfrm>
          <a:prstGeom xmlns:a="http://schemas.openxmlformats.org/drawingml/2006/main" prst="rect">
            <a:avLst/>
          </a:prstGeom>
        </p:spPr>
      </p:pic>
      <p:sp>
        <p:nvSpPr>
          <p:cNvPr id="43" name="footer">
            <a:extLst xmlns:a="http://schemas.openxmlformats.org/drawingml/2006/main">
              <a:ext uri="{FF2B5EF4-FFF2-40B4-BE49-F238E27FC236}">
                <a16:creationId xmlns:a16="http://schemas.microsoft.com/office/drawing/2014/main" id="{FA043FCE-FDFB-439D-A8AF-2CE7B873CA4E}"/>
              </a:ext>
            </a:extLst>
          </p:cNvPr>
          <p:cNvSpPr>
            <a:spLocks xmlns:a="http://schemas.openxmlformats.org/drawingml/2006/main" noGrp="1"/>
          </p:cNvSpPr>
          <p:nvPr/>
        </p:nvSpPr>
        <p:spPr>
          <a:xfrm xmlns:a="http://schemas.openxmlformats.org/drawingml/2006/main">
            <a:off x="666750" y="977265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05 / 08   ·   Software interface</a:t>
            </a:r>
          </a:p>
        </p:txBody>
      </p:sp>
    </p:spTree>
    <p:extLst>
      <p:ext uri="{BB962C8B-B14F-4D97-AF65-F5344CB8AC3E}">
        <p14:creationId xmlns:p14="http://schemas.microsoft.com/office/powerpoint/2010/main" val="88540109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5247F2A7-1F8E-40BC-B7C6-435A0283C646}"/>
              </a:ext>
            </a:extLst>
          </p:cNvPr>
          <p:cNvSpPr>
            <a:spLocks xmlns:a="http://schemas.openxmlformats.org/drawingml/2006/main" noGrp="1"/>
          </p:cNvSpPr>
          <p:nvPr/>
        </p:nvSpPr>
        <p:spPr>
          <a:xfrm xmlns:a="http://schemas.openxmlformats.org/drawingml/2006/main">
            <a:off x="666750" y="419100"/>
            <a:ext cx="169545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73442"/>
                </a:solidFill>
              </a:defRPr>
            </a:pPr>
            <a:r>
              <a:rPr sz="3750" b="1">
                <a:solidFill>
                  <a:srgbClr val="173442"/>
                </a:solidFill>
              </a:rPr>
              <a:t>The environment checks results, bus protocol and its own tests</a:t>
            </a:r>
          </a:p>
        </p:txBody>
      </p:sp>
      <p:sp>
        <p:nvSpPr>
          <p:cNvPr id="2" name="">
            <a:extLst xmlns:a="http://schemas.openxmlformats.org/drawingml/2006/main">
              <a:ext uri="{FF2B5EF4-FFF2-40B4-BE49-F238E27FC236}">
                <a16:creationId xmlns:a16="http://schemas.microsoft.com/office/drawing/2014/main" id="{5F9702C3-6F52-44CD-91C6-1A0D74CD7CAC}"/>
              </a:ext>
            </a:extLst>
          </p:cNvPr>
          <p:cNvSpPr>
            <a:spLocks xmlns:a="http://schemas.openxmlformats.org/drawingml/2006/main" noGrp="1"/>
          </p:cNvSpPr>
          <p:nvPr/>
        </p:nvSpPr>
        <p:spPr>
          <a:xfrm xmlns:a="http://schemas.openxmlformats.org/drawingml/2006/main">
            <a:off x="666750" y="11239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pic>
        <p:nvPicPr>
          <p:cNvPr id="3" name="asset-figures/cpu_verification"/>
          <p:cNvPicPr>
            <a:picLocks xmlns:a="http://schemas.openxmlformats.org/drawingml/2006/main" noChangeAspect="1"/>
          </p:cNvPicPr>
          <p:nvPr/>
        </p:nvPicPr>
        <p:blipFill>
          <a:blip xmlns:r="http://schemas.openxmlformats.org/officeDocument/2006/relationships" xmlns:a="http://schemas.openxmlformats.org/drawingml/2006/main" r:embed="Ra4ea5a018ba84ee9">
            <a:extLst>
              <a:ext uri="{96DAC541-7B7A-43D3-8B79-37D633B846F1}">
                <asvg:svgBlip xmlns:asvg="http://schemas.microsoft.com/office/drawing/2016/SVG/main" r:embed="Rb96e98b5284b4d08"/>
              </a:ext>
            </a:extLst>
          </a:blip>
          <a:stretch xmlns:a="http://schemas.openxmlformats.org/drawingml/2006/main"/>
        </p:blipFill>
        <p:spPr>
          <a:xfrm xmlns:a="http://schemas.openxmlformats.org/drawingml/2006/main">
            <a:off x="2909455" y="1428750"/>
            <a:ext cx="12469091" cy="5143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56EAFDE-3471-472D-AFB7-2D9B8F77BA36}"/>
              </a:ext>
            </a:extLst>
          </p:cNvPr>
          <p:cNvSpPr>
            <a:spLocks xmlns:a="http://schemas.openxmlformats.org/drawingml/2006/main" noGrp="1"/>
          </p:cNvSpPr>
          <p:nvPr/>
        </p:nvSpPr>
        <p:spPr>
          <a:xfrm xmlns:a="http://schemas.openxmlformats.org/drawingml/2006/main">
            <a:off x="666750" y="6781800"/>
            <a:ext cx="5473700" cy="2430780"/>
          </a:xfrm>
          <a:prstGeom xmlns:a="http://schemas.openxmlformats.org/drawingml/2006/main" prst="roundRect">
            <a:avLst>
              <a:gd name="adj" fmla="val 4702"/>
            </a:avLst>
          </a:prstGeom>
          <a:solidFill xmlns:a="http://schemas.openxmlformats.org/drawingml/2006/main">
            <a:srgbClr val="EEF5F5"/>
          </a:solidFill>
        </p:spPr>
      </p:sp>
      <p:sp>
        <p:nvSpPr>
          <p:cNvPr id="5" name="">
            <a:extLst xmlns:a="http://schemas.openxmlformats.org/drawingml/2006/main">
              <a:ext uri="{FF2B5EF4-FFF2-40B4-BE49-F238E27FC236}">
                <a16:creationId xmlns:a16="http://schemas.microsoft.com/office/drawing/2014/main" id="{2A0BD10C-B573-47AC-82CB-55AE72D1BC63}"/>
              </a:ext>
            </a:extLst>
          </p:cNvPr>
          <p:cNvSpPr>
            <a:spLocks xmlns:a="http://schemas.openxmlformats.org/drawingml/2006/main" noGrp="1"/>
          </p:cNvSpPr>
          <p:nvPr/>
        </p:nvSpPr>
        <p:spPr>
          <a:xfrm xmlns:a="http://schemas.openxmlformats.org/drawingml/2006/main">
            <a:off x="990600" y="7600950"/>
            <a:ext cx="4829175"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Independent model</a:t>
            </a:r>
          </a:p>
        </p:txBody>
      </p:sp>
      <p:sp>
        <p:nvSpPr>
          <p:cNvPr id="6" name="">
            <a:extLst xmlns:a="http://schemas.openxmlformats.org/drawingml/2006/main">
              <a:ext uri="{FF2B5EF4-FFF2-40B4-BE49-F238E27FC236}">
                <a16:creationId xmlns:a16="http://schemas.microsoft.com/office/drawing/2014/main" id="{1120B59B-8CC7-49DB-9CBD-6E4AAD8BD9A6}"/>
              </a:ext>
            </a:extLst>
          </p:cNvPr>
          <p:cNvSpPr>
            <a:spLocks xmlns:a="http://schemas.openxmlformats.org/drawingml/2006/main" noGrp="1"/>
          </p:cNvSpPr>
          <p:nvPr/>
        </p:nvSpPr>
        <p:spPr>
          <a:xfrm xmlns:a="http://schemas.openxmlformats.org/drawingml/2006/main">
            <a:off x="990600" y="8077200"/>
            <a:ext cx="482917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1,287 instructions compared step by step</a:t>
            </a:r>
          </a:p>
        </p:txBody>
      </p:sp>
      <p:sp>
        <p:nvSpPr>
          <p:cNvPr id="7" name="">
            <a:extLst xmlns:a="http://schemas.openxmlformats.org/drawingml/2006/main">
              <a:ext uri="{FF2B5EF4-FFF2-40B4-BE49-F238E27FC236}">
                <a16:creationId xmlns:a16="http://schemas.microsoft.com/office/drawing/2014/main" id="{2DE0454A-D136-4D6A-A96D-9EEE7F36AD90}"/>
              </a:ext>
            </a:extLst>
          </p:cNvPr>
          <p:cNvSpPr>
            <a:spLocks xmlns:a="http://schemas.openxmlformats.org/drawingml/2006/main" noGrp="1"/>
          </p:cNvSpPr>
          <p:nvPr/>
        </p:nvSpPr>
        <p:spPr>
          <a:xfrm xmlns:a="http://schemas.openxmlformats.org/drawingml/2006/main">
            <a:off x="6407150" y="6781800"/>
            <a:ext cx="5473700" cy="2430780"/>
          </a:xfrm>
          <a:prstGeom xmlns:a="http://schemas.openxmlformats.org/drawingml/2006/main" prst="roundRect">
            <a:avLst>
              <a:gd name="adj" fmla="val 4702"/>
            </a:avLst>
          </a:prstGeom>
          <a:solidFill xmlns:a="http://schemas.openxmlformats.org/drawingml/2006/main">
            <a:srgbClr val="EEF5F5"/>
          </a:solidFill>
        </p:spPr>
      </p:sp>
      <p:sp>
        <p:nvSpPr>
          <p:cNvPr id="8" name="">
            <a:extLst xmlns:a="http://schemas.openxmlformats.org/drawingml/2006/main">
              <a:ext uri="{FF2B5EF4-FFF2-40B4-BE49-F238E27FC236}">
                <a16:creationId xmlns:a16="http://schemas.microsoft.com/office/drawing/2014/main" id="{320B9855-4340-4DB9-9CBB-0E7FA5783694}"/>
              </a:ext>
            </a:extLst>
          </p:cNvPr>
          <p:cNvSpPr>
            <a:spLocks xmlns:a="http://schemas.openxmlformats.org/drawingml/2006/main" noGrp="1"/>
          </p:cNvSpPr>
          <p:nvPr/>
        </p:nvSpPr>
        <p:spPr>
          <a:xfrm xmlns:a="http://schemas.openxmlformats.org/drawingml/2006/main">
            <a:off x="6734175" y="7600950"/>
            <a:ext cx="4829175"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Latency and backpressure</a:t>
            </a:r>
          </a:p>
        </p:txBody>
      </p:sp>
      <p:sp>
        <p:nvSpPr>
          <p:cNvPr id="9" name="">
            <a:extLst xmlns:a="http://schemas.openxmlformats.org/drawingml/2006/main">
              <a:ext uri="{FF2B5EF4-FFF2-40B4-BE49-F238E27FC236}">
                <a16:creationId xmlns:a16="http://schemas.microsoft.com/office/drawing/2014/main" id="{14C68059-5E04-4885-9602-5D7AD1A930F6}"/>
              </a:ext>
            </a:extLst>
          </p:cNvPr>
          <p:cNvSpPr>
            <a:spLocks xmlns:a="http://schemas.openxmlformats.org/drawingml/2006/main" noGrp="1"/>
          </p:cNvSpPr>
          <p:nvPr/>
        </p:nvSpPr>
        <p:spPr>
          <a:xfrm xmlns:a="http://schemas.openxmlformats.org/drawingml/2006/main">
            <a:off x="6734175" y="8077200"/>
            <a:ext cx="4829175" cy="33337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Memories delay replies and stall channels</a:t>
            </a:r>
          </a:p>
        </p:txBody>
      </p:sp>
      <p:sp>
        <p:nvSpPr>
          <p:cNvPr id="10" name="">
            <a:extLst xmlns:a="http://schemas.openxmlformats.org/drawingml/2006/main">
              <a:ext uri="{FF2B5EF4-FFF2-40B4-BE49-F238E27FC236}">
                <a16:creationId xmlns:a16="http://schemas.microsoft.com/office/drawing/2014/main" id="{B12250B7-CA79-4C07-949C-EFD2955F35C8}"/>
              </a:ext>
            </a:extLst>
          </p:cNvPr>
          <p:cNvSpPr>
            <a:spLocks xmlns:a="http://schemas.openxmlformats.org/drawingml/2006/main" noGrp="1"/>
          </p:cNvSpPr>
          <p:nvPr/>
        </p:nvSpPr>
        <p:spPr>
          <a:xfrm xmlns:a="http://schemas.openxmlformats.org/drawingml/2006/main">
            <a:off x="12147550" y="6781800"/>
            <a:ext cx="5473700" cy="2430780"/>
          </a:xfrm>
          <a:prstGeom xmlns:a="http://schemas.openxmlformats.org/drawingml/2006/main" prst="roundRect">
            <a:avLst>
              <a:gd name="adj" fmla="val 4702"/>
            </a:avLst>
          </a:prstGeom>
          <a:solidFill xmlns:a="http://schemas.openxmlformats.org/drawingml/2006/main">
            <a:srgbClr val="EEF5F5"/>
          </a:solidFill>
        </p:spPr>
      </p:sp>
      <p:sp>
        <p:nvSpPr>
          <p:cNvPr id="11" name="">
            <a:extLst xmlns:a="http://schemas.openxmlformats.org/drawingml/2006/main">
              <a:ext uri="{FF2B5EF4-FFF2-40B4-BE49-F238E27FC236}">
                <a16:creationId xmlns:a16="http://schemas.microsoft.com/office/drawing/2014/main" id="{A86EEA74-2614-4406-B4A9-0BA37B5CF288}"/>
              </a:ext>
            </a:extLst>
          </p:cNvPr>
          <p:cNvSpPr>
            <a:spLocks xmlns:a="http://schemas.openxmlformats.org/drawingml/2006/main" noGrp="1"/>
          </p:cNvSpPr>
          <p:nvPr/>
        </p:nvSpPr>
        <p:spPr>
          <a:xfrm xmlns:a="http://schemas.openxmlformats.org/drawingml/2006/main">
            <a:off x="12468225" y="7429500"/>
            <a:ext cx="4829175" cy="381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475" b="1">
                <a:solidFill>
                  <a:srgbClr val="006B75"/>
                </a:solidFill>
              </a:defRPr>
            </a:pPr>
            <a:r>
              <a:rPr sz="2475" b="1">
                <a:solidFill>
                  <a:srgbClr val="006B75"/>
                </a:solidFill>
              </a:rPr>
              <a:t>Mutation suite</a:t>
            </a:r>
          </a:p>
        </p:txBody>
      </p:sp>
      <p:sp>
        <p:nvSpPr>
          <p:cNvPr id="12" name="">
            <a:extLst xmlns:a="http://schemas.openxmlformats.org/drawingml/2006/main">
              <a:ext uri="{FF2B5EF4-FFF2-40B4-BE49-F238E27FC236}">
                <a16:creationId xmlns:a16="http://schemas.microsoft.com/office/drawing/2014/main" id="{09ECAA5F-9E88-4CFE-A59E-6EE66DB42390}"/>
              </a:ext>
            </a:extLst>
          </p:cNvPr>
          <p:cNvSpPr>
            <a:spLocks xmlns:a="http://schemas.openxmlformats.org/drawingml/2006/main" noGrp="1"/>
          </p:cNvSpPr>
          <p:nvPr/>
        </p:nvSpPr>
        <p:spPr>
          <a:xfrm xmlns:a="http://schemas.openxmlformats.org/drawingml/2006/main">
            <a:off x="12468225" y="7905750"/>
            <a:ext cx="4829175"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75" b="0">
                <a:solidFill>
                  <a:srgbClr val="173442"/>
                </a:solidFill>
              </a:defRPr>
            </a:pPr>
            <a:r>
              <a:rPr sz="2175" b="0">
                <a:solidFill>
                  <a:srgbClr val="173442"/>
                </a:solidFill>
              </a:rPr>
              <a:t>16 injected RTL defects; each makes a named bench fail</a:t>
            </a:r>
          </a:p>
        </p:txBody>
      </p:sp>
      <p:sp>
        <p:nvSpPr>
          <p:cNvPr id="13" name="">
            <a:extLst xmlns:a="http://schemas.openxmlformats.org/drawingml/2006/main">
              <a:ext uri="{FF2B5EF4-FFF2-40B4-BE49-F238E27FC236}">
                <a16:creationId xmlns:a16="http://schemas.microsoft.com/office/drawing/2014/main" id="{65A6AB4B-B7C3-45AF-9EBB-27F89FA81465}"/>
              </a:ext>
            </a:extLst>
          </p:cNvPr>
          <p:cNvSpPr>
            <a:spLocks xmlns:a="http://schemas.openxmlformats.org/drawingml/2006/main" noGrp="1"/>
          </p:cNvSpPr>
          <p:nvPr/>
        </p:nvSpPr>
        <p:spPr>
          <a:xfrm xmlns:a="http://schemas.openxmlformats.org/drawingml/2006/main">
            <a:off x="666750" y="9344025"/>
            <a:ext cx="16954500" cy="2762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0">
                <a:solidFill>
                  <a:srgbClr val="526772"/>
                </a:solidFill>
              </a:defRPr>
            </a:pPr>
            <a:r>
              <a:rPr sz="1800" b="0">
                <a:solidFill>
                  <a:srgbClr val="526772"/>
                </a:solidFill>
              </a:rPr>
              <a:t>ModelSim: 22 CPU/PIC configurations   ·   Verilator: 16 benches with assertions bound to the RTL</a:t>
            </a:r>
          </a:p>
        </p:txBody>
      </p:sp>
      <p:sp>
        <p:nvSpPr>
          <p:cNvPr id="14" name="footer">
            <a:extLst xmlns:a="http://schemas.openxmlformats.org/drawingml/2006/main">
              <a:ext uri="{FF2B5EF4-FFF2-40B4-BE49-F238E27FC236}">
                <a16:creationId xmlns:a16="http://schemas.microsoft.com/office/drawing/2014/main" id="{44DAE41A-C2A7-466F-B63A-39CDDC1F8803}"/>
              </a:ext>
            </a:extLst>
          </p:cNvPr>
          <p:cNvSpPr>
            <a:spLocks xmlns:a="http://schemas.openxmlformats.org/drawingml/2006/main" noGrp="1"/>
          </p:cNvSpPr>
          <p:nvPr/>
        </p:nvSpPr>
        <p:spPr>
          <a:xfrm xmlns:a="http://schemas.openxmlformats.org/drawingml/2006/main">
            <a:off x="666750" y="977265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06 / 08   ·   Verification</a:t>
            </a:r>
          </a:p>
        </p:txBody>
      </p:sp>
    </p:spTree>
    <p:extLst>
      <p:ext uri="{BB962C8B-B14F-4D97-AF65-F5344CB8AC3E}">
        <p14:creationId xmlns:p14="http://schemas.microsoft.com/office/powerpoint/2010/main" val="164065403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7D040B22-64FC-4AB1-9289-D4CB9127EF8B}"/>
              </a:ext>
            </a:extLst>
          </p:cNvPr>
          <p:cNvSpPr>
            <a:spLocks xmlns:a="http://schemas.openxmlformats.org/drawingml/2006/main" noGrp="1"/>
          </p:cNvSpPr>
          <p:nvPr/>
        </p:nvSpPr>
        <p:spPr>
          <a:xfrm xmlns:a="http://schemas.openxmlformats.org/drawingml/2006/main">
            <a:off x="666750" y="419100"/>
            <a:ext cx="169545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73442"/>
                </a:solidFill>
              </a:defRPr>
            </a:pPr>
            <a:r>
              <a:rPr sz="3750" b="1">
                <a:solidFill>
                  <a:srgbClr val="173442"/>
                </a:solidFill>
              </a:rPr>
              <a:t>The IRQ waits for the load to finish before the claim</a:t>
            </a:r>
          </a:p>
        </p:txBody>
      </p:sp>
      <p:sp>
        <p:nvSpPr>
          <p:cNvPr id="2" name="">
            <a:extLst xmlns:a="http://schemas.openxmlformats.org/drawingml/2006/main">
              <a:ext uri="{FF2B5EF4-FFF2-40B4-BE49-F238E27FC236}">
                <a16:creationId xmlns:a16="http://schemas.microsoft.com/office/drawing/2014/main" id="{CD267B1F-28AD-4C42-8BA1-8E86875E0B00}"/>
              </a:ext>
            </a:extLst>
          </p:cNvPr>
          <p:cNvSpPr>
            <a:spLocks xmlns:a="http://schemas.openxmlformats.org/drawingml/2006/main" noGrp="1"/>
          </p:cNvSpPr>
          <p:nvPr/>
        </p:nvSpPr>
        <p:spPr>
          <a:xfrm xmlns:a="http://schemas.openxmlformats.org/drawingml/2006/main">
            <a:off x="666750" y="11239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pic>
        <p:nvPicPr>
          <p:cNvPr id="3" name="asset-waves/cpu_irq"/>
          <p:cNvPicPr>
            <a:picLocks xmlns:a="http://schemas.openxmlformats.org/drawingml/2006/main" noChangeAspect="1"/>
          </p:cNvPicPr>
          <p:nvPr/>
        </p:nvPicPr>
        <p:blipFill>
          <a:blip xmlns:r="http://schemas.openxmlformats.org/officeDocument/2006/relationships" xmlns:a="http://schemas.openxmlformats.org/drawingml/2006/main" r:embed="R31991bd572754057">
            <a:extLst>
              <a:ext uri="{96DAC541-7B7A-43D3-8B79-37D633B846F1}">
                <asvg:svgBlip xmlns:asvg="http://schemas.microsoft.com/office/drawing/2016/SVG/main" r:embed="R40cb9a4dd21e405f"/>
              </a:ext>
            </a:extLst>
          </a:blip>
          <a:stretch xmlns:a="http://schemas.openxmlformats.org/drawingml/2006/main"/>
        </p:blipFill>
        <p:spPr>
          <a:xfrm xmlns:a="http://schemas.openxmlformats.org/drawingml/2006/main">
            <a:off x="1489830" y="1428750"/>
            <a:ext cx="15308341" cy="5334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3F9767B-2972-4E0C-AC7A-9738670AEE7D}"/>
              </a:ext>
            </a:extLst>
          </p:cNvPr>
          <p:cNvSpPr>
            <a:spLocks xmlns:a="http://schemas.openxmlformats.org/drawingml/2006/main" noGrp="1"/>
          </p:cNvSpPr>
          <p:nvPr/>
        </p:nvSpPr>
        <p:spPr>
          <a:xfrm xmlns:a="http://schemas.openxmlformats.org/drawingml/2006/main">
            <a:off x="666750" y="6953250"/>
            <a:ext cx="5473700" cy="2289810"/>
          </a:xfrm>
          <a:prstGeom xmlns:a="http://schemas.openxmlformats.org/drawingml/2006/main" prst="roundRect">
            <a:avLst>
              <a:gd name="adj" fmla="val 4992"/>
            </a:avLst>
          </a:prstGeom>
          <a:solidFill xmlns:a="http://schemas.openxmlformats.org/drawingml/2006/main">
            <a:srgbClr val="EEF5F5"/>
          </a:solidFill>
        </p:spPr>
      </p:sp>
      <p:sp>
        <p:nvSpPr>
          <p:cNvPr id="5" name="">
            <a:extLst xmlns:a="http://schemas.openxmlformats.org/drawingml/2006/main">
              <a:ext uri="{FF2B5EF4-FFF2-40B4-BE49-F238E27FC236}">
                <a16:creationId xmlns:a16="http://schemas.microsoft.com/office/drawing/2014/main" id="{B3BC8EB9-163D-4824-A9E8-9F55F1891285}"/>
              </a:ext>
            </a:extLst>
          </p:cNvPr>
          <p:cNvSpPr>
            <a:spLocks xmlns:a="http://schemas.openxmlformats.org/drawingml/2006/main" noGrp="1"/>
          </p:cNvSpPr>
          <p:nvPr/>
        </p:nvSpPr>
        <p:spPr>
          <a:xfrm xmlns:a="http://schemas.openxmlformats.org/drawingml/2006/main">
            <a:off x="990600" y="7677150"/>
            <a:ext cx="4829175"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A35B17"/>
                </a:solidFill>
              </a:defRPr>
            </a:pPr>
            <a:r>
              <a:rPr sz="2550" b="1">
                <a:solidFill>
                  <a:srgbClr val="A35B17"/>
                </a:solidFill>
              </a:rPr>
              <a:t>1 · New IRQ</a:t>
            </a:r>
          </a:p>
        </p:txBody>
      </p:sp>
      <p:sp>
        <p:nvSpPr>
          <p:cNvPr id="6" name="">
            <a:extLst xmlns:a="http://schemas.openxmlformats.org/drawingml/2006/main">
              <a:ext uri="{FF2B5EF4-FFF2-40B4-BE49-F238E27FC236}">
                <a16:creationId xmlns:a16="http://schemas.microsoft.com/office/drawing/2014/main" id="{A5C56EFE-432A-4953-A34A-0A4C1B3A2736}"/>
              </a:ext>
            </a:extLst>
          </p:cNvPr>
          <p:cNvSpPr>
            <a:spLocks xmlns:a="http://schemas.openxmlformats.org/drawingml/2006/main" noGrp="1"/>
          </p:cNvSpPr>
          <p:nvPr/>
        </p:nvSpPr>
        <p:spPr>
          <a:xfrm xmlns:a="http://schemas.openxmlformats.org/drawingml/2006/main">
            <a:off x="990600" y="8162925"/>
            <a:ext cx="4829175"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LSU busy → claim = 0</a:t>
            </a:r>
          </a:p>
        </p:txBody>
      </p:sp>
      <p:sp>
        <p:nvSpPr>
          <p:cNvPr id="7" name="">
            <a:extLst xmlns:a="http://schemas.openxmlformats.org/drawingml/2006/main">
              <a:ext uri="{FF2B5EF4-FFF2-40B4-BE49-F238E27FC236}">
                <a16:creationId xmlns:a16="http://schemas.microsoft.com/office/drawing/2014/main" id="{7EB62238-E392-4D75-97C9-FF3E17E67AE4}"/>
              </a:ext>
            </a:extLst>
          </p:cNvPr>
          <p:cNvSpPr>
            <a:spLocks xmlns:a="http://schemas.openxmlformats.org/drawingml/2006/main" noGrp="1"/>
          </p:cNvSpPr>
          <p:nvPr/>
        </p:nvSpPr>
        <p:spPr>
          <a:xfrm xmlns:a="http://schemas.openxmlformats.org/drawingml/2006/main">
            <a:off x="6407150" y="6953250"/>
            <a:ext cx="5473700" cy="2289810"/>
          </a:xfrm>
          <a:prstGeom xmlns:a="http://schemas.openxmlformats.org/drawingml/2006/main" prst="roundRect">
            <a:avLst>
              <a:gd name="adj" fmla="val 4992"/>
            </a:avLst>
          </a:prstGeom>
          <a:solidFill xmlns:a="http://schemas.openxmlformats.org/drawingml/2006/main">
            <a:srgbClr val="EEF5F5"/>
          </a:solidFill>
        </p:spPr>
      </p:sp>
      <p:sp>
        <p:nvSpPr>
          <p:cNvPr id="8" name="">
            <a:extLst xmlns:a="http://schemas.openxmlformats.org/drawingml/2006/main">
              <a:ext uri="{FF2B5EF4-FFF2-40B4-BE49-F238E27FC236}">
                <a16:creationId xmlns:a16="http://schemas.microsoft.com/office/drawing/2014/main" id="{6FBA0CE2-5BD8-41D1-A46B-141AA9D3AEFB}"/>
              </a:ext>
            </a:extLst>
          </p:cNvPr>
          <p:cNvSpPr>
            <a:spLocks xmlns:a="http://schemas.openxmlformats.org/drawingml/2006/main" noGrp="1"/>
          </p:cNvSpPr>
          <p:nvPr/>
        </p:nvSpPr>
        <p:spPr>
          <a:xfrm xmlns:a="http://schemas.openxmlformats.org/drawingml/2006/main">
            <a:off x="6734175" y="7677150"/>
            <a:ext cx="4829175"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A35B17"/>
                </a:solidFill>
              </a:defRPr>
            </a:pPr>
            <a:r>
              <a:rPr sz="2550" b="1">
                <a:solidFill>
                  <a:srgbClr val="A35B17"/>
                </a:solidFill>
              </a:rPr>
              <a:t>2 · R handshake</a:t>
            </a:r>
          </a:p>
        </p:txBody>
      </p:sp>
      <p:sp>
        <p:nvSpPr>
          <p:cNvPr id="9" name="">
            <a:extLst xmlns:a="http://schemas.openxmlformats.org/drawingml/2006/main">
              <a:ext uri="{FF2B5EF4-FFF2-40B4-BE49-F238E27FC236}">
                <a16:creationId xmlns:a16="http://schemas.microsoft.com/office/drawing/2014/main" id="{3395DC41-9668-46A4-AE4E-EE6567B9C788}"/>
              </a:ext>
            </a:extLst>
          </p:cNvPr>
          <p:cNvSpPr>
            <a:spLocks xmlns:a="http://schemas.openxmlformats.org/drawingml/2006/main" noGrp="1"/>
          </p:cNvSpPr>
          <p:nvPr/>
        </p:nvSpPr>
        <p:spPr>
          <a:xfrm xmlns:a="http://schemas.openxmlformats.org/drawingml/2006/main">
            <a:off x="6734175" y="8162925"/>
            <a:ext cx="4829175"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Load complete → S2 may advance</a:t>
            </a:r>
          </a:p>
        </p:txBody>
      </p:sp>
      <p:sp>
        <p:nvSpPr>
          <p:cNvPr id="10" name="">
            <a:extLst xmlns:a="http://schemas.openxmlformats.org/drawingml/2006/main">
              <a:ext uri="{FF2B5EF4-FFF2-40B4-BE49-F238E27FC236}">
                <a16:creationId xmlns:a16="http://schemas.microsoft.com/office/drawing/2014/main" id="{42EA6077-0EC6-4430-87E8-29592758CCE9}"/>
              </a:ext>
            </a:extLst>
          </p:cNvPr>
          <p:cNvSpPr>
            <a:spLocks xmlns:a="http://schemas.openxmlformats.org/drawingml/2006/main" noGrp="1"/>
          </p:cNvSpPr>
          <p:nvPr/>
        </p:nvSpPr>
        <p:spPr>
          <a:xfrm xmlns:a="http://schemas.openxmlformats.org/drawingml/2006/main">
            <a:off x="12147550" y="6953250"/>
            <a:ext cx="5473700" cy="2289810"/>
          </a:xfrm>
          <a:prstGeom xmlns:a="http://schemas.openxmlformats.org/drawingml/2006/main" prst="roundRect">
            <a:avLst>
              <a:gd name="adj" fmla="val 4992"/>
            </a:avLst>
          </a:prstGeom>
          <a:solidFill xmlns:a="http://schemas.openxmlformats.org/drawingml/2006/main">
            <a:srgbClr val="EEF5F5"/>
          </a:solidFill>
        </p:spPr>
      </p:sp>
      <p:sp>
        <p:nvSpPr>
          <p:cNvPr id="11" name="">
            <a:extLst xmlns:a="http://schemas.openxmlformats.org/drawingml/2006/main">
              <a:ext uri="{FF2B5EF4-FFF2-40B4-BE49-F238E27FC236}">
                <a16:creationId xmlns:a16="http://schemas.microsoft.com/office/drawing/2014/main" id="{6FF751A5-5AE2-499F-A8CB-7AE9F6DFBDA4}"/>
              </a:ext>
            </a:extLst>
          </p:cNvPr>
          <p:cNvSpPr>
            <a:spLocks xmlns:a="http://schemas.openxmlformats.org/drawingml/2006/main" noGrp="1"/>
          </p:cNvSpPr>
          <p:nvPr/>
        </p:nvSpPr>
        <p:spPr>
          <a:xfrm xmlns:a="http://schemas.openxmlformats.org/drawingml/2006/main">
            <a:off x="12468225" y="7677150"/>
            <a:ext cx="4829175" cy="390525"/>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550" b="1">
                <a:solidFill>
                  <a:srgbClr val="A35B17"/>
                </a:solidFill>
              </a:defRPr>
            </a:pPr>
            <a:r>
              <a:rPr sz="2550" b="1">
                <a:solidFill>
                  <a:srgbClr val="A35B17"/>
                </a:solidFill>
              </a:rPr>
              <a:t>3 · Claim</a:t>
            </a:r>
          </a:p>
        </p:txBody>
      </p:sp>
      <p:sp>
        <p:nvSpPr>
          <p:cNvPr id="12" name="">
            <a:extLst xmlns:a="http://schemas.openxmlformats.org/drawingml/2006/main">
              <a:ext uri="{FF2B5EF4-FFF2-40B4-BE49-F238E27FC236}">
                <a16:creationId xmlns:a16="http://schemas.microsoft.com/office/drawing/2014/main" id="{BA978095-ABF4-4E17-8C09-619F3C5D2DF6}"/>
              </a:ext>
            </a:extLst>
          </p:cNvPr>
          <p:cNvSpPr>
            <a:spLocks xmlns:a="http://schemas.openxmlformats.org/drawingml/2006/main" noGrp="1"/>
          </p:cNvSpPr>
          <p:nvPr/>
        </p:nvSpPr>
        <p:spPr>
          <a:xfrm xmlns:a="http://schemas.openxmlformats.org/drawingml/2006/main">
            <a:off x="12468225" y="8162925"/>
            <a:ext cx="4829175" cy="361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325" b="0">
                <a:solidFill>
                  <a:srgbClr val="173442"/>
                </a:solidFill>
              </a:defRPr>
            </a:pPr>
            <a:r>
              <a:rPr sz="2325" b="0">
                <a:solidFill>
                  <a:srgbClr val="173442"/>
                </a:solidFill>
              </a:rPr>
              <a:t>Trap entry; one-cycle pulse</a:t>
            </a:r>
          </a:p>
        </p:txBody>
      </p:sp>
      <p:sp>
        <p:nvSpPr>
          <p:cNvPr id="13" name="">
            <a:extLst xmlns:a="http://schemas.openxmlformats.org/drawingml/2006/main">
              <a:ext uri="{FF2B5EF4-FFF2-40B4-BE49-F238E27FC236}">
                <a16:creationId xmlns:a16="http://schemas.microsoft.com/office/drawing/2014/main" id="{08D68C4A-CA96-4E01-A4EC-2D41BC420273}"/>
              </a:ext>
            </a:extLst>
          </p:cNvPr>
          <p:cNvSpPr>
            <a:spLocks xmlns:a="http://schemas.openxmlformats.org/drawingml/2006/main" noGrp="1"/>
          </p:cNvSpPr>
          <p:nvPr/>
        </p:nvSpPr>
        <p:spPr>
          <a:xfrm xmlns:a="http://schemas.openxmlformats.org/drawingml/2006/main">
            <a:off x="666750" y="9353550"/>
            <a:ext cx="169545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b="0">
                <a:solidFill>
                  <a:srgbClr val="526772"/>
                </a:solidFill>
              </a:defRPr>
            </a:pPr>
            <a:r>
              <a:rPr sz="1725" b="0">
                <a:solidFill>
                  <a:srgbClr val="526772"/>
                </a:solidFill>
              </a:rPr>
              <a:t>The markers follow the same instruction and the same IRQ request.</a:t>
            </a:r>
          </a:p>
        </p:txBody>
      </p:sp>
      <p:sp>
        <p:nvSpPr>
          <p:cNvPr id="14" name="footer">
            <a:extLst xmlns:a="http://schemas.openxmlformats.org/drawingml/2006/main">
              <a:ext uri="{FF2B5EF4-FFF2-40B4-BE49-F238E27FC236}">
                <a16:creationId xmlns:a16="http://schemas.microsoft.com/office/drawing/2014/main" id="{97EE05CF-D431-4689-87EE-805C90243F25}"/>
              </a:ext>
            </a:extLst>
          </p:cNvPr>
          <p:cNvSpPr>
            <a:spLocks xmlns:a="http://schemas.openxmlformats.org/drawingml/2006/main" noGrp="1"/>
          </p:cNvSpPr>
          <p:nvPr/>
        </p:nvSpPr>
        <p:spPr>
          <a:xfrm xmlns:a="http://schemas.openxmlformats.org/drawingml/2006/main">
            <a:off x="666750" y="977265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07 / 08   ·   Critical scenario</a:t>
            </a:r>
          </a:p>
        </p:txBody>
      </p:sp>
    </p:spTree>
    <p:extLst>
      <p:ext uri="{BB962C8B-B14F-4D97-AF65-F5344CB8AC3E}">
        <p14:creationId xmlns:p14="http://schemas.microsoft.com/office/powerpoint/2010/main" val="132584606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lide-title">
            <a:extLst xmlns:a="http://schemas.openxmlformats.org/drawingml/2006/main">
              <a:ext uri="{FF2B5EF4-FFF2-40B4-BE49-F238E27FC236}">
                <a16:creationId xmlns:a16="http://schemas.microsoft.com/office/drawing/2014/main" id="{252CA9CF-5360-4915-B5E9-981DC41B664E}"/>
              </a:ext>
            </a:extLst>
          </p:cNvPr>
          <p:cNvSpPr>
            <a:spLocks xmlns:a="http://schemas.openxmlformats.org/drawingml/2006/main" noGrp="1"/>
          </p:cNvSpPr>
          <p:nvPr/>
        </p:nvSpPr>
        <p:spPr>
          <a:xfrm xmlns:a="http://schemas.openxmlformats.org/drawingml/2006/main">
            <a:off x="666750" y="419100"/>
            <a:ext cx="169545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73442"/>
                </a:solidFill>
              </a:defRPr>
            </a:pPr>
            <a:r>
              <a:rPr sz="3750" b="1">
                <a:solidFill>
                  <a:srgbClr val="173442"/>
                </a:solidFill>
              </a:rPr>
              <a:t>Result: an integrated core, checked instruction by instruction</a:t>
            </a:r>
          </a:p>
        </p:txBody>
      </p:sp>
      <p:sp>
        <p:nvSpPr>
          <p:cNvPr id="2" name="">
            <a:extLst xmlns:a="http://schemas.openxmlformats.org/drawingml/2006/main">
              <a:ext uri="{FF2B5EF4-FFF2-40B4-BE49-F238E27FC236}">
                <a16:creationId xmlns:a16="http://schemas.microsoft.com/office/drawing/2014/main" id="{9DE80FA1-F3AF-4F81-AE3B-5070EBCC0134}"/>
              </a:ext>
            </a:extLst>
          </p:cNvPr>
          <p:cNvSpPr>
            <a:spLocks xmlns:a="http://schemas.openxmlformats.org/drawingml/2006/main" noGrp="1"/>
          </p:cNvSpPr>
          <p:nvPr/>
        </p:nvSpPr>
        <p:spPr>
          <a:xfrm xmlns:a="http://schemas.openxmlformats.org/drawingml/2006/main">
            <a:off x="666750" y="1123950"/>
            <a:ext cx="1619250" cy="38100"/>
          </a:xfrm>
          <a:prstGeom xmlns:a="http://schemas.openxmlformats.org/drawingml/2006/main" prst="rect">
            <a:avLst/>
          </a:prstGeom>
          <a:solidFill xmlns:a="http://schemas.openxmlformats.org/drawingml/2006/main">
            <a:srgbClr val="006B75"/>
          </a:solidFill>
          <a:ln xmlns:a="http://schemas.openxmlformats.org/drawingml/2006/main" w="0">
            <a:solidFill>
              <a:srgbClr val="006B75"/>
            </a:solidFill>
            <a:prstDash val="solid"/>
          </a:ln>
        </p:spPr>
      </p:sp>
      <p:sp>
        <p:nvSpPr>
          <p:cNvPr id="3" name="">
            <a:extLst xmlns:a="http://schemas.openxmlformats.org/drawingml/2006/main">
              <a:ext uri="{FF2B5EF4-FFF2-40B4-BE49-F238E27FC236}">
                <a16:creationId xmlns:a16="http://schemas.microsoft.com/office/drawing/2014/main" id="{6B0F310B-A035-4B8D-ACE5-019BE67053DC}"/>
              </a:ext>
            </a:extLst>
          </p:cNvPr>
          <p:cNvSpPr>
            <a:spLocks xmlns:a="http://schemas.openxmlformats.org/drawingml/2006/main" noGrp="1"/>
          </p:cNvSpPr>
          <p:nvPr/>
        </p:nvSpPr>
        <p:spPr>
          <a:xfrm xmlns:a="http://schemas.openxmlformats.org/drawingml/2006/main">
            <a:off x="666750" y="1428750"/>
            <a:ext cx="8343900" cy="7219950"/>
          </a:xfrm>
          <a:prstGeom xmlns:a="http://schemas.openxmlformats.org/drawingml/2006/main" prst="roundRect">
            <a:avLst>
              <a:gd name="adj" fmla="val 1583"/>
            </a:avLst>
          </a:prstGeom>
          <a:solidFill xmlns:a="http://schemas.openxmlformats.org/drawingml/2006/main">
            <a:srgbClr val="EEF5F5"/>
          </a:solidFill>
        </p:spPr>
      </p:sp>
      <p:sp>
        <p:nvSpPr>
          <p:cNvPr id="4" name="">
            <a:extLst xmlns:a="http://schemas.openxmlformats.org/drawingml/2006/main">
              <a:ext uri="{FF2B5EF4-FFF2-40B4-BE49-F238E27FC236}">
                <a16:creationId xmlns:a16="http://schemas.microsoft.com/office/drawing/2014/main" id="{A98B525E-22BC-472D-A071-CE3DB84FBD29}"/>
              </a:ext>
            </a:extLst>
          </p:cNvPr>
          <p:cNvSpPr>
            <a:spLocks xmlns:a="http://schemas.openxmlformats.org/drawingml/2006/main" noGrp="1"/>
          </p:cNvSpPr>
          <p:nvPr/>
        </p:nvSpPr>
        <p:spPr>
          <a:xfrm xmlns:a="http://schemas.openxmlformats.org/drawingml/2006/main">
            <a:off x="1047750" y="1733550"/>
            <a:ext cx="75819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006B75"/>
                </a:solidFill>
              </a:defRPr>
            </a:pPr>
            <a:r>
              <a:rPr sz="2250" b="1">
                <a:solidFill>
                  <a:srgbClr val="006B75"/>
                </a:solidFill>
              </a:rPr>
              <a:t>WHAT I BUILT</a:t>
            </a:r>
          </a:p>
        </p:txBody>
      </p:sp>
      <p:sp>
        <p:nvSpPr>
          <p:cNvPr id="5" name="">
            <a:extLst xmlns:a="http://schemas.openxmlformats.org/drawingml/2006/main">
              <a:ext uri="{FF2B5EF4-FFF2-40B4-BE49-F238E27FC236}">
                <a16:creationId xmlns:a16="http://schemas.microsoft.com/office/drawing/2014/main" id="{38FDDEEB-2314-4F21-B3EF-11887B26ADC8}"/>
              </a:ext>
            </a:extLst>
          </p:cNvPr>
          <p:cNvSpPr>
            <a:spLocks xmlns:a="http://schemas.openxmlformats.org/drawingml/2006/main" noGrp="1"/>
          </p:cNvSpPr>
          <p:nvPr/>
        </p:nvSpPr>
        <p:spPr>
          <a:xfrm xmlns:a="http://schemas.openxmlformats.org/drawingml/2006/main">
            <a:off x="1047750" y="3048000"/>
            <a:ext cx="419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006B75"/>
                </a:solidFill>
              </a:defRPr>
            </a:pPr>
            <a:r>
              <a:rPr sz="2625" b="1">
                <a:solidFill>
                  <a:srgbClr val="006B75"/>
                </a:solidFill>
              </a:rPr>
              <a:t>1.</a:t>
            </a:r>
          </a:p>
        </p:txBody>
      </p:sp>
      <p:sp>
        <p:nvSpPr>
          <p:cNvPr id="6" name="">
            <a:extLst xmlns:a="http://schemas.openxmlformats.org/drawingml/2006/main">
              <a:ext uri="{FF2B5EF4-FFF2-40B4-BE49-F238E27FC236}">
                <a16:creationId xmlns:a16="http://schemas.microsoft.com/office/drawing/2014/main" id="{1C70FF2B-DF26-4D06-ACBD-C73597F55C9D}"/>
              </a:ext>
            </a:extLst>
          </p:cNvPr>
          <p:cNvSpPr>
            <a:spLocks xmlns:a="http://schemas.openxmlformats.org/drawingml/2006/main" noGrp="1"/>
          </p:cNvSpPr>
          <p:nvPr/>
        </p:nvSpPr>
        <p:spPr>
          <a:xfrm xmlns:a="http://schemas.openxmlformats.org/drawingml/2006/main">
            <a:off x="1657350" y="3048000"/>
            <a:ext cx="69723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RV32I pipeline with predictor, forwarding and traps</a:t>
            </a:r>
          </a:p>
        </p:txBody>
      </p:sp>
      <p:sp>
        <p:nvSpPr>
          <p:cNvPr id="7" name="">
            <a:extLst xmlns:a="http://schemas.openxmlformats.org/drawingml/2006/main">
              <a:ext uri="{FF2B5EF4-FFF2-40B4-BE49-F238E27FC236}">
                <a16:creationId xmlns:a16="http://schemas.microsoft.com/office/drawing/2014/main" id="{FB069F20-F5FB-429C-9F8C-620E932251FA}"/>
              </a:ext>
            </a:extLst>
          </p:cNvPr>
          <p:cNvSpPr>
            <a:spLocks xmlns:a="http://schemas.openxmlformats.org/drawingml/2006/main" noGrp="1"/>
          </p:cNvSpPr>
          <p:nvPr/>
        </p:nvSpPr>
        <p:spPr>
          <a:xfrm xmlns:a="http://schemas.openxmlformats.org/drawingml/2006/main">
            <a:off x="1047750" y="5133975"/>
            <a:ext cx="419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006B75"/>
                </a:solidFill>
              </a:defRPr>
            </a:pPr>
            <a:r>
              <a:rPr sz="2625" b="1">
                <a:solidFill>
                  <a:srgbClr val="006B75"/>
                </a:solidFill>
              </a:rPr>
              <a:t>2.</a:t>
            </a:r>
          </a:p>
        </p:txBody>
      </p:sp>
      <p:sp>
        <p:nvSpPr>
          <p:cNvPr id="8" name="">
            <a:extLst xmlns:a="http://schemas.openxmlformats.org/drawingml/2006/main">
              <a:ext uri="{FF2B5EF4-FFF2-40B4-BE49-F238E27FC236}">
                <a16:creationId xmlns:a16="http://schemas.microsoft.com/office/drawing/2014/main" id="{5C071CD4-22AD-4750-B2A6-6394A4676DB7}"/>
              </a:ext>
            </a:extLst>
          </p:cNvPr>
          <p:cNvSpPr>
            <a:spLocks xmlns:a="http://schemas.openxmlformats.org/drawingml/2006/main" noGrp="1"/>
          </p:cNvSpPr>
          <p:nvPr/>
        </p:nvSpPr>
        <p:spPr>
          <a:xfrm xmlns:a="http://schemas.openxmlformats.org/drawingml/2006/main">
            <a:off x="1657350" y="5133975"/>
            <a:ext cx="69723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CPU–PIC link: mask, pending, claim and EOI</a:t>
            </a:r>
          </a:p>
        </p:txBody>
      </p:sp>
      <p:sp>
        <p:nvSpPr>
          <p:cNvPr id="9" name="">
            <a:extLst xmlns:a="http://schemas.openxmlformats.org/drawingml/2006/main">
              <a:ext uri="{FF2B5EF4-FFF2-40B4-BE49-F238E27FC236}">
                <a16:creationId xmlns:a16="http://schemas.microsoft.com/office/drawing/2014/main" id="{297E8536-F6E5-486E-A0BB-54C4F3AF6529}"/>
              </a:ext>
            </a:extLst>
          </p:cNvPr>
          <p:cNvSpPr>
            <a:spLocks xmlns:a="http://schemas.openxmlformats.org/drawingml/2006/main" noGrp="1"/>
          </p:cNvSpPr>
          <p:nvPr/>
        </p:nvSpPr>
        <p:spPr>
          <a:xfrm xmlns:a="http://schemas.openxmlformats.org/drawingml/2006/main">
            <a:off x="1047750" y="7019925"/>
            <a:ext cx="419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1">
                <a:solidFill>
                  <a:srgbClr val="006B75"/>
                </a:solidFill>
              </a:defRPr>
            </a:pPr>
            <a:r>
              <a:rPr sz="2625" b="1">
                <a:solidFill>
                  <a:srgbClr val="006B75"/>
                </a:solidFill>
              </a:rPr>
              <a:t>3.</a:t>
            </a:r>
          </a:p>
        </p:txBody>
      </p:sp>
      <p:sp>
        <p:nvSpPr>
          <p:cNvPr id="10" name="">
            <a:extLst xmlns:a="http://schemas.openxmlformats.org/drawingml/2006/main">
              <a:ext uri="{FF2B5EF4-FFF2-40B4-BE49-F238E27FC236}">
                <a16:creationId xmlns:a16="http://schemas.microsoft.com/office/drawing/2014/main" id="{BCA3CFF4-4BB8-439C-B883-6602AE768F45}"/>
              </a:ext>
            </a:extLst>
          </p:cNvPr>
          <p:cNvSpPr>
            <a:spLocks xmlns:a="http://schemas.openxmlformats.org/drawingml/2006/main" noGrp="1"/>
          </p:cNvSpPr>
          <p:nvPr/>
        </p:nvSpPr>
        <p:spPr>
          <a:xfrm xmlns:a="http://schemas.openxmlformats.org/drawingml/2006/main">
            <a:off x="1657350" y="7019925"/>
            <a:ext cx="6972300" cy="800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Checks: ISA model, bound assertions, mutation suite</a:t>
            </a:r>
          </a:p>
        </p:txBody>
      </p:sp>
      <p:sp>
        <p:nvSpPr>
          <p:cNvPr id="11" name="">
            <a:extLst xmlns:a="http://schemas.openxmlformats.org/drawingml/2006/main">
              <a:ext uri="{FF2B5EF4-FFF2-40B4-BE49-F238E27FC236}">
                <a16:creationId xmlns:a16="http://schemas.microsoft.com/office/drawing/2014/main" id="{C34CDB4A-0806-4999-A7FC-AE7346B1AEA4}"/>
              </a:ext>
            </a:extLst>
          </p:cNvPr>
          <p:cNvSpPr>
            <a:spLocks xmlns:a="http://schemas.openxmlformats.org/drawingml/2006/main" noGrp="1"/>
          </p:cNvSpPr>
          <p:nvPr/>
        </p:nvSpPr>
        <p:spPr>
          <a:xfrm xmlns:a="http://schemas.openxmlformats.org/drawingml/2006/main">
            <a:off x="9277350" y="1428750"/>
            <a:ext cx="8343900" cy="7219950"/>
          </a:xfrm>
          <a:prstGeom xmlns:a="http://schemas.openxmlformats.org/drawingml/2006/main" prst="roundRect">
            <a:avLst>
              <a:gd name="adj" fmla="val 1583"/>
            </a:avLst>
          </a:prstGeom>
          <a:solidFill xmlns:a="http://schemas.openxmlformats.org/drawingml/2006/main">
            <a:srgbClr val="EEF5F5"/>
          </a:solidFill>
        </p:spPr>
      </p:sp>
      <p:sp>
        <p:nvSpPr>
          <p:cNvPr id="12" name="">
            <a:extLst xmlns:a="http://schemas.openxmlformats.org/drawingml/2006/main">
              <a:ext uri="{FF2B5EF4-FFF2-40B4-BE49-F238E27FC236}">
                <a16:creationId xmlns:a16="http://schemas.microsoft.com/office/drawing/2014/main" id="{5A12071A-DB8F-46FB-B86D-F41C88FE9A7D}"/>
              </a:ext>
            </a:extLst>
          </p:cNvPr>
          <p:cNvSpPr>
            <a:spLocks xmlns:a="http://schemas.openxmlformats.org/drawingml/2006/main" noGrp="1"/>
          </p:cNvSpPr>
          <p:nvPr/>
        </p:nvSpPr>
        <p:spPr>
          <a:xfrm xmlns:a="http://schemas.openxmlformats.org/drawingml/2006/main">
            <a:off x="9658350" y="1733550"/>
            <a:ext cx="75819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006B75"/>
                </a:solidFill>
              </a:defRPr>
            </a:pPr>
            <a:r>
              <a:rPr sz="2250" b="1">
                <a:solidFill>
                  <a:srgbClr val="006B75"/>
                </a:solidFill>
              </a:rPr>
              <a:t>WHAT I LEARNED</a:t>
            </a:r>
          </a:p>
        </p:txBody>
      </p:sp>
      <p:sp>
        <p:nvSpPr>
          <p:cNvPr id="13" name="">
            <a:extLst xmlns:a="http://schemas.openxmlformats.org/drawingml/2006/main">
              <a:ext uri="{FF2B5EF4-FFF2-40B4-BE49-F238E27FC236}">
                <a16:creationId xmlns:a16="http://schemas.microsoft.com/office/drawing/2014/main" id="{934F3CFA-A8C9-4023-A2CB-0158F0A0C17E}"/>
              </a:ext>
            </a:extLst>
          </p:cNvPr>
          <p:cNvSpPr>
            <a:spLocks xmlns:a="http://schemas.openxmlformats.org/drawingml/2006/main" noGrp="1"/>
          </p:cNvSpPr>
          <p:nvPr/>
        </p:nvSpPr>
        <p:spPr>
          <a:xfrm xmlns:a="http://schemas.openxmlformats.org/drawingml/2006/main">
            <a:off x="9658350" y="2847975"/>
            <a:ext cx="419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006B75"/>
                </a:solidFill>
              </a:defRPr>
            </a:pPr>
            <a:r>
              <a:rPr sz="2625" b="0">
                <a:solidFill>
                  <a:srgbClr val="006B75"/>
                </a:solidFill>
              </a:rPr>
              <a:t>–</a:t>
            </a:r>
          </a:p>
        </p:txBody>
      </p:sp>
      <p:sp>
        <p:nvSpPr>
          <p:cNvPr id="14" name="">
            <a:extLst xmlns:a="http://schemas.openxmlformats.org/drawingml/2006/main">
              <a:ext uri="{FF2B5EF4-FFF2-40B4-BE49-F238E27FC236}">
                <a16:creationId xmlns:a16="http://schemas.microsoft.com/office/drawing/2014/main" id="{65EBCCFB-5A18-4635-A180-A75A5960A732}"/>
              </a:ext>
            </a:extLst>
          </p:cNvPr>
          <p:cNvSpPr>
            <a:spLocks xmlns:a="http://schemas.openxmlformats.org/drawingml/2006/main" noGrp="1"/>
          </p:cNvSpPr>
          <p:nvPr/>
        </p:nvSpPr>
        <p:spPr>
          <a:xfrm xmlns:a="http://schemas.openxmlformats.org/drawingml/2006/main">
            <a:off x="10267950" y="2847975"/>
            <a:ext cx="6972300" cy="800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Simultaneous events need a written order; the brief only lists them.</a:t>
            </a:r>
          </a:p>
        </p:txBody>
      </p:sp>
      <p:sp>
        <p:nvSpPr>
          <p:cNvPr id="15" name="">
            <a:extLst xmlns:a="http://schemas.openxmlformats.org/drawingml/2006/main">
              <a:ext uri="{FF2B5EF4-FFF2-40B4-BE49-F238E27FC236}">
                <a16:creationId xmlns:a16="http://schemas.microsoft.com/office/drawing/2014/main" id="{19E13C05-73F2-476D-88B3-966DCDE9514D}"/>
              </a:ext>
            </a:extLst>
          </p:cNvPr>
          <p:cNvSpPr>
            <a:spLocks xmlns:a="http://schemas.openxmlformats.org/drawingml/2006/main" noGrp="1"/>
          </p:cNvSpPr>
          <p:nvPr/>
        </p:nvSpPr>
        <p:spPr>
          <a:xfrm xmlns:a="http://schemas.openxmlformats.org/drawingml/2006/main">
            <a:off x="9658350" y="4933950"/>
            <a:ext cx="419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006B75"/>
                </a:solidFill>
              </a:defRPr>
            </a:pPr>
            <a:r>
              <a:rPr sz="2625" b="0">
                <a:solidFill>
                  <a:srgbClr val="006B75"/>
                </a:solidFill>
              </a:rPr>
              <a:t>–</a:t>
            </a:r>
          </a:p>
        </p:txBody>
      </p:sp>
      <p:sp>
        <p:nvSpPr>
          <p:cNvPr id="16" name="">
            <a:extLst xmlns:a="http://schemas.openxmlformats.org/drawingml/2006/main">
              <a:ext uri="{FF2B5EF4-FFF2-40B4-BE49-F238E27FC236}">
                <a16:creationId xmlns:a16="http://schemas.microsoft.com/office/drawing/2014/main" id="{5011208F-DF40-4733-AEF7-DA2572AFCD12}"/>
              </a:ext>
            </a:extLst>
          </p:cNvPr>
          <p:cNvSpPr>
            <a:spLocks xmlns:a="http://schemas.openxmlformats.org/drawingml/2006/main" noGrp="1"/>
          </p:cNvSpPr>
          <p:nvPr/>
        </p:nvSpPr>
        <p:spPr>
          <a:xfrm xmlns:a="http://schemas.openxmlformats.org/drawingml/2006/main">
            <a:off x="10267950" y="4933950"/>
            <a:ext cx="6972300" cy="8001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An accepted AXI transfer cannot be cancelled, and that decides when a trap can start.</a:t>
            </a:r>
          </a:p>
        </p:txBody>
      </p:sp>
      <p:sp>
        <p:nvSpPr>
          <p:cNvPr id="17" name="">
            <a:extLst xmlns:a="http://schemas.openxmlformats.org/drawingml/2006/main">
              <a:ext uri="{FF2B5EF4-FFF2-40B4-BE49-F238E27FC236}">
                <a16:creationId xmlns:a16="http://schemas.microsoft.com/office/drawing/2014/main" id="{03AFADF5-FF19-43B8-AF29-B29D57633BD6}"/>
              </a:ext>
            </a:extLst>
          </p:cNvPr>
          <p:cNvSpPr>
            <a:spLocks xmlns:a="http://schemas.openxmlformats.org/drawingml/2006/main" noGrp="1"/>
          </p:cNvSpPr>
          <p:nvPr/>
        </p:nvSpPr>
        <p:spPr>
          <a:xfrm xmlns:a="http://schemas.openxmlformats.org/drawingml/2006/main">
            <a:off x="9658350" y="7219950"/>
            <a:ext cx="4191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006B75"/>
                </a:solidFill>
              </a:defRPr>
            </a:pPr>
            <a:r>
              <a:rPr sz="2625" b="0">
                <a:solidFill>
                  <a:srgbClr val="006B75"/>
                </a:solidFill>
              </a:rPr>
              <a:t>–</a:t>
            </a:r>
          </a:p>
        </p:txBody>
      </p:sp>
      <p:sp>
        <p:nvSpPr>
          <p:cNvPr id="18" name="">
            <a:extLst xmlns:a="http://schemas.openxmlformats.org/drawingml/2006/main">
              <a:ext uri="{FF2B5EF4-FFF2-40B4-BE49-F238E27FC236}">
                <a16:creationId xmlns:a16="http://schemas.microsoft.com/office/drawing/2014/main" id="{D7A8FFA2-D7F7-4A9D-BC0E-DF44239B3718}"/>
              </a:ext>
            </a:extLst>
          </p:cNvPr>
          <p:cNvSpPr>
            <a:spLocks xmlns:a="http://schemas.openxmlformats.org/drawingml/2006/main" noGrp="1"/>
          </p:cNvSpPr>
          <p:nvPr/>
        </p:nvSpPr>
        <p:spPr>
          <a:xfrm xmlns:a="http://schemas.openxmlformats.org/drawingml/2006/main">
            <a:off x="10267950" y="7219950"/>
            <a:ext cx="6972300" cy="400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625" b="0">
                <a:solidFill>
                  <a:srgbClr val="173442"/>
                </a:solidFill>
              </a:defRPr>
            </a:pPr>
            <a:r>
              <a:rPr sz="2625" b="0">
                <a:solidFill>
                  <a:srgbClr val="173442"/>
                </a:solidFill>
              </a:rPr>
              <a:t>A test counts only if a real defect makes it fail.</a:t>
            </a:r>
          </a:p>
        </p:txBody>
      </p:sp>
      <p:sp>
        <p:nvSpPr>
          <p:cNvPr id="19" name="">
            <a:extLst xmlns:a="http://schemas.openxmlformats.org/drawingml/2006/main">
              <a:ext uri="{FF2B5EF4-FFF2-40B4-BE49-F238E27FC236}">
                <a16:creationId xmlns:a16="http://schemas.microsoft.com/office/drawing/2014/main" id="{FF0168D8-D57C-478E-8DF3-820F96C13DC6}"/>
              </a:ext>
            </a:extLst>
          </p:cNvPr>
          <p:cNvSpPr>
            <a:spLocks xmlns:a="http://schemas.openxmlformats.org/drawingml/2006/main" noGrp="1"/>
          </p:cNvSpPr>
          <p:nvPr/>
        </p:nvSpPr>
        <p:spPr>
          <a:xfrm xmlns:a="http://schemas.openxmlformats.org/drawingml/2006/main">
            <a:off x="666750" y="8858250"/>
            <a:ext cx="16954500" cy="762000"/>
          </a:xfrm>
          <a:prstGeom xmlns:a="http://schemas.openxmlformats.org/drawingml/2006/main" prst="roundRect">
            <a:avLst>
              <a:gd name="adj" fmla="val 15000"/>
            </a:avLst>
          </a:prstGeom>
          <a:solidFill xmlns:a="http://schemas.openxmlformats.org/drawingml/2006/main">
            <a:srgbClr val="006B75"/>
          </a:solidFill>
        </p:spPr>
      </p:sp>
      <p:sp>
        <p:nvSpPr>
          <p:cNvPr id="20" name="">
            <a:extLst xmlns:a="http://schemas.openxmlformats.org/drawingml/2006/main">
              <a:ext uri="{FF2B5EF4-FFF2-40B4-BE49-F238E27FC236}">
                <a16:creationId xmlns:a16="http://schemas.microsoft.com/office/drawing/2014/main" id="{D3600782-6DA5-4E13-96D6-D7258BD09B78}"/>
              </a:ext>
            </a:extLst>
          </p:cNvPr>
          <p:cNvSpPr>
            <a:spLocks xmlns:a="http://schemas.openxmlformats.org/drawingml/2006/main" noGrp="1"/>
          </p:cNvSpPr>
          <p:nvPr/>
        </p:nvSpPr>
        <p:spPr>
          <a:xfrm xmlns:a="http://schemas.openxmlformats.org/drawingml/2006/main">
            <a:off x="1047750" y="9067800"/>
            <a:ext cx="161925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FFFFFF"/>
                </a:solidFill>
              </a:defRPr>
            </a:pPr>
            <a:r>
              <a:rPr sz="2250" b="1">
                <a:solidFill>
                  <a:srgbClr val="FFFFFF"/>
                </a:solidFill>
              </a:rPr>
              <a:t>Internship: brief → specification → RTL → verification, with a review at each step.</a:t>
            </a:r>
          </a:p>
        </p:txBody>
      </p:sp>
      <p:sp>
        <p:nvSpPr>
          <p:cNvPr id="21" name="footer">
            <a:extLst xmlns:a="http://schemas.openxmlformats.org/drawingml/2006/main">
              <a:ext uri="{FF2B5EF4-FFF2-40B4-BE49-F238E27FC236}">
                <a16:creationId xmlns:a16="http://schemas.microsoft.com/office/drawing/2014/main" id="{C89DAADD-2255-4DCA-9D2F-25F5FA71FBE5}"/>
              </a:ext>
            </a:extLst>
          </p:cNvPr>
          <p:cNvSpPr>
            <a:spLocks xmlns:a="http://schemas.openxmlformats.org/drawingml/2006/main" noGrp="1"/>
          </p:cNvSpPr>
          <p:nvPr/>
        </p:nvSpPr>
        <p:spPr>
          <a:xfrm xmlns:a="http://schemas.openxmlformats.org/drawingml/2006/main">
            <a:off x="666750" y="9772650"/>
            <a:ext cx="169545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0">
                <a:solidFill>
                  <a:srgbClr val="526772"/>
                </a:solidFill>
              </a:defRPr>
            </a:pPr>
            <a:r>
              <a:rPr sz="1500" b="0">
                <a:solidFill>
                  <a:srgbClr val="526772"/>
                </a:solidFill>
              </a:rPr>
              <a:t>RV32I   ·   08 / 08   ·   Conclusions</a:t>
            </a:r>
          </a:p>
        </p:txBody>
      </p:sp>
    </p:spTree>
    <p:extLst>
      <p:ext uri="{BB962C8B-B14F-4D97-AF65-F5344CB8AC3E}">
        <p14:creationId xmlns:p14="http://schemas.microsoft.com/office/powerpoint/2010/main" val="198208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2026-09-21T20:45:29.7610000Z</dcterms:created>
  <dcterms:modified xsi:type="dcterms:W3CDTF">2026-09-21T20:45:29.7610000Z</dcterms:modified>
</coreProperties>
</file>