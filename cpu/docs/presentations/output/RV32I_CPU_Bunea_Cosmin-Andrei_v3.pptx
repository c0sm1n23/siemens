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81d2d05db74583" /><Relationship Type="http://schemas.openxmlformats.org/officeDocument/2006/relationships/extended-properties" Target="/docProps/app.xml" Id="R8ff23ae8fb214bdd" /><Relationship Type="http://schemas.openxmlformats.org/officeDocument/2006/relationships/officeDocument" Target="/ppt/presentation.xml" Id="R4fd4d1d6b6e84eaa" /></Relationships>
</file>

<file path=ppt/presentation.xml><?xml version="1.0" encoding="utf-8"?>
<p:presentation xmlns:p="http://schemas.openxmlformats.org/presentationml/2006/main">
  <p:sldMasterIdLst>
    <p:sldMasterId xmlns:r="http://schemas.openxmlformats.org/officeDocument/2006/relationships" id="2147483648" r:id="Rf380b9faaf86435c"/>
  </p:sldMasterIdLst>
  <p:notesMasterIdLst>
    <p:notesMasterId xmlns:r="http://schemas.openxmlformats.org/officeDocument/2006/relationships" r:id="Rfd1c0587cb334339"/>
  </p:notesMasterIdLst>
  <p:sldIdLst>
    <p:sldId xmlns:r="http://schemas.openxmlformats.org/officeDocument/2006/relationships" id="256" r:id="R69d6386f1c20441e"/>
    <p:sldId xmlns:r="http://schemas.openxmlformats.org/officeDocument/2006/relationships" id="257" r:id="R774c234db0164080"/>
    <p:sldId xmlns:r="http://schemas.openxmlformats.org/officeDocument/2006/relationships" id="258" r:id="R9b7ee11121c14c40"/>
    <p:sldId xmlns:r="http://schemas.openxmlformats.org/officeDocument/2006/relationships" id="259" r:id="Raf6842895ef4448f"/>
    <p:sldId xmlns:r="http://schemas.openxmlformats.org/officeDocument/2006/relationships" id="260" r:id="R36c41156b6c54952"/>
    <p:sldId xmlns:r="http://schemas.openxmlformats.org/officeDocument/2006/relationships" id="261" r:id="R663c70db4b5f4a72"/>
    <p:sldId xmlns:r="http://schemas.openxmlformats.org/officeDocument/2006/relationships" id="262" r:id="R0ebfdac9582247c9"/>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380b9faaf86435c" /><Relationship Type="http://schemas.openxmlformats.org/officeDocument/2006/relationships/theme" Target="/ppt/theme/theme1.xml" Id="Rec4e74415c284859" /><Relationship Type="http://schemas.openxmlformats.org/officeDocument/2006/relationships/notesMaster" Target="/ppt/notesMasters/notesMaster1.xml" Id="Rfd1c0587cb334339" /><Relationship Type="http://schemas.openxmlformats.org/officeDocument/2006/relationships/presProps" Target="/ppt/presProps.xml" Id="R144eb5d22fb14448" /><Relationship Type="http://schemas.openxmlformats.org/officeDocument/2006/relationships/viewProps" Target="/ppt/viewProps.xml" Id="R954367a04054491c" /><Relationship Type="http://schemas.openxmlformats.org/officeDocument/2006/relationships/tableStyles" Target="/ppt/tableStyles.xml" Id="R53ad2e07293145fe" /><Relationship Type="http://schemas.openxmlformats.org/officeDocument/2006/relationships/slide" Target="/ppt/slides/slide1.xml" Id="R69d6386f1c20441e" /><Relationship Type="http://schemas.openxmlformats.org/officeDocument/2006/relationships/slide" Target="/ppt/slides/slide2.xml" Id="R774c234db0164080" /><Relationship Type="http://schemas.openxmlformats.org/officeDocument/2006/relationships/slide" Target="/ppt/slides/slide3.xml" Id="R9b7ee11121c14c40" /><Relationship Type="http://schemas.openxmlformats.org/officeDocument/2006/relationships/slide" Target="/ppt/slides/slide4.xml" Id="Raf6842895ef4448f" /><Relationship Type="http://schemas.openxmlformats.org/officeDocument/2006/relationships/slide" Target="/ppt/slides/slide5.xml" Id="R36c41156b6c54952" /><Relationship Type="http://schemas.openxmlformats.org/officeDocument/2006/relationships/slide" Target="/ppt/slides/slide6.xml" Id="R663c70db4b5f4a72" /><Relationship Type="http://schemas.openxmlformats.org/officeDocument/2006/relationships/slide" Target="/ppt/slides/slide7.xml" Id="R0ebfdac9582247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4a7da5c379f48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4175d538654b43" /><Relationship Type="http://schemas.openxmlformats.org/officeDocument/2006/relationships/notesMaster" Target="/ppt/notesMasters/notesMaster1.xml" Id="Ra2b020ed742748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983b60b3a84aa2" /><Relationship Type="http://schemas.openxmlformats.org/officeDocument/2006/relationships/notesMaster" Target="/ppt/notesMasters/notesMaster1.xml" Id="R84c1e165c27e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e396162e842ca" /><Relationship Type="http://schemas.openxmlformats.org/officeDocument/2006/relationships/notesMaster" Target="/ppt/notesMasters/notesMaster1.xml" Id="R286c26a27c154d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bbc7705d284e2b" /><Relationship Type="http://schemas.openxmlformats.org/officeDocument/2006/relationships/notesMaster" Target="/ppt/notesMasters/notesMaster1.xml" Id="R0d6ea87bb7df44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97ce3b485d486c" /><Relationship Type="http://schemas.openxmlformats.org/officeDocument/2006/relationships/notesMaster" Target="/ppt/notesMasters/notesMaster1.xml" Id="Rabf6e60e34c741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8d624d527c4684" /><Relationship Type="http://schemas.openxmlformats.org/officeDocument/2006/relationships/notesMaster" Target="/ppt/notesMasters/notesMaster1.xml" Id="R7568726ede484d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6003b136464f24" /><Relationship Type="http://schemas.openxmlformats.org/officeDocument/2006/relationships/notesMaster" Target="/ppt/notesMasters/notesMaster1.xml" Id="R4b33d7635c5147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The project is the RV32I core of the SoC: I specified it, wrote the RTL, connected it to the PIC and verified it. In the figure the CPU has an instruction port, a data port on the interconnect and a direct interrupt link to the 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are the eight requirements from the CPU brief that shaped the design. The full RV32I set, with FENCE treated as a no-op and ECALL and EBREAK handled as traps. Three stages, where a load or store finishes inside S2, so S2 waits for the data bus. A register file with two read ports, one write port and x0 fixed at zero. A predictor with a 1-bit counter per entry. Exceptions and external interrupts, taken only between instructions. The machine-mode CSRs the brief lists. One central unit that decides every stall and flush. And the interfaces: two independent AXI4-Lite masters and the interrupt link to the 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 The figure is the core as built: S1 fetches with the predictor beside it, S2 decodes, reads the registers and executes, including loads and stores, S3 writes back and forwards into S2; the control block with the CSRs sits under S2, and the PIC is on the right. The brief asked 23 questions about the predictor, traps, the buses, the CSRs and stall/flush control, and left the answers to me. Read the figure left to right; the five decisions below follow the same order. Predictor: direct-mapped with 128 entries, indexed by PC bits 8 to 2 and tagged with the upper bits, so a branch that only shares the index misses instead of taking a wrong target; a 1-bit direction, a BTB target and an 8-entry return-address stack for calls and returns. A miss predicts not taken, and only committed branches train it. Stalls: S2 stalls only while a data access is on the bus or during WFI; a load finishes inside S2, so a dependent instruction takes the value from S3 by forwarding and pays no extra cycle. While S2 waits, S1 keeps the fetched word in a skid register, and after a redirect it drains the wrong-path read. Redirects are resolved in S2, one per instruction, in the order interrupt, exception, MRET, misprediction; a flushed stage has its valid bit cleared and becomes a bubble. Traps: entry saves mepc, mcause and mtval and moves MIE into MPIE; a 16-level trap-kind stack remembers whether each open level is an interrupt, so MRET sends an EOI to the PIC only when it closes one. Errors are precise: fetch and data faults, misaligned accesses caught before the bus, and illegal CSR accesses trap without writing back. Parameters: RESET_PC, HART_ID, BP_ENTRIES, RAS_DEPTH.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are the CSRs the core needed. mstatus, mtvec, mepc, mcause, mtval and mscratch carry trap entry and return: MIE is copied into MPIE on entry and restored by MRET; mcause bit 31 separates interrupts from exceptions; vectored mtvec gives each interrupt its own entry. mie and mip are the link to the PIC: mie has one bit per PIC source and also drives the PIC mask, so a masked source never blocks the others; mip shows every pending source. mcycle and minstret are 64-bit, and five event counters measure mispredictions, fetch waits, data stalls, traps and WFI sleep. mhartid comes from the HART_ID parameter, tested with two cores on one shared memory. On the right is the order software uses them 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On the right is one test end to end. The golden model is a Python RV32I interpreter written independently of the RTL: it generates the program and the expected PC, destination register and value of every instruction, plus the final data memory. The CPU runs the same program; the bench compares the three values at every write-back and, at the end, all 256 memory words. The table is from the nominal run: a byte store, then LB, LBU and LW of the same word, so sign extension and byte lanes in four lines; model and CPU agree. Besides this directed program, the model generates ten seeded random programs of about five thousand instructions each, 49,149 instructions in all, and every program also runs with extra read latency or random backpressure. On the left, per type: the golden-model programs; the official riscv-tests, rv32ui and rv32mi, where 53 pass at nominal timing and under 40 percent backpressure and the other five of those suites target extensions this core does not include, such as FENCE.I and PMP; the directed benches; the SVA properties attached with bind and run under Verilator; the functional coverage, 92 bins merged over 28 runs, where all 90 reachable bins are hit and the two bins of a source the program masks must stay at zero; and mutation testing, where every injected defect is caught by a named bench.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 This case comes from the SoC run, where claim and EOI come from the CPU itself; the windows are cut from one run and each keeps its own time axis. At 1 the CPU claims source 9: trap entry clears MIE and opens level 1 in the CPU trap-kind stack and in the PIC nesting stack. The handler saves mepc and mstatus in registers and sets MIE again. At 2 source 8, with a higher key, is offered and claimed inside that handler: two levels on both sides; PIC active is a bitmask in hex, so 300 means sources 8 and 9 are both in service. At 3 the inner MRET restores MIE from MPIE and sends exactly one EOI; the PIC pops back to source 9, and cpu_in_trap stays high because a level is still open. At 4 the outer MRET sends the last EOI and both stacks are empty. On the left are the system-level numbers: the CPU, PIC and mtimer program; the SoC regression, which also drives the error paths, such as accesses outside every window, DMA faults, reset in the middle of traffic and the CPU and the DMA writing the same words; and the interrupt checks that go through the CPU, up to sixteen nested levels and a spurious claim. All of it runs in CI on every push: lint, every bench with SVA, the coverage gate and the cover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On the left is what I built: the three-stage core with forwarding, the direct-mapped predictor and precise traps; the CSR file and the link to the PIC; and the verification around it. On the right is what I take away from it, in my own words. Most of the design work was in the cycles where several events meet, and writing their order down first paid off. The interrupt path taught me to think about the CPU and the PIC as one system, each with its own stack. Writing a separate Python model made me understand every instruction twice. And mutation testing changed how I read a passing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ce432f2cee45c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a5f3148ca644ac7" /><Relationship Type="http://schemas.openxmlformats.org/officeDocument/2006/relationships/slideLayout" Target="/ppt/slideLayouts/slideLayout2.xml" Id="Rdf66f72248374d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6f72248374d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c8e8eb5bf164754" /><Relationship Type="http://schemas.openxmlformats.org/officeDocument/2006/relationships/image" Target="/ppt/media/image.png" Id="Rc4f159e3420b471c" /><Relationship Type="http://schemas.openxmlformats.org/officeDocument/2006/relationships/image" Target="/ppt/media/image.svg" Id="Re0e7ceaf46d84690" /><Relationship Type="http://schemas.openxmlformats.org/officeDocument/2006/relationships/notesSlide" Target="/ppt/notesSlides/notesSlide1.xml" Id="R5882c98f7db94f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fdf47a177464814" /><Relationship Type="http://schemas.openxmlformats.org/officeDocument/2006/relationships/notesSlide" Target="/ppt/notesSlides/notesSlide2.xml" Id="R7d702825e95b41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4027952292b4464" /><Relationship Type="http://schemas.openxmlformats.org/officeDocument/2006/relationships/image" Target="/ppt/media/image2.png" Id="R74697e60a4ac480a" /><Relationship Type="http://schemas.openxmlformats.org/officeDocument/2006/relationships/image" Target="/ppt/media/image2.svg" Id="Raf050025a94b445a" /><Relationship Type="http://schemas.openxmlformats.org/officeDocument/2006/relationships/notesSlide" Target="/ppt/notesSlides/notesSlide3.xml" Id="Rc62f20a71b7042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cc0d2e98d1d421b" /><Relationship Type="http://schemas.openxmlformats.org/officeDocument/2006/relationships/image" Target="/ppt/media/image3.png" Id="Rd9f5c6f569854392" /><Relationship Type="http://schemas.openxmlformats.org/officeDocument/2006/relationships/image" Target="/ppt/media/image3.svg" Id="Rfc29482d99644a8e" /><Relationship Type="http://schemas.openxmlformats.org/officeDocument/2006/relationships/notesSlide" Target="/ppt/notesSlides/notesSlide4.xml" Id="R2dee4bf9466146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306ed76b269402f" /><Relationship Type="http://schemas.openxmlformats.org/officeDocument/2006/relationships/image" Target="/ppt/media/image4.png" Id="R28f71126e7ba47fa" /><Relationship Type="http://schemas.openxmlformats.org/officeDocument/2006/relationships/image" Target="/ppt/media/image4.svg" Id="Ree9bd77776824e42" /><Relationship Type="http://schemas.openxmlformats.org/officeDocument/2006/relationships/notesSlide" Target="/ppt/notesSlides/notesSlide5.xml" Id="R6d39db27b9554c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163a9b314a44727" /><Relationship Type="http://schemas.openxmlformats.org/officeDocument/2006/relationships/image" Target="/ppt/media/image5.png" Id="Rb188a969a03d49d8" /><Relationship Type="http://schemas.openxmlformats.org/officeDocument/2006/relationships/image" Target="/ppt/media/image5.svg" Id="R6278ced6f3b04d59" /><Relationship Type="http://schemas.openxmlformats.org/officeDocument/2006/relationships/notesSlide" Target="/ppt/notesSlides/notesSlide6.xml" Id="Rce87bcc0e1f449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adf96fc693b4418" /><Relationship Type="http://schemas.openxmlformats.org/officeDocument/2006/relationships/notesSlide" Target="/ppt/notesSlides/notesSlide7.xml" Id="R12f6399cc83a4d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4DF456-88F9-4CAB-98B1-B8E34F468FF7}"/>
              </a:ext>
            </a:extLst>
          </p:cNvPr>
          <p:cNvSpPr>
            <a:spLocks xmlns:a="http://schemas.openxmlformats.org/drawingml/2006/main" noGrp="1"/>
          </p:cNvSpPr>
          <p:nvPr/>
        </p:nvSpPr>
        <p:spPr>
          <a:xfrm xmlns:a="http://schemas.openxmlformats.org/drawingml/2006/main">
            <a:off x="952500" y="2390775"/>
            <a:ext cx="64389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9436F29F-771D-464F-8C96-1014F8C080A7}"/>
              </a:ext>
            </a:extLst>
          </p:cNvPr>
          <p:cNvSpPr>
            <a:spLocks xmlns:a="http://schemas.openxmlformats.org/drawingml/2006/main" noGrp="1"/>
          </p:cNvSpPr>
          <p:nvPr/>
        </p:nvSpPr>
        <p:spPr>
          <a:xfrm xmlns:a="http://schemas.openxmlformats.org/drawingml/2006/main">
            <a:off x="952500" y="28384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6F51ACAE-E9A9-4C79-9C0F-EC3430E00D54}"/>
              </a:ext>
            </a:extLst>
          </p:cNvPr>
          <p:cNvSpPr>
            <a:spLocks xmlns:a="http://schemas.openxmlformats.org/drawingml/2006/main" noGrp="1"/>
          </p:cNvSpPr>
          <p:nvPr/>
        </p:nvSpPr>
        <p:spPr>
          <a:xfrm xmlns:a="http://schemas.openxmlformats.org/drawingml/2006/main">
            <a:off x="952500" y="3228975"/>
            <a:ext cx="6438900" cy="9620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6300" b="1">
                <a:solidFill>
                  <a:srgbClr val="173442"/>
                </a:solidFill>
              </a:defRPr>
            </a:pPr>
            <a:r>
              <a:rPr sz="6300" b="1">
                <a:solidFill>
                  <a:srgbClr val="173442"/>
                </a:solidFill>
              </a:rPr>
              <a:t>RV32I Processor</a:t>
            </a:r>
          </a:p>
        </p:txBody>
      </p:sp>
      <p:sp>
        <p:nvSpPr>
          <p:cNvPr id="4" name="">
            <a:extLst xmlns:a="http://schemas.openxmlformats.org/drawingml/2006/main">
              <a:ext uri="{FF2B5EF4-FFF2-40B4-BE49-F238E27FC236}">
                <a16:creationId xmlns:a16="http://schemas.microsoft.com/office/drawing/2014/main" id="{5F301ADF-EA9F-491E-817B-DC8ACD06B21C}"/>
              </a:ext>
            </a:extLst>
          </p:cNvPr>
          <p:cNvSpPr>
            <a:spLocks xmlns:a="http://schemas.openxmlformats.org/drawingml/2006/main" noGrp="1"/>
          </p:cNvSpPr>
          <p:nvPr/>
        </p:nvSpPr>
        <p:spPr>
          <a:xfrm xmlns:a="http://schemas.openxmlformats.org/drawingml/2006/main">
            <a:off x="952500" y="4286250"/>
            <a:ext cx="6438900" cy="5048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0">
                <a:solidFill>
                  <a:srgbClr val="006B75"/>
                </a:solidFill>
              </a:defRPr>
            </a:pPr>
            <a:r>
              <a:rPr sz="3300" b="0">
                <a:solidFill>
                  <a:srgbClr val="006B75"/>
                </a:solidFill>
              </a:rPr>
              <a:t>Three-stage pipeline</a:t>
            </a:r>
          </a:p>
        </p:txBody>
      </p:sp>
      <p:sp>
        <p:nvSpPr>
          <p:cNvPr id="5" name="">
            <a:extLst xmlns:a="http://schemas.openxmlformats.org/drawingml/2006/main">
              <a:ext uri="{FF2B5EF4-FFF2-40B4-BE49-F238E27FC236}">
                <a16:creationId xmlns:a16="http://schemas.microsoft.com/office/drawing/2014/main" id="{F00D6A6D-03EC-4C72-9FF9-A7239DD56464}"/>
              </a:ext>
            </a:extLst>
          </p:cNvPr>
          <p:cNvSpPr>
            <a:spLocks xmlns:a="http://schemas.openxmlformats.org/drawingml/2006/main" noGrp="1"/>
          </p:cNvSpPr>
          <p:nvPr/>
        </p:nvSpPr>
        <p:spPr>
          <a:xfrm xmlns:a="http://schemas.openxmlformats.org/drawingml/2006/main">
            <a:off x="952500" y="5457825"/>
            <a:ext cx="64389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73442"/>
                </a:solidFill>
              </a:defRPr>
            </a:pPr>
            <a:r>
              <a:rPr sz="2700" b="1">
                <a:solidFill>
                  <a:srgbClr val="173442"/>
                </a:solidFill>
              </a:rPr>
              <a:t>Bunea Cosmin-Andrei</a:t>
            </a:r>
          </a:p>
        </p:txBody>
      </p:sp>
      <p:sp>
        <p:nvSpPr>
          <p:cNvPr id="6" name="">
            <a:extLst xmlns:a="http://schemas.openxmlformats.org/drawingml/2006/main">
              <a:ext uri="{FF2B5EF4-FFF2-40B4-BE49-F238E27FC236}">
                <a16:creationId xmlns:a16="http://schemas.microsoft.com/office/drawing/2014/main" id="{BC1CDC86-77C1-4D33-9C4A-C1D0131E0E2A}"/>
              </a:ext>
            </a:extLst>
          </p:cNvPr>
          <p:cNvSpPr>
            <a:spLocks xmlns:a="http://schemas.openxmlformats.org/drawingml/2006/main" noGrp="1"/>
          </p:cNvSpPr>
          <p:nvPr/>
        </p:nvSpPr>
        <p:spPr>
          <a:xfrm xmlns:a="http://schemas.openxmlformats.org/drawingml/2006/main">
            <a:off x="952500" y="5943600"/>
            <a:ext cx="64389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Computer Engineering, year III</a:t>
            </a:r>
          </a:p>
          <a:p xmlns:a="http://schemas.openxmlformats.org/drawingml/2006/main">
            <a:pPr>
              <a:defRPr sz="2400" b="0">
                <a:solidFill>
                  <a:srgbClr val="173442"/>
                </a:solidFill>
              </a:defRPr>
            </a:pPr>
            <a:r>
              <a:rPr sz="2400" b="0">
                <a:solidFill>
                  <a:srgbClr val="173442"/>
                </a:solidFill>
              </a:rPr>
              <a:t>Academic year 2025–2026</a:t>
            </a:r>
          </a:p>
          <a:p xmlns:a="http://schemas.openxmlformats.org/drawingml/2006/main">
            <a:pPr>
              <a:defRPr sz="2400" b="0">
                <a:solidFill>
                  <a:srgbClr val="173442"/>
                </a:solidFill>
              </a:defRPr>
            </a:pPr>
            <a:r>
              <a:rPr sz="2400" b="0">
                <a:solidFill>
                  <a:srgbClr val="173442"/>
                </a:solidFill>
              </a:rPr>
              <a:t>Transilvania University of Brașov</a:t>
            </a:r>
          </a:p>
        </p:txBody>
      </p:sp>
      <p:sp>
        <p:nvSpPr>
          <p:cNvPr id="7" name="">
            <a:extLst xmlns:a="http://schemas.openxmlformats.org/drawingml/2006/main">
              <a:ext uri="{FF2B5EF4-FFF2-40B4-BE49-F238E27FC236}">
                <a16:creationId xmlns:a16="http://schemas.microsoft.com/office/drawing/2014/main" id="{258040F9-7CE6-4F3F-A283-EF5EF83CACB1}"/>
              </a:ext>
            </a:extLst>
          </p:cNvPr>
          <p:cNvSpPr>
            <a:spLocks xmlns:a="http://schemas.openxmlformats.org/drawingml/2006/main" noGrp="1"/>
          </p:cNvSpPr>
          <p:nvPr/>
        </p:nvSpPr>
        <p:spPr>
          <a:xfrm xmlns:a="http://schemas.openxmlformats.org/drawingml/2006/main">
            <a:off x="952500" y="7572375"/>
            <a:ext cx="64389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pic>
        <p:nvPicPr>
          <p:cNvPr id="8" name="asset-presentations/assets/soc_context_v3_cpu"/>
          <p:cNvPicPr>
            <a:picLocks xmlns:a="http://schemas.openxmlformats.org/drawingml/2006/main" noChangeAspect="1"/>
          </p:cNvPicPr>
          <p:nvPr/>
        </p:nvPicPr>
        <p:blipFill>
          <a:blip xmlns:r="http://schemas.openxmlformats.org/officeDocument/2006/relationships" xmlns:a="http://schemas.openxmlformats.org/drawingml/2006/main" r:embed="Rc4f159e3420b471c">
            <a:extLst>
              <a:ext uri="{96DAC541-7B7A-43D3-8B79-37D633B846F1}">
                <asvg:svgBlip xmlns:asvg="http://schemas.microsoft.com/office/drawing/2016/SVG/main" r:embed="Re0e7ceaf46d84690"/>
              </a:ext>
            </a:extLst>
          </a:blip>
          <a:stretch xmlns:a="http://schemas.openxmlformats.org/drawingml/2006/main"/>
        </p:blipFill>
        <p:spPr>
          <a:xfrm xmlns:a="http://schemas.openxmlformats.org/drawingml/2006/main">
            <a:off x="7962900" y="2000250"/>
            <a:ext cx="9525000" cy="6277841"/>
          </a:xfrm>
          <a:prstGeom xmlns:a="http://schemas.openxmlformats.org/drawingml/2006/main" prst="rect">
            <a:avLst/>
          </a:prstGeom>
        </p:spPr>
      </p:pic>
    </p:spTree>
    <p:extLst>
      <p:ext uri="{BB962C8B-B14F-4D97-AF65-F5344CB8AC3E}">
        <p14:creationId xmlns:p14="http://schemas.microsoft.com/office/powerpoint/2010/main" val="2377347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1D2CC0A-2E49-4240-9CB1-9F2F9018A7ED}"/>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The brief asks for a three-stage RV32I core with prediction and traps</a:t>
            </a:r>
          </a:p>
        </p:txBody>
      </p:sp>
      <p:sp>
        <p:nvSpPr>
          <p:cNvPr id="2" name="">
            <a:extLst xmlns:a="http://schemas.openxmlformats.org/drawingml/2006/main">
              <a:ext uri="{FF2B5EF4-FFF2-40B4-BE49-F238E27FC236}">
                <a16:creationId xmlns:a16="http://schemas.microsoft.com/office/drawing/2014/main" id="{58303E33-76C7-4C17-A1FB-52CB35E02E5A}"/>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8AFD282E-EE48-4035-B672-7A228EF895EB}"/>
              </a:ext>
            </a:extLst>
          </p:cNvPr>
          <p:cNvSpPr>
            <a:spLocks xmlns:a="http://schemas.openxmlformats.org/drawingml/2006/main" noGrp="1"/>
          </p:cNvSpPr>
          <p:nvPr/>
        </p:nvSpPr>
        <p:spPr>
          <a:xfrm xmlns:a="http://schemas.openxmlformats.org/drawingml/2006/main">
            <a:off x="666750" y="1310640"/>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31D5CAF2-39E3-4FAB-8273-3E115FCE7420}"/>
              </a:ext>
            </a:extLst>
          </p:cNvPr>
          <p:cNvSpPr>
            <a:spLocks xmlns:a="http://schemas.openxmlformats.org/drawingml/2006/main" noGrp="1"/>
          </p:cNvSpPr>
          <p:nvPr/>
        </p:nvSpPr>
        <p:spPr>
          <a:xfrm xmlns:a="http://schemas.openxmlformats.org/drawingml/2006/main">
            <a:off x="952500" y="20669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01</a:t>
            </a:r>
          </a:p>
        </p:txBody>
      </p:sp>
      <p:sp>
        <p:nvSpPr>
          <p:cNvPr id="5" name="">
            <a:extLst xmlns:a="http://schemas.openxmlformats.org/drawingml/2006/main">
              <a:ext uri="{FF2B5EF4-FFF2-40B4-BE49-F238E27FC236}">
                <a16:creationId xmlns:a16="http://schemas.microsoft.com/office/drawing/2014/main" id="{280D40C0-BA36-4A5D-B7A5-825CE2FE0BE3}"/>
              </a:ext>
            </a:extLst>
          </p:cNvPr>
          <p:cNvSpPr>
            <a:spLocks xmlns:a="http://schemas.openxmlformats.org/drawingml/2006/main" noGrp="1"/>
          </p:cNvSpPr>
          <p:nvPr/>
        </p:nvSpPr>
        <p:spPr>
          <a:xfrm xmlns:a="http://schemas.openxmlformats.org/drawingml/2006/main">
            <a:off x="1828800" y="19145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Full RV32I instruction set;</a:t>
            </a:r>
          </a:p>
          <a:p xmlns:a="http://schemas.openxmlformats.org/drawingml/2006/main">
            <a:pPr>
              <a:defRPr sz="2400" b="0">
                <a:solidFill>
                  <a:srgbClr val="173442"/>
                </a:solidFill>
              </a:defRPr>
            </a:pPr>
            <a:r>
              <a:rPr sz="2400" b="0">
                <a:solidFill>
                  <a:srgbClr val="173442"/>
                </a:solidFill>
              </a:rPr>
              <a:t>FENCE as a no-op, ECALL / EBREAK as traps</a:t>
            </a:r>
          </a:p>
        </p:txBody>
      </p:sp>
      <p:sp>
        <p:nvSpPr>
          <p:cNvPr id="6" name="">
            <a:extLst xmlns:a="http://schemas.openxmlformats.org/drawingml/2006/main">
              <a:ext uri="{FF2B5EF4-FFF2-40B4-BE49-F238E27FC236}">
                <a16:creationId xmlns:a16="http://schemas.microsoft.com/office/drawing/2014/main" id="{99402DEF-A1DF-43C3-956E-0E5855657969}"/>
              </a:ext>
            </a:extLst>
          </p:cNvPr>
          <p:cNvSpPr>
            <a:spLocks xmlns:a="http://schemas.openxmlformats.org/drawingml/2006/main" noGrp="1"/>
          </p:cNvSpPr>
          <p:nvPr/>
        </p:nvSpPr>
        <p:spPr>
          <a:xfrm xmlns:a="http://schemas.openxmlformats.org/drawingml/2006/main">
            <a:off x="9277350" y="1310640"/>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7" name="">
            <a:extLst xmlns:a="http://schemas.openxmlformats.org/drawingml/2006/main">
              <a:ext uri="{FF2B5EF4-FFF2-40B4-BE49-F238E27FC236}">
                <a16:creationId xmlns:a16="http://schemas.microsoft.com/office/drawing/2014/main" id="{25EF3933-C96A-4AEF-91EB-492951B3DDF6}"/>
              </a:ext>
            </a:extLst>
          </p:cNvPr>
          <p:cNvSpPr>
            <a:spLocks xmlns:a="http://schemas.openxmlformats.org/drawingml/2006/main" noGrp="1"/>
          </p:cNvSpPr>
          <p:nvPr/>
        </p:nvSpPr>
        <p:spPr>
          <a:xfrm xmlns:a="http://schemas.openxmlformats.org/drawingml/2006/main">
            <a:off x="9563100" y="20669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05</a:t>
            </a:r>
          </a:p>
        </p:txBody>
      </p:sp>
      <p:sp>
        <p:nvSpPr>
          <p:cNvPr id="8" name="">
            <a:extLst xmlns:a="http://schemas.openxmlformats.org/drawingml/2006/main">
              <a:ext uri="{FF2B5EF4-FFF2-40B4-BE49-F238E27FC236}">
                <a16:creationId xmlns:a16="http://schemas.microsoft.com/office/drawing/2014/main" id="{49B96C4A-B734-4F4B-8F02-716B1EC79508}"/>
              </a:ext>
            </a:extLst>
          </p:cNvPr>
          <p:cNvSpPr>
            <a:spLocks xmlns:a="http://schemas.openxmlformats.org/drawingml/2006/main" noGrp="1"/>
          </p:cNvSpPr>
          <p:nvPr/>
        </p:nvSpPr>
        <p:spPr>
          <a:xfrm xmlns:a="http://schemas.openxmlformats.org/drawingml/2006/main">
            <a:off x="10439400" y="19145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Exceptions and external interrupts,</a:t>
            </a:r>
          </a:p>
          <a:p xmlns:a="http://schemas.openxmlformats.org/drawingml/2006/main">
            <a:pPr>
              <a:defRPr sz="2400" b="0">
                <a:solidFill>
                  <a:srgbClr val="173442"/>
                </a:solidFill>
              </a:defRPr>
            </a:pPr>
            <a:r>
              <a:rPr sz="2400" b="0">
                <a:solidFill>
                  <a:srgbClr val="173442"/>
                </a:solidFill>
              </a:rPr>
              <a:t>taken only between instructions</a:t>
            </a:r>
          </a:p>
        </p:txBody>
      </p:sp>
      <p:sp>
        <p:nvSpPr>
          <p:cNvPr id="9" name="">
            <a:extLst xmlns:a="http://schemas.openxmlformats.org/drawingml/2006/main">
              <a:ext uri="{FF2B5EF4-FFF2-40B4-BE49-F238E27FC236}">
                <a16:creationId xmlns:a16="http://schemas.microsoft.com/office/drawing/2014/main" id="{DB7F84DD-987A-41C1-B02C-2B112EA39E39}"/>
              </a:ext>
            </a:extLst>
          </p:cNvPr>
          <p:cNvSpPr>
            <a:spLocks xmlns:a="http://schemas.openxmlformats.org/drawingml/2006/main" noGrp="1"/>
          </p:cNvSpPr>
          <p:nvPr/>
        </p:nvSpPr>
        <p:spPr>
          <a:xfrm xmlns:a="http://schemas.openxmlformats.org/drawingml/2006/main">
            <a:off x="666750" y="3445193"/>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0" name="">
            <a:extLst xmlns:a="http://schemas.openxmlformats.org/drawingml/2006/main">
              <a:ext uri="{FF2B5EF4-FFF2-40B4-BE49-F238E27FC236}">
                <a16:creationId xmlns:a16="http://schemas.microsoft.com/office/drawing/2014/main" id="{04020494-576E-407C-A16F-5AC7185CDE5D}"/>
              </a:ext>
            </a:extLst>
          </p:cNvPr>
          <p:cNvSpPr>
            <a:spLocks xmlns:a="http://schemas.openxmlformats.org/drawingml/2006/main" noGrp="1"/>
          </p:cNvSpPr>
          <p:nvPr/>
        </p:nvSpPr>
        <p:spPr>
          <a:xfrm xmlns:a="http://schemas.openxmlformats.org/drawingml/2006/main">
            <a:off x="952500" y="42005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02</a:t>
            </a:r>
          </a:p>
        </p:txBody>
      </p:sp>
      <p:sp>
        <p:nvSpPr>
          <p:cNvPr id="11" name="">
            <a:extLst xmlns:a="http://schemas.openxmlformats.org/drawingml/2006/main">
              <a:ext uri="{FF2B5EF4-FFF2-40B4-BE49-F238E27FC236}">
                <a16:creationId xmlns:a16="http://schemas.microsoft.com/office/drawing/2014/main" id="{95DA8627-0CC2-451A-AA54-40BDE648FEBB}"/>
              </a:ext>
            </a:extLst>
          </p:cNvPr>
          <p:cNvSpPr>
            <a:spLocks xmlns:a="http://schemas.openxmlformats.org/drawingml/2006/main" noGrp="1"/>
          </p:cNvSpPr>
          <p:nvPr/>
        </p:nvSpPr>
        <p:spPr>
          <a:xfrm xmlns:a="http://schemas.openxmlformats.org/drawingml/2006/main">
            <a:off x="1828800" y="42386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Three stages; a load or store completes inside S2</a:t>
            </a:r>
          </a:p>
        </p:txBody>
      </p:sp>
      <p:sp>
        <p:nvSpPr>
          <p:cNvPr id="12" name="">
            <a:extLst xmlns:a="http://schemas.openxmlformats.org/drawingml/2006/main">
              <a:ext uri="{FF2B5EF4-FFF2-40B4-BE49-F238E27FC236}">
                <a16:creationId xmlns:a16="http://schemas.microsoft.com/office/drawing/2014/main" id="{2773484A-817E-4B53-9086-57E680CDC041}"/>
              </a:ext>
            </a:extLst>
          </p:cNvPr>
          <p:cNvSpPr>
            <a:spLocks xmlns:a="http://schemas.openxmlformats.org/drawingml/2006/main" noGrp="1"/>
          </p:cNvSpPr>
          <p:nvPr/>
        </p:nvSpPr>
        <p:spPr>
          <a:xfrm xmlns:a="http://schemas.openxmlformats.org/drawingml/2006/main">
            <a:off x="9277350" y="3445193"/>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3" name="">
            <a:extLst xmlns:a="http://schemas.openxmlformats.org/drawingml/2006/main">
              <a:ext uri="{FF2B5EF4-FFF2-40B4-BE49-F238E27FC236}">
                <a16:creationId xmlns:a16="http://schemas.microsoft.com/office/drawing/2014/main" id="{303BC03A-8199-4E37-B976-1E9A84F9C81A}"/>
              </a:ext>
            </a:extLst>
          </p:cNvPr>
          <p:cNvSpPr>
            <a:spLocks xmlns:a="http://schemas.openxmlformats.org/drawingml/2006/main" noGrp="1"/>
          </p:cNvSpPr>
          <p:nvPr/>
        </p:nvSpPr>
        <p:spPr>
          <a:xfrm xmlns:a="http://schemas.openxmlformats.org/drawingml/2006/main">
            <a:off x="9563100" y="42005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06</a:t>
            </a:r>
          </a:p>
        </p:txBody>
      </p:sp>
      <p:sp>
        <p:nvSpPr>
          <p:cNvPr id="14" name="">
            <a:extLst xmlns:a="http://schemas.openxmlformats.org/drawingml/2006/main">
              <a:ext uri="{FF2B5EF4-FFF2-40B4-BE49-F238E27FC236}">
                <a16:creationId xmlns:a16="http://schemas.microsoft.com/office/drawing/2014/main" id="{9BC1D514-C2C8-4504-97F3-366DF8BDE43A}"/>
              </a:ext>
            </a:extLst>
          </p:cNvPr>
          <p:cNvSpPr>
            <a:spLocks xmlns:a="http://schemas.openxmlformats.org/drawingml/2006/main" noGrp="1"/>
          </p:cNvSpPr>
          <p:nvPr/>
        </p:nvSpPr>
        <p:spPr>
          <a:xfrm xmlns:a="http://schemas.openxmlformats.org/drawingml/2006/main">
            <a:off x="10439400" y="40481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Machine-mode CSRs: mstatus, mie, mip,</a:t>
            </a:r>
          </a:p>
          <a:p xmlns:a="http://schemas.openxmlformats.org/drawingml/2006/main">
            <a:pPr>
              <a:defRPr sz="2400" b="0">
                <a:solidFill>
                  <a:srgbClr val="173442"/>
                </a:solidFill>
              </a:defRPr>
            </a:pPr>
            <a:r>
              <a:rPr sz="2400" b="0">
                <a:solidFill>
                  <a:srgbClr val="173442"/>
                </a:solidFill>
              </a:rPr>
              <a:t>mtvec, mepc, mcause, mscratch</a:t>
            </a:r>
          </a:p>
        </p:txBody>
      </p:sp>
      <p:sp>
        <p:nvSpPr>
          <p:cNvPr id="15" name="">
            <a:extLst xmlns:a="http://schemas.openxmlformats.org/drawingml/2006/main">
              <a:ext uri="{FF2B5EF4-FFF2-40B4-BE49-F238E27FC236}">
                <a16:creationId xmlns:a16="http://schemas.microsoft.com/office/drawing/2014/main" id="{73B8A9AC-E77A-431A-9890-26536E51502E}"/>
              </a:ext>
            </a:extLst>
          </p:cNvPr>
          <p:cNvSpPr>
            <a:spLocks xmlns:a="http://schemas.openxmlformats.org/drawingml/2006/main" noGrp="1"/>
          </p:cNvSpPr>
          <p:nvPr/>
        </p:nvSpPr>
        <p:spPr>
          <a:xfrm xmlns:a="http://schemas.openxmlformats.org/drawingml/2006/main">
            <a:off x="666750" y="5579745"/>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0674DDB4-6FCC-4813-9C2F-F051C6B0A9C4}"/>
              </a:ext>
            </a:extLst>
          </p:cNvPr>
          <p:cNvSpPr>
            <a:spLocks xmlns:a="http://schemas.openxmlformats.org/drawingml/2006/main" noGrp="1"/>
          </p:cNvSpPr>
          <p:nvPr/>
        </p:nvSpPr>
        <p:spPr>
          <a:xfrm xmlns:a="http://schemas.openxmlformats.org/drawingml/2006/main">
            <a:off x="952500" y="63341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03</a:t>
            </a:r>
          </a:p>
        </p:txBody>
      </p:sp>
      <p:sp>
        <p:nvSpPr>
          <p:cNvPr id="17" name="">
            <a:extLst xmlns:a="http://schemas.openxmlformats.org/drawingml/2006/main">
              <a:ext uri="{FF2B5EF4-FFF2-40B4-BE49-F238E27FC236}">
                <a16:creationId xmlns:a16="http://schemas.microsoft.com/office/drawing/2014/main" id="{0B8D8036-BC48-4026-979C-8425F1E402F8}"/>
              </a:ext>
            </a:extLst>
          </p:cNvPr>
          <p:cNvSpPr>
            <a:spLocks xmlns:a="http://schemas.openxmlformats.org/drawingml/2006/main" noGrp="1"/>
          </p:cNvSpPr>
          <p:nvPr/>
        </p:nvSpPr>
        <p:spPr>
          <a:xfrm xmlns:a="http://schemas.openxmlformats.org/drawingml/2006/main">
            <a:off x="1828800" y="63722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32 × 32-bit registers: 2 read ports, 1 write port, x0 = 0</a:t>
            </a:r>
          </a:p>
        </p:txBody>
      </p:sp>
      <p:sp>
        <p:nvSpPr>
          <p:cNvPr id="18" name="">
            <a:extLst xmlns:a="http://schemas.openxmlformats.org/drawingml/2006/main">
              <a:ext uri="{FF2B5EF4-FFF2-40B4-BE49-F238E27FC236}">
                <a16:creationId xmlns:a16="http://schemas.microsoft.com/office/drawing/2014/main" id="{4A4614F3-4700-4DA4-9C08-109CEA3C4DD0}"/>
              </a:ext>
            </a:extLst>
          </p:cNvPr>
          <p:cNvSpPr>
            <a:spLocks xmlns:a="http://schemas.openxmlformats.org/drawingml/2006/main" noGrp="1"/>
          </p:cNvSpPr>
          <p:nvPr/>
        </p:nvSpPr>
        <p:spPr>
          <a:xfrm xmlns:a="http://schemas.openxmlformats.org/drawingml/2006/main">
            <a:off x="9277350" y="5579745"/>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19" name="">
            <a:extLst xmlns:a="http://schemas.openxmlformats.org/drawingml/2006/main">
              <a:ext uri="{FF2B5EF4-FFF2-40B4-BE49-F238E27FC236}">
                <a16:creationId xmlns:a16="http://schemas.microsoft.com/office/drawing/2014/main" id="{33C03B78-F238-437E-B9FC-F00AEFC81C63}"/>
              </a:ext>
            </a:extLst>
          </p:cNvPr>
          <p:cNvSpPr>
            <a:spLocks xmlns:a="http://schemas.openxmlformats.org/drawingml/2006/main" noGrp="1"/>
          </p:cNvSpPr>
          <p:nvPr/>
        </p:nvSpPr>
        <p:spPr>
          <a:xfrm xmlns:a="http://schemas.openxmlformats.org/drawingml/2006/main">
            <a:off x="9563100" y="63341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07</a:t>
            </a:r>
          </a:p>
        </p:txBody>
      </p:sp>
      <p:sp>
        <p:nvSpPr>
          <p:cNvPr id="20" name="">
            <a:extLst xmlns:a="http://schemas.openxmlformats.org/drawingml/2006/main">
              <a:ext uri="{FF2B5EF4-FFF2-40B4-BE49-F238E27FC236}">
                <a16:creationId xmlns:a16="http://schemas.microsoft.com/office/drawing/2014/main" id="{0D1C1CDA-3D67-45E8-A55B-DBF85B800D17}"/>
              </a:ext>
            </a:extLst>
          </p:cNvPr>
          <p:cNvSpPr>
            <a:spLocks xmlns:a="http://schemas.openxmlformats.org/drawingml/2006/main" noGrp="1"/>
          </p:cNvSpPr>
          <p:nvPr/>
        </p:nvSpPr>
        <p:spPr>
          <a:xfrm xmlns:a="http://schemas.openxmlformats.org/drawingml/2006/main">
            <a:off x="10439400" y="63722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One central unit for every stall and flush</a:t>
            </a:r>
          </a:p>
        </p:txBody>
      </p:sp>
      <p:sp>
        <p:nvSpPr>
          <p:cNvPr id="21" name="">
            <a:extLst xmlns:a="http://schemas.openxmlformats.org/drawingml/2006/main">
              <a:ext uri="{FF2B5EF4-FFF2-40B4-BE49-F238E27FC236}">
                <a16:creationId xmlns:a16="http://schemas.microsoft.com/office/drawing/2014/main" id="{3274AC5C-AA29-4C10-B9BA-4D85C30F235F}"/>
              </a:ext>
            </a:extLst>
          </p:cNvPr>
          <p:cNvSpPr>
            <a:spLocks xmlns:a="http://schemas.openxmlformats.org/drawingml/2006/main" noGrp="1"/>
          </p:cNvSpPr>
          <p:nvPr/>
        </p:nvSpPr>
        <p:spPr>
          <a:xfrm xmlns:a="http://schemas.openxmlformats.org/drawingml/2006/main">
            <a:off x="666750" y="7714298"/>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22" name="">
            <a:extLst xmlns:a="http://schemas.openxmlformats.org/drawingml/2006/main">
              <a:ext uri="{FF2B5EF4-FFF2-40B4-BE49-F238E27FC236}">
                <a16:creationId xmlns:a16="http://schemas.microsoft.com/office/drawing/2014/main" id="{DB262A34-EA14-4B3F-A68C-5D9DC050C645}"/>
              </a:ext>
            </a:extLst>
          </p:cNvPr>
          <p:cNvSpPr>
            <a:spLocks xmlns:a="http://schemas.openxmlformats.org/drawingml/2006/main" noGrp="1"/>
          </p:cNvSpPr>
          <p:nvPr/>
        </p:nvSpPr>
        <p:spPr>
          <a:xfrm xmlns:a="http://schemas.openxmlformats.org/drawingml/2006/main">
            <a:off x="952500" y="84677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04</a:t>
            </a:r>
          </a:p>
        </p:txBody>
      </p:sp>
      <p:sp>
        <p:nvSpPr>
          <p:cNvPr id="23" name="">
            <a:extLst xmlns:a="http://schemas.openxmlformats.org/drawingml/2006/main">
              <a:ext uri="{FF2B5EF4-FFF2-40B4-BE49-F238E27FC236}">
                <a16:creationId xmlns:a16="http://schemas.microsoft.com/office/drawing/2014/main" id="{24849E53-34A2-4D6A-954A-FA19291EE304}"/>
              </a:ext>
            </a:extLst>
          </p:cNvPr>
          <p:cNvSpPr>
            <a:spLocks xmlns:a="http://schemas.openxmlformats.org/drawingml/2006/main" noGrp="1"/>
          </p:cNvSpPr>
          <p:nvPr/>
        </p:nvSpPr>
        <p:spPr>
          <a:xfrm xmlns:a="http://schemas.openxmlformats.org/drawingml/2006/main">
            <a:off x="1828800" y="8505825"/>
            <a:ext cx="68961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Branch predictor with a 1-bit counter per entry</a:t>
            </a:r>
          </a:p>
        </p:txBody>
      </p:sp>
      <p:sp>
        <p:nvSpPr>
          <p:cNvPr id="24" name="">
            <a:extLst xmlns:a="http://schemas.openxmlformats.org/drawingml/2006/main">
              <a:ext uri="{FF2B5EF4-FFF2-40B4-BE49-F238E27FC236}">
                <a16:creationId xmlns:a16="http://schemas.microsoft.com/office/drawing/2014/main" id="{30412891-29AA-4EC3-8DE2-72978D9663CD}"/>
              </a:ext>
            </a:extLst>
          </p:cNvPr>
          <p:cNvSpPr>
            <a:spLocks xmlns:a="http://schemas.openxmlformats.org/drawingml/2006/main" noGrp="1"/>
          </p:cNvSpPr>
          <p:nvPr/>
        </p:nvSpPr>
        <p:spPr>
          <a:xfrm xmlns:a="http://schemas.openxmlformats.org/drawingml/2006/main">
            <a:off x="9277350" y="7714298"/>
            <a:ext cx="8343900" cy="1944053"/>
          </a:xfrm>
          <a:prstGeom xmlns:a="http://schemas.openxmlformats.org/drawingml/2006/main" prst="roundRect">
            <a:avLst>
              <a:gd name="adj" fmla="val 5879"/>
            </a:avLst>
          </a:prstGeom>
          <a:solidFill xmlns:a="http://schemas.openxmlformats.org/drawingml/2006/main">
            <a:srgbClr val="EEF5F5"/>
          </a:solidFill>
        </p:spPr>
      </p:sp>
      <p:sp>
        <p:nvSpPr>
          <p:cNvPr id="25" name="">
            <a:extLst xmlns:a="http://schemas.openxmlformats.org/drawingml/2006/main">
              <a:ext uri="{FF2B5EF4-FFF2-40B4-BE49-F238E27FC236}">
                <a16:creationId xmlns:a16="http://schemas.microsoft.com/office/drawing/2014/main" id="{847A65D2-116D-46E3-8D93-27276CC9FC0C}"/>
              </a:ext>
            </a:extLst>
          </p:cNvPr>
          <p:cNvSpPr>
            <a:spLocks xmlns:a="http://schemas.openxmlformats.org/drawingml/2006/main" noGrp="1"/>
          </p:cNvSpPr>
          <p:nvPr/>
        </p:nvSpPr>
        <p:spPr>
          <a:xfrm xmlns:a="http://schemas.openxmlformats.org/drawingml/2006/main">
            <a:off x="9563100" y="8467725"/>
            <a:ext cx="62865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08</a:t>
            </a:r>
          </a:p>
        </p:txBody>
      </p:sp>
      <p:sp>
        <p:nvSpPr>
          <p:cNvPr id="26" name="">
            <a:extLst xmlns:a="http://schemas.openxmlformats.org/drawingml/2006/main">
              <a:ext uri="{FF2B5EF4-FFF2-40B4-BE49-F238E27FC236}">
                <a16:creationId xmlns:a16="http://schemas.microsoft.com/office/drawing/2014/main" id="{37AECCAC-6E7A-470E-9BA9-B5BDBC67ECC2}"/>
              </a:ext>
            </a:extLst>
          </p:cNvPr>
          <p:cNvSpPr>
            <a:spLocks xmlns:a="http://schemas.openxmlformats.org/drawingml/2006/main" noGrp="1"/>
          </p:cNvSpPr>
          <p:nvPr/>
        </p:nvSpPr>
        <p:spPr>
          <a:xfrm xmlns:a="http://schemas.openxmlformats.org/drawingml/2006/main">
            <a:off x="10439400" y="8315325"/>
            <a:ext cx="6896100" cy="733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Two AXI4-Lite masters (instruction, data)</a:t>
            </a:r>
          </a:p>
          <a:p xmlns:a="http://schemas.openxmlformats.org/drawingml/2006/main">
            <a:pPr>
              <a:defRPr sz="2400" b="0">
                <a:solidFill>
                  <a:srgbClr val="173442"/>
                </a:solidFill>
              </a:defRPr>
            </a:pPr>
            <a:r>
              <a:rPr sz="2400" b="0">
                <a:solidFill>
                  <a:srgbClr val="173442"/>
                </a:solidFill>
              </a:rPr>
              <a:t>and an interrupt link to the PIC</a:t>
            </a:r>
          </a:p>
        </p:txBody>
      </p:sp>
      <p:sp>
        <p:nvSpPr>
          <p:cNvPr id="27" name="footer">
            <a:extLst xmlns:a="http://schemas.openxmlformats.org/drawingml/2006/main">
              <a:ext uri="{FF2B5EF4-FFF2-40B4-BE49-F238E27FC236}">
                <a16:creationId xmlns:a16="http://schemas.microsoft.com/office/drawing/2014/main" id="{5348FEB3-BF81-45B4-91BA-862A0D32F533}"/>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02 / 07   ·   Requirements</a:t>
            </a:r>
          </a:p>
        </p:txBody>
      </p:sp>
    </p:spTree>
    <p:extLst>
      <p:ext uri="{BB962C8B-B14F-4D97-AF65-F5344CB8AC3E}">
        <p14:creationId xmlns:p14="http://schemas.microsoft.com/office/powerpoint/2010/main" val="56935829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7F90159C-6D61-4A08-B1C0-27D4A3C9154D}"/>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Three stages: S1 fetches, S2 decodes and executes, S3 writes back</a:t>
            </a:r>
          </a:p>
        </p:txBody>
      </p:sp>
      <p:sp>
        <p:nvSpPr>
          <p:cNvPr id="2" name="">
            <a:extLst xmlns:a="http://schemas.openxmlformats.org/drawingml/2006/main">
              <a:ext uri="{FF2B5EF4-FFF2-40B4-BE49-F238E27FC236}">
                <a16:creationId xmlns:a16="http://schemas.microsoft.com/office/drawing/2014/main" id="{7D27E340-E188-42D3-9C70-5F1239B52EBD}"/>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presentations/assets/cpu_arch_v3"/>
          <p:cNvPicPr>
            <a:picLocks xmlns:a="http://schemas.openxmlformats.org/drawingml/2006/main" noChangeAspect="1"/>
          </p:cNvPicPr>
          <p:nvPr/>
        </p:nvPicPr>
        <p:blipFill>
          <a:blip xmlns:r="http://schemas.openxmlformats.org/officeDocument/2006/relationships" xmlns:a="http://schemas.openxmlformats.org/drawingml/2006/main" r:embed="R74697e60a4ac480a">
            <a:extLst>
              <a:ext uri="{96DAC541-7B7A-43D3-8B79-37D633B846F1}">
                <asvg:svgBlip xmlns:asvg="http://schemas.microsoft.com/office/drawing/2016/SVG/main" r:embed="Raf050025a94b445a"/>
              </a:ext>
            </a:extLst>
          </a:blip>
          <a:stretch xmlns:a="http://schemas.openxmlformats.org/drawingml/2006/main"/>
        </p:blipFill>
        <p:spPr>
          <a:xfrm xmlns:a="http://schemas.openxmlformats.org/drawingml/2006/main">
            <a:off x="1593949" y="1314450"/>
            <a:ext cx="15100102" cy="5429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008B4B-86A2-4C1B-8320-EF2F249CC414}"/>
              </a:ext>
            </a:extLst>
          </p:cNvPr>
          <p:cNvSpPr>
            <a:spLocks xmlns:a="http://schemas.openxmlformats.org/drawingml/2006/main" noGrp="1"/>
          </p:cNvSpPr>
          <p:nvPr/>
        </p:nvSpPr>
        <p:spPr>
          <a:xfrm xmlns:a="http://schemas.openxmlformats.org/drawingml/2006/main">
            <a:off x="666750" y="6858000"/>
            <a:ext cx="16954500" cy="2571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1">
                <a:solidFill>
                  <a:srgbClr val="526772"/>
                </a:solidFill>
              </a:defRPr>
            </a:pPr>
            <a:r>
              <a:rPr sz="1650" b="1">
                <a:solidFill>
                  <a:srgbClr val="526772"/>
                </a:solidFill>
              </a:rPr>
              <a:t>THE BRIEF LEFT 23 QUESTIONS OPEN  ·  THE FIVE THAT SHAPED THE PIPELINE</a:t>
            </a:r>
          </a:p>
        </p:txBody>
      </p:sp>
      <p:sp>
        <p:nvSpPr>
          <p:cNvPr id="5" name="">
            <a:extLst xmlns:a="http://schemas.openxmlformats.org/drawingml/2006/main">
              <a:ext uri="{FF2B5EF4-FFF2-40B4-BE49-F238E27FC236}">
                <a16:creationId xmlns:a16="http://schemas.microsoft.com/office/drawing/2014/main" id="{A356A874-5037-475B-9323-EE7AE07227EE}"/>
              </a:ext>
            </a:extLst>
          </p:cNvPr>
          <p:cNvSpPr>
            <a:spLocks xmlns:a="http://schemas.openxmlformats.org/drawingml/2006/main" noGrp="1"/>
          </p:cNvSpPr>
          <p:nvPr/>
        </p:nvSpPr>
        <p:spPr>
          <a:xfrm xmlns:a="http://schemas.openxmlformats.org/drawingml/2006/main">
            <a:off x="66675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6" name="">
            <a:extLst xmlns:a="http://schemas.openxmlformats.org/drawingml/2006/main">
              <a:ext uri="{FF2B5EF4-FFF2-40B4-BE49-F238E27FC236}">
                <a16:creationId xmlns:a16="http://schemas.microsoft.com/office/drawing/2014/main" id="{C6C0B80F-EAF4-451B-8B72-2C614D79555B}"/>
              </a:ext>
            </a:extLst>
          </p:cNvPr>
          <p:cNvSpPr>
            <a:spLocks xmlns:a="http://schemas.openxmlformats.org/drawingml/2006/main" noGrp="1"/>
          </p:cNvSpPr>
          <p:nvPr/>
        </p:nvSpPr>
        <p:spPr>
          <a:xfrm xmlns:a="http://schemas.openxmlformats.org/drawingml/2006/main">
            <a:off x="857250"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Predictor</a:t>
            </a:r>
          </a:p>
        </p:txBody>
      </p:sp>
      <p:sp>
        <p:nvSpPr>
          <p:cNvPr id="7" name="">
            <a:extLst xmlns:a="http://schemas.openxmlformats.org/drawingml/2006/main">
              <a:ext uri="{FF2B5EF4-FFF2-40B4-BE49-F238E27FC236}">
                <a16:creationId xmlns:a16="http://schemas.microsoft.com/office/drawing/2014/main" id="{40F5FD4A-3FA0-4DED-81AD-2C87085B3392}"/>
              </a:ext>
            </a:extLst>
          </p:cNvPr>
          <p:cNvSpPr>
            <a:spLocks xmlns:a="http://schemas.openxmlformats.org/drawingml/2006/main" noGrp="1"/>
          </p:cNvSpPr>
          <p:nvPr/>
        </p:nvSpPr>
        <p:spPr>
          <a:xfrm xmlns:a="http://schemas.openxmlformats.org/drawingml/2006/main">
            <a:off x="857250"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Direct-mapped, 128 entries: index PC[8:2], tag PC[31:9]. 1-bit BHT + BTB + 8-entry RAS. Miss → not taken; trained at commit.</a:t>
            </a:r>
          </a:p>
        </p:txBody>
      </p:sp>
      <p:sp>
        <p:nvSpPr>
          <p:cNvPr id="8" name="">
            <a:extLst xmlns:a="http://schemas.openxmlformats.org/drawingml/2006/main">
              <a:ext uri="{FF2B5EF4-FFF2-40B4-BE49-F238E27FC236}">
                <a16:creationId xmlns:a16="http://schemas.microsoft.com/office/drawing/2014/main" id="{75BD0DF2-F94C-4AEE-9DAC-7A8BD0F25627}"/>
              </a:ext>
            </a:extLst>
          </p:cNvPr>
          <p:cNvSpPr>
            <a:spLocks xmlns:a="http://schemas.openxmlformats.org/drawingml/2006/main" noGrp="1"/>
          </p:cNvSpPr>
          <p:nvPr/>
        </p:nvSpPr>
        <p:spPr>
          <a:xfrm xmlns:a="http://schemas.openxmlformats.org/drawingml/2006/main">
            <a:off x="409194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9" name="">
            <a:extLst xmlns:a="http://schemas.openxmlformats.org/drawingml/2006/main">
              <a:ext uri="{FF2B5EF4-FFF2-40B4-BE49-F238E27FC236}">
                <a16:creationId xmlns:a16="http://schemas.microsoft.com/office/drawing/2014/main" id="{4AEAE7DD-22C4-4021-B6CA-7CFBE6D71AFC}"/>
              </a:ext>
            </a:extLst>
          </p:cNvPr>
          <p:cNvSpPr>
            <a:spLocks xmlns:a="http://schemas.openxmlformats.org/drawingml/2006/main" noGrp="1"/>
          </p:cNvSpPr>
          <p:nvPr/>
        </p:nvSpPr>
        <p:spPr>
          <a:xfrm xmlns:a="http://schemas.openxmlformats.org/drawingml/2006/main">
            <a:off x="4286250"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Stalls</a:t>
            </a:r>
          </a:p>
        </p:txBody>
      </p:sp>
      <p:sp>
        <p:nvSpPr>
          <p:cNvPr id="10" name="">
            <a:extLst xmlns:a="http://schemas.openxmlformats.org/drawingml/2006/main">
              <a:ext uri="{FF2B5EF4-FFF2-40B4-BE49-F238E27FC236}">
                <a16:creationId xmlns:a16="http://schemas.microsoft.com/office/drawing/2014/main" id="{0567A305-4571-465B-AF72-B5D3D48589FB}"/>
              </a:ext>
            </a:extLst>
          </p:cNvPr>
          <p:cNvSpPr>
            <a:spLocks xmlns:a="http://schemas.openxmlformats.org/drawingml/2006/main" noGrp="1"/>
          </p:cNvSpPr>
          <p:nvPr/>
        </p:nvSpPr>
        <p:spPr>
          <a:xfrm xmlns:a="http://schemas.openxmlformats.org/drawingml/2006/main">
            <a:off x="4286250"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Only a data access or WFI stalls S2. Load-use costs 0 cycles (S3 → S2 forwarding). S1 parks one word in a skid register.</a:t>
            </a:r>
          </a:p>
        </p:txBody>
      </p:sp>
      <p:sp>
        <p:nvSpPr>
          <p:cNvPr id="11" name="">
            <a:extLst xmlns:a="http://schemas.openxmlformats.org/drawingml/2006/main">
              <a:ext uri="{FF2B5EF4-FFF2-40B4-BE49-F238E27FC236}">
                <a16:creationId xmlns:a16="http://schemas.microsoft.com/office/drawing/2014/main" id="{A60E1A54-2ED8-423C-A333-F50ACEC676B8}"/>
              </a:ext>
            </a:extLst>
          </p:cNvPr>
          <p:cNvSpPr>
            <a:spLocks xmlns:a="http://schemas.openxmlformats.org/drawingml/2006/main" noGrp="1"/>
          </p:cNvSpPr>
          <p:nvPr/>
        </p:nvSpPr>
        <p:spPr>
          <a:xfrm xmlns:a="http://schemas.openxmlformats.org/drawingml/2006/main">
            <a:off x="751713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9E72ABF1-1164-4B21-8365-54B2A9B6FED1}"/>
              </a:ext>
            </a:extLst>
          </p:cNvPr>
          <p:cNvSpPr>
            <a:spLocks xmlns:a="http://schemas.openxmlformats.org/drawingml/2006/main" noGrp="1"/>
          </p:cNvSpPr>
          <p:nvPr/>
        </p:nvSpPr>
        <p:spPr>
          <a:xfrm xmlns:a="http://schemas.openxmlformats.org/drawingml/2006/main">
            <a:off x="7705725" y="758190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Redirect order</a:t>
            </a:r>
          </a:p>
        </p:txBody>
      </p:sp>
      <p:sp>
        <p:nvSpPr>
          <p:cNvPr id="13" name="">
            <a:extLst xmlns:a="http://schemas.openxmlformats.org/drawingml/2006/main">
              <a:ext uri="{FF2B5EF4-FFF2-40B4-BE49-F238E27FC236}">
                <a16:creationId xmlns:a16="http://schemas.microsoft.com/office/drawing/2014/main" id="{A8CB971D-F565-4022-9180-333B5D252762}"/>
              </a:ext>
            </a:extLst>
          </p:cNvPr>
          <p:cNvSpPr>
            <a:spLocks xmlns:a="http://schemas.openxmlformats.org/drawingml/2006/main" noGrp="1"/>
          </p:cNvSpPr>
          <p:nvPr/>
        </p:nvSpPr>
        <p:spPr>
          <a:xfrm xmlns:a="http://schemas.openxmlformats.org/drawingml/2006/main">
            <a:off x="7705725" y="7962900"/>
            <a:ext cx="2914650" cy="1314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Resolved in S2, one redirect per instruction: interrupt &gt; exception &gt; MRET &gt; misprediction. Flush = valid bit cleared.</a:t>
            </a:r>
          </a:p>
        </p:txBody>
      </p:sp>
      <p:sp>
        <p:nvSpPr>
          <p:cNvPr id="14" name="">
            <a:extLst xmlns:a="http://schemas.openxmlformats.org/drawingml/2006/main">
              <a:ext uri="{FF2B5EF4-FFF2-40B4-BE49-F238E27FC236}">
                <a16:creationId xmlns:a16="http://schemas.microsoft.com/office/drawing/2014/main" id="{48D0F398-EBF6-4D4C-88C8-103CE925BBC1}"/>
              </a:ext>
            </a:extLst>
          </p:cNvPr>
          <p:cNvSpPr>
            <a:spLocks xmlns:a="http://schemas.openxmlformats.org/drawingml/2006/main" noGrp="1"/>
          </p:cNvSpPr>
          <p:nvPr/>
        </p:nvSpPr>
        <p:spPr>
          <a:xfrm xmlns:a="http://schemas.openxmlformats.org/drawingml/2006/main">
            <a:off x="1094232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5" name="">
            <a:extLst xmlns:a="http://schemas.openxmlformats.org/drawingml/2006/main">
              <a:ext uri="{FF2B5EF4-FFF2-40B4-BE49-F238E27FC236}">
                <a16:creationId xmlns:a16="http://schemas.microsoft.com/office/drawing/2014/main" id="{260D90E9-E531-4CA7-97D0-3B8F78096495}"/>
              </a:ext>
            </a:extLst>
          </p:cNvPr>
          <p:cNvSpPr>
            <a:spLocks xmlns:a="http://schemas.openxmlformats.org/drawingml/2006/main" noGrp="1"/>
          </p:cNvSpPr>
          <p:nvPr/>
        </p:nvSpPr>
        <p:spPr>
          <a:xfrm xmlns:a="http://schemas.openxmlformats.org/drawingml/2006/main">
            <a:off x="11134725"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Nested traps</a:t>
            </a:r>
          </a:p>
        </p:txBody>
      </p:sp>
      <p:sp>
        <p:nvSpPr>
          <p:cNvPr id="16" name="">
            <a:extLst xmlns:a="http://schemas.openxmlformats.org/drawingml/2006/main">
              <a:ext uri="{FF2B5EF4-FFF2-40B4-BE49-F238E27FC236}">
                <a16:creationId xmlns:a16="http://schemas.microsoft.com/office/drawing/2014/main" id="{91943D95-F261-4AFE-8DD5-B9A482D4528E}"/>
              </a:ext>
            </a:extLst>
          </p:cNvPr>
          <p:cNvSpPr>
            <a:spLocks xmlns:a="http://schemas.openxmlformats.org/drawingml/2006/main" noGrp="1"/>
          </p:cNvSpPr>
          <p:nvPr/>
        </p:nvSpPr>
        <p:spPr>
          <a:xfrm xmlns:a="http://schemas.openxmlformats.org/drawingml/2006/main">
            <a:off x="11134725"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Entry saves mepc, mcause, mtval and MIE → MPIE. A 16-level trap-kind stack: MRET sends EOI only for an interrupt.</a:t>
            </a:r>
          </a:p>
        </p:txBody>
      </p:sp>
      <p:sp>
        <p:nvSpPr>
          <p:cNvPr id="17" name="">
            <a:extLst xmlns:a="http://schemas.openxmlformats.org/drawingml/2006/main">
              <a:ext uri="{FF2B5EF4-FFF2-40B4-BE49-F238E27FC236}">
                <a16:creationId xmlns:a16="http://schemas.microsoft.com/office/drawing/2014/main" id="{2755FA89-CCF4-41EB-AFB4-47FB9DBEF3F3}"/>
              </a:ext>
            </a:extLst>
          </p:cNvPr>
          <p:cNvSpPr>
            <a:spLocks xmlns:a="http://schemas.openxmlformats.org/drawingml/2006/main" noGrp="1"/>
          </p:cNvSpPr>
          <p:nvPr/>
        </p:nvSpPr>
        <p:spPr>
          <a:xfrm xmlns:a="http://schemas.openxmlformats.org/drawingml/2006/main">
            <a:off x="14367510" y="7200900"/>
            <a:ext cx="3253740" cy="2457450"/>
          </a:xfrm>
          <a:prstGeom xmlns:a="http://schemas.openxmlformats.org/drawingml/2006/main" prst="roundRect">
            <a:avLst>
              <a:gd name="adj" fmla="val 4651"/>
            </a:avLst>
          </a:prstGeom>
          <a:solidFill xmlns:a="http://schemas.openxmlformats.org/drawingml/2006/main">
            <a:srgbClr val="EEF5F5"/>
          </a:solidFill>
        </p:spPr>
      </p:sp>
      <p:sp>
        <p:nvSpPr>
          <p:cNvPr id="18" name="">
            <a:extLst xmlns:a="http://schemas.openxmlformats.org/drawingml/2006/main">
              <a:ext uri="{FF2B5EF4-FFF2-40B4-BE49-F238E27FC236}">
                <a16:creationId xmlns:a16="http://schemas.microsoft.com/office/drawing/2014/main" id="{3E95C34E-0925-4BBF-8A8C-0A88DFC99AA6}"/>
              </a:ext>
            </a:extLst>
          </p:cNvPr>
          <p:cNvSpPr>
            <a:spLocks xmlns:a="http://schemas.openxmlformats.org/drawingml/2006/main" noGrp="1"/>
          </p:cNvSpPr>
          <p:nvPr/>
        </p:nvSpPr>
        <p:spPr>
          <a:xfrm xmlns:a="http://schemas.openxmlformats.org/drawingml/2006/main">
            <a:off x="14554200" y="7715250"/>
            <a:ext cx="2914650" cy="3143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Precise errors</a:t>
            </a:r>
          </a:p>
        </p:txBody>
      </p:sp>
      <p:sp>
        <p:nvSpPr>
          <p:cNvPr id="19" name="">
            <a:extLst xmlns:a="http://schemas.openxmlformats.org/drawingml/2006/main">
              <a:ext uri="{FF2B5EF4-FFF2-40B4-BE49-F238E27FC236}">
                <a16:creationId xmlns:a16="http://schemas.microsoft.com/office/drawing/2014/main" id="{C14A36F6-8AB6-450E-A2B6-CB15D77CD3D8}"/>
              </a:ext>
            </a:extLst>
          </p:cNvPr>
          <p:cNvSpPr>
            <a:spLocks xmlns:a="http://schemas.openxmlformats.org/drawingml/2006/main" noGrp="1"/>
          </p:cNvSpPr>
          <p:nvPr/>
        </p:nvSpPr>
        <p:spPr>
          <a:xfrm xmlns:a="http://schemas.openxmlformats.org/drawingml/2006/main">
            <a:off x="14554200" y="8096250"/>
            <a:ext cx="2914650" cy="1057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Fetch fault → cause 1, load / store fault → 5 / 7, misaligned → 4 / 6 before the bus, bad CSR → illegal. No write-back.</a:t>
            </a:r>
          </a:p>
        </p:txBody>
      </p:sp>
      <p:sp>
        <p:nvSpPr>
          <p:cNvPr id="20" name="footer">
            <a:extLst xmlns:a="http://schemas.openxmlformats.org/drawingml/2006/main">
              <a:ext uri="{FF2B5EF4-FFF2-40B4-BE49-F238E27FC236}">
                <a16:creationId xmlns:a16="http://schemas.microsoft.com/office/drawing/2014/main" id="{5CE2292D-F2C1-4093-A79B-8AC97E4A5C2D}"/>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03 / 07   ·   Architecture and decisions</a:t>
            </a:r>
          </a:p>
        </p:txBody>
      </p:sp>
    </p:spTree>
    <p:extLst>
      <p:ext uri="{BB962C8B-B14F-4D97-AF65-F5344CB8AC3E}">
        <p14:creationId xmlns:p14="http://schemas.microsoft.com/office/powerpoint/2010/main" val="13296342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9D808FA-48C2-466F-96DA-A911CEE1E2B7}"/>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The CSRs connect software to traps, counters and the PIC</a:t>
            </a:r>
          </a:p>
        </p:txBody>
      </p:sp>
      <p:sp>
        <p:nvSpPr>
          <p:cNvPr id="2" name="">
            <a:extLst xmlns:a="http://schemas.openxmlformats.org/drawingml/2006/main">
              <a:ext uri="{FF2B5EF4-FFF2-40B4-BE49-F238E27FC236}">
                <a16:creationId xmlns:a16="http://schemas.microsoft.com/office/drawing/2014/main" id="{9C66B80A-91C4-4E69-A4EF-B37478EF763D}"/>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7EA858FA-F3BC-4724-A6D7-C8BA4211CB2A}"/>
              </a:ext>
            </a:extLst>
          </p:cNvPr>
          <p:cNvSpPr>
            <a:spLocks xmlns:a="http://schemas.openxmlformats.org/drawingml/2006/main" noGrp="1"/>
          </p:cNvSpPr>
          <p:nvPr/>
        </p:nvSpPr>
        <p:spPr>
          <a:xfrm xmlns:a="http://schemas.openxmlformats.org/drawingml/2006/main">
            <a:off x="876300" y="1381125"/>
            <a:ext cx="3343275"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CSR</a:t>
            </a:r>
          </a:p>
        </p:txBody>
      </p:sp>
      <p:sp>
        <p:nvSpPr>
          <p:cNvPr id="4" name="">
            <a:extLst xmlns:a="http://schemas.openxmlformats.org/drawingml/2006/main">
              <a:ext uri="{FF2B5EF4-FFF2-40B4-BE49-F238E27FC236}">
                <a16:creationId xmlns:a16="http://schemas.microsoft.com/office/drawing/2014/main" id="{5F4A9809-4EA7-4F1C-BD58-A900A58B1462}"/>
              </a:ext>
            </a:extLst>
          </p:cNvPr>
          <p:cNvSpPr>
            <a:spLocks xmlns:a="http://schemas.openxmlformats.org/drawingml/2006/main" noGrp="1"/>
          </p:cNvSpPr>
          <p:nvPr/>
        </p:nvSpPr>
        <p:spPr>
          <a:xfrm xmlns:a="http://schemas.openxmlformats.org/drawingml/2006/main">
            <a:off x="4600575" y="1381125"/>
            <a:ext cx="7362825"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What it does</a:t>
            </a:r>
          </a:p>
        </p:txBody>
      </p:sp>
      <p:sp>
        <p:nvSpPr>
          <p:cNvPr id="5" name="">
            <a:extLst xmlns:a="http://schemas.openxmlformats.org/drawingml/2006/main">
              <a:ext uri="{FF2B5EF4-FFF2-40B4-BE49-F238E27FC236}">
                <a16:creationId xmlns:a16="http://schemas.microsoft.com/office/drawing/2014/main" id="{02485609-0B6E-49CA-99BE-AD9AF55E77AB}"/>
              </a:ext>
            </a:extLst>
          </p:cNvPr>
          <p:cNvSpPr>
            <a:spLocks xmlns:a="http://schemas.openxmlformats.org/drawingml/2006/main" noGrp="1"/>
          </p:cNvSpPr>
          <p:nvPr/>
        </p:nvSpPr>
        <p:spPr>
          <a:xfrm xmlns:a="http://schemas.openxmlformats.org/drawingml/2006/main">
            <a:off x="666750" y="1762125"/>
            <a:ext cx="3727132" cy="835025"/>
          </a:xfrm>
          <a:prstGeom xmlns:a="http://schemas.openxmlformats.org/drawingml/2006/main" prst="rect">
            <a:avLst/>
          </a:prstGeom>
          <a:solidFill xmlns:a="http://schemas.openxmlformats.org/drawingml/2006/main">
            <a:srgbClr val="FFFFFF"/>
          </a:solidFill>
        </p:spPr>
      </p:sp>
      <p:sp>
        <p:nvSpPr>
          <p:cNvPr id="6" name="">
            <a:extLst xmlns:a="http://schemas.openxmlformats.org/drawingml/2006/main">
              <a:ext uri="{FF2B5EF4-FFF2-40B4-BE49-F238E27FC236}">
                <a16:creationId xmlns:a16="http://schemas.microsoft.com/office/drawing/2014/main" id="{32B48FF4-36F1-42D8-96DA-B5D5E4913DB4}"/>
              </a:ext>
            </a:extLst>
          </p:cNvPr>
          <p:cNvSpPr>
            <a:spLocks xmlns:a="http://schemas.openxmlformats.org/drawingml/2006/main" noGrp="1"/>
          </p:cNvSpPr>
          <p:nvPr/>
        </p:nvSpPr>
        <p:spPr>
          <a:xfrm xmlns:a="http://schemas.openxmlformats.org/drawingml/2006/main">
            <a:off x="876300" y="2028825"/>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mstatus</a:t>
            </a:r>
          </a:p>
        </p:txBody>
      </p:sp>
      <p:sp>
        <p:nvSpPr>
          <p:cNvPr id="7" name="">
            <a:extLst xmlns:a="http://schemas.openxmlformats.org/drawingml/2006/main">
              <a:ext uri="{FF2B5EF4-FFF2-40B4-BE49-F238E27FC236}">
                <a16:creationId xmlns:a16="http://schemas.microsoft.com/office/drawing/2014/main" id="{7CD11487-34FE-4B11-AAC4-7390DE33AB9E}"/>
              </a:ext>
            </a:extLst>
          </p:cNvPr>
          <p:cNvSpPr>
            <a:spLocks xmlns:a="http://schemas.openxmlformats.org/drawingml/2006/main" noGrp="1"/>
          </p:cNvSpPr>
          <p:nvPr/>
        </p:nvSpPr>
        <p:spPr>
          <a:xfrm xmlns:a="http://schemas.openxmlformats.org/drawingml/2006/main">
            <a:off x="4393883" y="1762125"/>
            <a:ext cx="7740967" cy="835025"/>
          </a:xfrm>
          <a:prstGeom xmlns:a="http://schemas.openxmlformats.org/drawingml/2006/main" prst="rect">
            <a:avLst/>
          </a:prstGeom>
          <a:solidFill xmlns:a="http://schemas.openxmlformats.org/drawingml/2006/main">
            <a:srgbClr val="FFFFFF"/>
          </a:solidFill>
        </p:spPr>
      </p:sp>
      <p:sp>
        <p:nvSpPr>
          <p:cNvPr id="8" name="">
            <a:extLst xmlns:a="http://schemas.openxmlformats.org/drawingml/2006/main">
              <a:ext uri="{FF2B5EF4-FFF2-40B4-BE49-F238E27FC236}">
                <a16:creationId xmlns:a16="http://schemas.microsoft.com/office/drawing/2014/main" id="{68D81F33-1C0B-4BF4-86C3-4869B104737B}"/>
              </a:ext>
            </a:extLst>
          </p:cNvPr>
          <p:cNvSpPr>
            <a:spLocks xmlns:a="http://schemas.openxmlformats.org/drawingml/2006/main" noGrp="1"/>
          </p:cNvSpPr>
          <p:nvPr/>
        </p:nvSpPr>
        <p:spPr>
          <a:xfrm xmlns:a="http://schemas.openxmlformats.org/drawingml/2006/main">
            <a:off x="4600575" y="202882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MIE global enable; MPIE holds it during a trap, MRET restores it</a:t>
            </a:r>
          </a:p>
        </p:txBody>
      </p:sp>
      <p:sp>
        <p:nvSpPr>
          <p:cNvPr id="9" name="">
            <a:extLst xmlns:a="http://schemas.openxmlformats.org/drawingml/2006/main">
              <a:ext uri="{FF2B5EF4-FFF2-40B4-BE49-F238E27FC236}">
                <a16:creationId xmlns:a16="http://schemas.microsoft.com/office/drawing/2014/main" id="{F88A6611-5725-4404-AC68-8A51DB4D090B}"/>
              </a:ext>
            </a:extLst>
          </p:cNvPr>
          <p:cNvSpPr>
            <a:spLocks xmlns:a="http://schemas.openxmlformats.org/drawingml/2006/main" noGrp="1"/>
          </p:cNvSpPr>
          <p:nvPr/>
        </p:nvSpPr>
        <p:spPr>
          <a:xfrm xmlns:a="http://schemas.openxmlformats.org/drawingml/2006/main">
            <a:off x="666750" y="2644775"/>
            <a:ext cx="3727132" cy="835025"/>
          </a:xfrm>
          <a:prstGeom xmlns:a="http://schemas.openxmlformats.org/drawingml/2006/main" prst="rect">
            <a:avLst/>
          </a:prstGeom>
          <a:solidFill xmlns:a="http://schemas.openxmlformats.org/drawingml/2006/main">
            <a:srgbClr val="F5F9F9"/>
          </a:solidFill>
        </p:spPr>
      </p:sp>
      <p:sp>
        <p:nvSpPr>
          <p:cNvPr id="10" name="">
            <a:extLst xmlns:a="http://schemas.openxmlformats.org/drawingml/2006/main">
              <a:ext uri="{FF2B5EF4-FFF2-40B4-BE49-F238E27FC236}">
                <a16:creationId xmlns:a16="http://schemas.microsoft.com/office/drawing/2014/main" id="{61B6A125-B2C3-4D90-A32E-BC622F294DAB}"/>
              </a:ext>
            </a:extLst>
          </p:cNvPr>
          <p:cNvSpPr>
            <a:spLocks xmlns:a="http://schemas.openxmlformats.org/drawingml/2006/main" noGrp="1"/>
          </p:cNvSpPr>
          <p:nvPr/>
        </p:nvSpPr>
        <p:spPr>
          <a:xfrm xmlns:a="http://schemas.openxmlformats.org/drawingml/2006/main">
            <a:off x="876300" y="291465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mtvec</a:t>
            </a:r>
          </a:p>
        </p:txBody>
      </p:sp>
      <p:sp>
        <p:nvSpPr>
          <p:cNvPr id="11" name="">
            <a:extLst xmlns:a="http://schemas.openxmlformats.org/drawingml/2006/main">
              <a:ext uri="{FF2B5EF4-FFF2-40B4-BE49-F238E27FC236}">
                <a16:creationId xmlns:a16="http://schemas.microsoft.com/office/drawing/2014/main" id="{2A1089FD-25C1-4D0F-A3B5-5975E65E066F}"/>
              </a:ext>
            </a:extLst>
          </p:cNvPr>
          <p:cNvSpPr>
            <a:spLocks xmlns:a="http://schemas.openxmlformats.org/drawingml/2006/main" noGrp="1"/>
          </p:cNvSpPr>
          <p:nvPr/>
        </p:nvSpPr>
        <p:spPr>
          <a:xfrm xmlns:a="http://schemas.openxmlformats.org/drawingml/2006/main">
            <a:off x="4393883" y="2644775"/>
            <a:ext cx="7740967" cy="835025"/>
          </a:xfrm>
          <a:prstGeom xmlns:a="http://schemas.openxmlformats.org/drawingml/2006/main" prst="rect">
            <a:avLst/>
          </a:prstGeom>
          <a:solidFill xmlns:a="http://schemas.openxmlformats.org/drawingml/2006/main">
            <a:srgbClr val="F5F9F9"/>
          </a:solidFill>
        </p:spPr>
      </p:sp>
      <p:sp>
        <p:nvSpPr>
          <p:cNvPr id="12" name="">
            <a:extLst xmlns:a="http://schemas.openxmlformats.org/drawingml/2006/main">
              <a:ext uri="{FF2B5EF4-FFF2-40B4-BE49-F238E27FC236}">
                <a16:creationId xmlns:a16="http://schemas.microsoft.com/office/drawing/2014/main" id="{32A38DD8-BB2E-4F05-A39E-95EE4E650CD1}"/>
              </a:ext>
            </a:extLst>
          </p:cNvPr>
          <p:cNvSpPr>
            <a:spLocks xmlns:a="http://schemas.openxmlformats.org/drawingml/2006/main" noGrp="1"/>
          </p:cNvSpPr>
          <p:nvPr/>
        </p:nvSpPr>
        <p:spPr>
          <a:xfrm xmlns:a="http://schemas.openxmlformats.org/drawingml/2006/main">
            <a:off x="4600575" y="2914650"/>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Handler base: direct, or vectored with one entry per interrupt</a:t>
            </a:r>
          </a:p>
        </p:txBody>
      </p:sp>
      <p:sp>
        <p:nvSpPr>
          <p:cNvPr id="13" name="">
            <a:extLst xmlns:a="http://schemas.openxmlformats.org/drawingml/2006/main">
              <a:ext uri="{FF2B5EF4-FFF2-40B4-BE49-F238E27FC236}">
                <a16:creationId xmlns:a16="http://schemas.microsoft.com/office/drawing/2014/main" id="{2E41D869-BB85-4C3E-95A2-9C59A8A0620A}"/>
              </a:ext>
            </a:extLst>
          </p:cNvPr>
          <p:cNvSpPr>
            <a:spLocks xmlns:a="http://schemas.openxmlformats.org/drawingml/2006/main" noGrp="1"/>
          </p:cNvSpPr>
          <p:nvPr/>
        </p:nvSpPr>
        <p:spPr>
          <a:xfrm xmlns:a="http://schemas.openxmlformats.org/drawingml/2006/main">
            <a:off x="666750" y="3527425"/>
            <a:ext cx="3727132" cy="835025"/>
          </a:xfrm>
          <a:prstGeom xmlns:a="http://schemas.openxmlformats.org/drawingml/2006/main" prst="rect">
            <a:avLst/>
          </a:prstGeom>
          <a:solidFill xmlns:a="http://schemas.openxmlformats.org/drawingml/2006/main">
            <a:srgbClr val="FFFFFF"/>
          </a:solidFill>
        </p:spPr>
      </p:sp>
      <p:sp>
        <p:nvSpPr>
          <p:cNvPr id="14" name="">
            <a:extLst xmlns:a="http://schemas.openxmlformats.org/drawingml/2006/main">
              <a:ext uri="{FF2B5EF4-FFF2-40B4-BE49-F238E27FC236}">
                <a16:creationId xmlns:a16="http://schemas.microsoft.com/office/drawing/2014/main" id="{3C976BC4-5F0E-4FF4-89D4-26E7247CD5CA}"/>
              </a:ext>
            </a:extLst>
          </p:cNvPr>
          <p:cNvSpPr>
            <a:spLocks xmlns:a="http://schemas.openxmlformats.org/drawingml/2006/main" noGrp="1"/>
          </p:cNvSpPr>
          <p:nvPr/>
        </p:nvSpPr>
        <p:spPr>
          <a:xfrm xmlns:a="http://schemas.openxmlformats.org/drawingml/2006/main">
            <a:off x="876300" y="379095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mepc · mcause · mtval</a:t>
            </a:r>
          </a:p>
        </p:txBody>
      </p:sp>
      <p:sp>
        <p:nvSpPr>
          <p:cNvPr id="15" name="">
            <a:extLst xmlns:a="http://schemas.openxmlformats.org/drawingml/2006/main">
              <a:ext uri="{FF2B5EF4-FFF2-40B4-BE49-F238E27FC236}">
                <a16:creationId xmlns:a16="http://schemas.microsoft.com/office/drawing/2014/main" id="{6844CCA7-2FC9-48AE-9087-D91F706FC5C5}"/>
              </a:ext>
            </a:extLst>
          </p:cNvPr>
          <p:cNvSpPr>
            <a:spLocks xmlns:a="http://schemas.openxmlformats.org/drawingml/2006/main" noGrp="1"/>
          </p:cNvSpPr>
          <p:nvPr/>
        </p:nvSpPr>
        <p:spPr>
          <a:xfrm xmlns:a="http://schemas.openxmlformats.org/drawingml/2006/main">
            <a:off x="4393883" y="3527425"/>
            <a:ext cx="7740967" cy="835025"/>
          </a:xfrm>
          <a:prstGeom xmlns:a="http://schemas.openxmlformats.org/drawingml/2006/main" prst="rect">
            <a:avLst/>
          </a:prstGeom>
          <a:solidFill xmlns:a="http://schemas.openxmlformats.org/drawingml/2006/main">
            <a:srgbClr val="FFFFFF"/>
          </a:solidFill>
        </p:spPr>
      </p:sp>
      <p:sp>
        <p:nvSpPr>
          <p:cNvPr id="16" name="">
            <a:extLst xmlns:a="http://schemas.openxmlformats.org/drawingml/2006/main">
              <a:ext uri="{FF2B5EF4-FFF2-40B4-BE49-F238E27FC236}">
                <a16:creationId xmlns:a16="http://schemas.microsoft.com/office/drawing/2014/main" id="{F3CD2BC3-10D2-4426-ADD5-EF1D62CF652C}"/>
              </a:ext>
            </a:extLst>
          </p:cNvPr>
          <p:cNvSpPr>
            <a:spLocks xmlns:a="http://schemas.openxmlformats.org/drawingml/2006/main" noGrp="1"/>
          </p:cNvSpPr>
          <p:nvPr/>
        </p:nvSpPr>
        <p:spPr>
          <a:xfrm xmlns:a="http://schemas.openxmlformats.org/drawingml/2006/main">
            <a:off x="4600575" y="380047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Return PC · cause, bit 31 = interrupt · faulting address or instruction</a:t>
            </a:r>
          </a:p>
        </p:txBody>
      </p:sp>
      <p:sp>
        <p:nvSpPr>
          <p:cNvPr id="17" name="">
            <a:extLst xmlns:a="http://schemas.openxmlformats.org/drawingml/2006/main">
              <a:ext uri="{FF2B5EF4-FFF2-40B4-BE49-F238E27FC236}">
                <a16:creationId xmlns:a16="http://schemas.microsoft.com/office/drawing/2014/main" id="{0C86ECB6-1D19-4846-9278-2C1BB7E7D77F}"/>
              </a:ext>
            </a:extLst>
          </p:cNvPr>
          <p:cNvSpPr>
            <a:spLocks xmlns:a="http://schemas.openxmlformats.org/drawingml/2006/main" noGrp="1"/>
          </p:cNvSpPr>
          <p:nvPr/>
        </p:nvSpPr>
        <p:spPr>
          <a:xfrm xmlns:a="http://schemas.openxmlformats.org/drawingml/2006/main">
            <a:off x="666750" y="4410075"/>
            <a:ext cx="3727132" cy="835025"/>
          </a:xfrm>
          <a:prstGeom xmlns:a="http://schemas.openxmlformats.org/drawingml/2006/main" prst="rect">
            <a:avLst/>
          </a:prstGeom>
          <a:solidFill xmlns:a="http://schemas.openxmlformats.org/drawingml/2006/main">
            <a:srgbClr val="F5F9F9"/>
          </a:solidFill>
        </p:spPr>
      </p:sp>
      <p:sp>
        <p:nvSpPr>
          <p:cNvPr id="18" name="">
            <a:extLst xmlns:a="http://schemas.openxmlformats.org/drawingml/2006/main">
              <a:ext uri="{FF2B5EF4-FFF2-40B4-BE49-F238E27FC236}">
                <a16:creationId xmlns:a16="http://schemas.microsoft.com/office/drawing/2014/main" id="{4537448D-2492-48C3-B829-DB5E53EC9826}"/>
              </a:ext>
            </a:extLst>
          </p:cNvPr>
          <p:cNvSpPr>
            <a:spLocks xmlns:a="http://schemas.openxmlformats.org/drawingml/2006/main" noGrp="1"/>
          </p:cNvSpPr>
          <p:nvPr/>
        </p:nvSpPr>
        <p:spPr>
          <a:xfrm xmlns:a="http://schemas.openxmlformats.org/drawingml/2006/main">
            <a:off x="876300" y="4676775"/>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mscratch</a:t>
            </a:r>
          </a:p>
        </p:txBody>
      </p:sp>
      <p:sp>
        <p:nvSpPr>
          <p:cNvPr id="19" name="">
            <a:extLst xmlns:a="http://schemas.openxmlformats.org/drawingml/2006/main">
              <a:ext uri="{FF2B5EF4-FFF2-40B4-BE49-F238E27FC236}">
                <a16:creationId xmlns:a16="http://schemas.microsoft.com/office/drawing/2014/main" id="{C0D9DB31-306A-42CD-8F8A-AAC3A35D2178}"/>
              </a:ext>
            </a:extLst>
          </p:cNvPr>
          <p:cNvSpPr>
            <a:spLocks xmlns:a="http://schemas.openxmlformats.org/drawingml/2006/main" noGrp="1"/>
          </p:cNvSpPr>
          <p:nvPr/>
        </p:nvSpPr>
        <p:spPr>
          <a:xfrm xmlns:a="http://schemas.openxmlformats.org/drawingml/2006/main">
            <a:off x="4393883" y="4410075"/>
            <a:ext cx="7740967" cy="835025"/>
          </a:xfrm>
          <a:prstGeom xmlns:a="http://schemas.openxmlformats.org/drawingml/2006/main" prst="rect">
            <a:avLst/>
          </a:prstGeom>
          <a:solidFill xmlns:a="http://schemas.openxmlformats.org/drawingml/2006/main">
            <a:srgbClr val="F5F9F9"/>
          </a:solidFill>
        </p:spPr>
      </p:sp>
      <p:sp>
        <p:nvSpPr>
          <p:cNvPr id="20" name="">
            <a:extLst xmlns:a="http://schemas.openxmlformats.org/drawingml/2006/main">
              <a:ext uri="{FF2B5EF4-FFF2-40B4-BE49-F238E27FC236}">
                <a16:creationId xmlns:a16="http://schemas.microsoft.com/office/drawing/2014/main" id="{13D0252F-61DF-4E69-8FE4-9CDB23AD01AA}"/>
              </a:ext>
            </a:extLst>
          </p:cNvPr>
          <p:cNvSpPr>
            <a:spLocks xmlns:a="http://schemas.openxmlformats.org/drawingml/2006/main" noGrp="1"/>
          </p:cNvSpPr>
          <p:nvPr/>
        </p:nvSpPr>
        <p:spPr>
          <a:xfrm xmlns:a="http://schemas.openxmlformats.org/drawingml/2006/main">
            <a:off x="4600575" y="467677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Free word for the handler to save context</a:t>
            </a:r>
          </a:p>
        </p:txBody>
      </p:sp>
      <p:sp>
        <p:nvSpPr>
          <p:cNvPr id="21" name="">
            <a:extLst xmlns:a="http://schemas.openxmlformats.org/drawingml/2006/main">
              <a:ext uri="{FF2B5EF4-FFF2-40B4-BE49-F238E27FC236}">
                <a16:creationId xmlns:a16="http://schemas.microsoft.com/office/drawing/2014/main" id="{8250DF42-0889-4779-9CB4-6374F87593A3}"/>
              </a:ext>
            </a:extLst>
          </p:cNvPr>
          <p:cNvSpPr>
            <a:spLocks xmlns:a="http://schemas.openxmlformats.org/drawingml/2006/main" noGrp="1"/>
          </p:cNvSpPr>
          <p:nvPr/>
        </p:nvSpPr>
        <p:spPr>
          <a:xfrm xmlns:a="http://schemas.openxmlformats.org/drawingml/2006/main">
            <a:off x="666750" y="5292725"/>
            <a:ext cx="3727132" cy="835025"/>
          </a:xfrm>
          <a:prstGeom xmlns:a="http://schemas.openxmlformats.org/drawingml/2006/main" prst="rect">
            <a:avLst/>
          </a:prstGeom>
          <a:solidFill xmlns:a="http://schemas.openxmlformats.org/drawingml/2006/main">
            <a:srgbClr val="FFFFFF"/>
          </a:solidFill>
        </p:spPr>
      </p:sp>
      <p:sp>
        <p:nvSpPr>
          <p:cNvPr id="22" name="">
            <a:extLst xmlns:a="http://schemas.openxmlformats.org/drawingml/2006/main">
              <a:ext uri="{FF2B5EF4-FFF2-40B4-BE49-F238E27FC236}">
                <a16:creationId xmlns:a16="http://schemas.microsoft.com/office/drawing/2014/main" id="{AEBFDAD9-23C0-43E4-8635-BFAC2448FBFB}"/>
              </a:ext>
            </a:extLst>
          </p:cNvPr>
          <p:cNvSpPr>
            <a:spLocks xmlns:a="http://schemas.openxmlformats.org/drawingml/2006/main" noGrp="1"/>
          </p:cNvSpPr>
          <p:nvPr/>
        </p:nvSpPr>
        <p:spPr>
          <a:xfrm xmlns:a="http://schemas.openxmlformats.org/drawingml/2006/main">
            <a:off x="876300" y="556260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mie</a:t>
            </a:r>
          </a:p>
        </p:txBody>
      </p:sp>
      <p:sp>
        <p:nvSpPr>
          <p:cNvPr id="23" name="">
            <a:extLst xmlns:a="http://schemas.openxmlformats.org/drawingml/2006/main">
              <a:ext uri="{FF2B5EF4-FFF2-40B4-BE49-F238E27FC236}">
                <a16:creationId xmlns:a16="http://schemas.microsoft.com/office/drawing/2014/main" id="{6A24C025-EF88-4052-ADD0-DF6F5210A37E}"/>
              </a:ext>
            </a:extLst>
          </p:cNvPr>
          <p:cNvSpPr>
            <a:spLocks xmlns:a="http://schemas.openxmlformats.org/drawingml/2006/main" noGrp="1"/>
          </p:cNvSpPr>
          <p:nvPr/>
        </p:nvSpPr>
        <p:spPr>
          <a:xfrm xmlns:a="http://schemas.openxmlformats.org/drawingml/2006/main">
            <a:off x="4393883" y="5292725"/>
            <a:ext cx="7740967" cy="835025"/>
          </a:xfrm>
          <a:prstGeom xmlns:a="http://schemas.openxmlformats.org/drawingml/2006/main" prst="rect">
            <a:avLst/>
          </a:prstGeom>
          <a:solidFill xmlns:a="http://schemas.openxmlformats.org/drawingml/2006/main">
            <a:srgbClr val="FFFFFF"/>
          </a:solidFill>
        </p:spPr>
      </p:sp>
      <p:sp>
        <p:nvSpPr>
          <p:cNvPr id="24" name="">
            <a:extLst xmlns:a="http://schemas.openxmlformats.org/drawingml/2006/main">
              <a:ext uri="{FF2B5EF4-FFF2-40B4-BE49-F238E27FC236}">
                <a16:creationId xmlns:a16="http://schemas.microsoft.com/office/drawing/2014/main" id="{A2BF66A0-0251-44AF-B642-7E9BF1EB48E5}"/>
              </a:ext>
            </a:extLst>
          </p:cNvPr>
          <p:cNvSpPr>
            <a:spLocks xmlns:a="http://schemas.openxmlformats.org/drawingml/2006/main" noGrp="1"/>
          </p:cNvSpPr>
          <p:nvPr/>
        </p:nvSpPr>
        <p:spPr>
          <a:xfrm xmlns:a="http://schemas.openxmlformats.org/drawingml/2006/main">
            <a:off x="4600575" y="5562600"/>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One enable bit per PIC source; also drives the PIC mask</a:t>
            </a:r>
          </a:p>
        </p:txBody>
      </p:sp>
      <p:sp>
        <p:nvSpPr>
          <p:cNvPr id="25" name="">
            <a:extLst xmlns:a="http://schemas.openxmlformats.org/drawingml/2006/main">
              <a:ext uri="{FF2B5EF4-FFF2-40B4-BE49-F238E27FC236}">
                <a16:creationId xmlns:a16="http://schemas.microsoft.com/office/drawing/2014/main" id="{11A1228A-F330-40CA-B21E-06EB904DC050}"/>
              </a:ext>
            </a:extLst>
          </p:cNvPr>
          <p:cNvSpPr>
            <a:spLocks xmlns:a="http://schemas.openxmlformats.org/drawingml/2006/main" noGrp="1"/>
          </p:cNvSpPr>
          <p:nvPr/>
        </p:nvSpPr>
        <p:spPr>
          <a:xfrm xmlns:a="http://schemas.openxmlformats.org/drawingml/2006/main">
            <a:off x="666750" y="6175375"/>
            <a:ext cx="3727132" cy="835025"/>
          </a:xfrm>
          <a:prstGeom xmlns:a="http://schemas.openxmlformats.org/drawingml/2006/main" prst="rect">
            <a:avLst/>
          </a:prstGeom>
          <a:solidFill xmlns:a="http://schemas.openxmlformats.org/drawingml/2006/main">
            <a:srgbClr val="F5F9F9"/>
          </a:solidFill>
        </p:spPr>
      </p:sp>
      <p:sp>
        <p:nvSpPr>
          <p:cNvPr id="26" name="">
            <a:extLst xmlns:a="http://schemas.openxmlformats.org/drawingml/2006/main">
              <a:ext uri="{FF2B5EF4-FFF2-40B4-BE49-F238E27FC236}">
                <a16:creationId xmlns:a16="http://schemas.microsoft.com/office/drawing/2014/main" id="{4A998B1D-ABC1-437B-BB77-F1EA06B15E9C}"/>
              </a:ext>
            </a:extLst>
          </p:cNvPr>
          <p:cNvSpPr>
            <a:spLocks xmlns:a="http://schemas.openxmlformats.org/drawingml/2006/main" noGrp="1"/>
          </p:cNvSpPr>
          <p:nvPr/>
        </p:nvSpPr>
        <p:spPr>
          <a:xfrm xmlns:a="http://schemas.openxmlformats.org/drawingml/2006/main">
            <a:off x="876300" y="643890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mip</a:t>
            </a:r>
          </a:p>
        </p:txBody>
      </p:sp>
      <p:sp>
        <p:nvSpPr>
          <p:cNvPr id="27" name="">
            <a:extLst xmlns:a="http://schemas.openxmlformats.org/drawingml/2006/main">
              <a:ext uri="{FF2B5EF4-FFF2-40B4-BE49-F238E27FC236}">
                <a16:creationId xmlns:a16="http://schemas.microsoft.com/office/drawing/2014/main" id="{6D10462D-1496-4448-B429-80F3BFC3A2B4}"/>
              </a:ext>
            </a:extLst>
          </p:cNvPr>
          <p:cNvSpPr>
            <a:spLocks xmlns:a="http://schemas.openxmlformats.org/drawingml/2006/main" noGrp="1"/>
          </p:cNvSpPr>
          <p:nvPr/>
        </p:nvSpPr>
        <p:spPr>
          <a:xfrm xmlns:a="http://schemas.openxmlformats.org/drawingml/2006/main">
            <a:off x="4393883" y="6175375"/>
            <a:ext cx="7740967" cy="835025"/>
          </a:xfrm>
          <a:prstGeom xmlns:a="http://schemas.openxmlformats.org/drawingml/2006/main" prst="rect">
            <a:avLst/>
          </a:prstGeom>
          <a:solidFill xmlns:a="http://schemas.openxmlformats.org/drawingml/2006/main">
            <a:srgbClr val="F5F9F9"/>
          </a:solidFill>
        </p:spPr>
      </p:sp>
      <p:sp>
        <p:nvSpPr>
          <p:cNvPr id="28" name="">
            <a:extLst xmlns:a="http://schemas.openxmlformats.org/drawingml/2006/main">
              <a:ext uri="{FF2B5EF4-FFF2-40B4-BE49-F238E27FC236}">
                <a16:creationId xmlns:a16="http://schemas.microsoft.com/office/drawing/2014/main" id="{BC039DC1-4BC5-4330-8613-66F22A160A40}"/>
              </a:ext>
            </a:extLst>
          </p:cNvPr>
          <p:cNvSpPr>
            <a:spLocks xmlns:a="http://schemas.openxmlformats.org/drawingml/2006/main" noGrp="1"/>
          </p:cNvSpPr>
          <p:nvPr/>
        </p:nvSpPr>
        <p:spPr>
          <a:xfrm xmlns:a="http://schemas.openxmlformats.org/drawingml/2006/main">
            <a:off x="4600575" y="644842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Every source pending in the PIC; read-only</a:t>
            </a:r>
          </a:p>
        </p:txBody>
      </p:sp>
      <p:sp>
        <p:nvSpPr>
          <p:cNvPr id="29" name="">
            <a:extLst xmlns:a="http://schemas.openxmlformats.org/drawingml/2006/main">
              <a:ext uri="{FF2B5EF4-FFF2-40B4-BE49-F238E27FC236}">
                <a16:creationId xmlns:a16="http://schemas.microsoft.com/office/drawing/2014/main" id="{0C285C43-A264-4775-8BDB-56C2F9A2375A}"/>
              </a:ext>
            </a:extLst>
          </p:cNvPr>
          <p:cNvSpPr>
            <a:spLocks xmlns:a="http://schemas.openxmlformats.org/drawingml/2006/main" noGrp="1"/>
          </p:cNvSpPr>
          <p:nvPr/>
        </p:nvSpPr>
        <p:spPr>
          <a:xfrm xmlns:a="http://schemas.openxmlformats.org/drawingml/2006/main">
            <a:off x="666750" y="7058025"/>
            <a:ext cx="3727132" cy="835025"/>
          </a:xfrm>
          <a:prstGeom xmlns:a="http://schemas.openxmlformats.org/drawingml/2006/main" prst="rect">
            <a:avLst/>
          </a:prstGeom>
          <a:solidFill xmlns:a="http://schemas.openxmlformats.org/drawingml/2006/main">
            <a:srgbClr val="FFFFFF"/>
          </a:solidFill>
        </p:spPr>
      </p:sp>
      <p:sp>
        <p:nvSpPr>
          <p:cNvPr id="30" name="">
            <a:extLst xmlns:a="http://schemas.openxmlformats.org/drawingml/2006/main">
              <a:ext uri="{FF2B5EF4-FFF2-40B4-BE49-F238E27FC236}">
                <a16:creationId xmlns:a16="http://schemas.microsoft.com/office/drawing/2014/main" id="{9B28C224-79C0-47F1-AC19-ED1B0B610BF1}"/>
              </a:ext>
            </a:extLst>
          </p:cNvPr>
          <p:cNvSpPr>
            <a:spLocks xmlns:a="http://schemas.openxmlformats.org/drawingml/2006/main" noGrp="1"/>
          </p:cNvSpPr>
          <p:nvPr/>
        </p:nvSpPr>
        <p:spPr>
          <a:xfrm xmlns:a="http://schemas.openxmlformats.org/drawingml/2006/main">
            <a:off x="876300" y="7324725"/>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mcycle · minstret</a:t>
            </a:r>
          </a:p>
        </p:txBody>
      </p:sp>
      <p:sp>
        <p:nvSpPr>
          <p:cNvPr id="31" name="">
            <a:extLst xmlns:a="http://schemas.openxmlformats.org/drawingml/2006/main">
              <a:ext uri="{FF2B5EF4-FFF2-40B4-BE49-F238E27FC236}">
                <a16:creationId xmlns:a16="http://schemas.microsoft.com/office/drawing/2014/main" id="{A277C0CB-BC6A-4A7F-A7C3-5B59154C13DD}"/>
              </a:ext>
            </a:extLst>
          </p:cNvPr>
          <p:cNvSpPr>
            <a:spLocks xmlns:a="http://schemas.openxmlformats.org/drawingml/2006/main" noGrp="1"/>
          </p:cNvSpPr>
          <p:nvPr/>
        </p:nvSpPr>
        <p:spPr>
          <a:xfrm xmlns:a="http://schemas.openxmlformats.org/drawingml/2006/main">
            <a:off x="4393883" y="7058025"/>
            <a:ext cx="7740967" cy="835025"/>
          </a:xfrm>
          <a:prstGeom xmlns:a="http://schemas.openxmlformats.org/drawingml/2006/main" prst="rect">
            <a:avLst/>
          </a:prstGeom>
          <a:solidFill xmlns:a="http://schemas.openxmlformats.org/drawingml/2006/main">
            <a:srgbClr val="FFFFFF"/>
          </a:solidFill>
        </p:spPr>
      </p:sp>
      <p:sp>
        <p:nvSpPr>
          <p:cNvPr id="32" name="">
            <a:extLst xmlns:a="http://schemas.openxmlformats.org/drawingml/2006/main">
              <a:ext uri="{FF2B5EF4-FFF2-40B4-BE49-F238E27FC236}">
                <a16:creationId xmlns:a16="http://schemas.microsoft.com/office/drawing/2014/main" id="{B5A9AB32-6A05-4B84-8391-C1CE377292C5}"/>
              </a:ext>
            </a:extLst>
          </p:cNvPr>
          <p:cNvSpPr>
            <a:spLocks xmlns:a="http://schemas.openxmlformats.org/drawingml/2006/main" noGrp="1"/>
          </p:cNvSpPr>
          <p:nvPr/>
        </p:nvSpPr>
        <p:spPr>
          <a:xfrm xmlns:a="http://schemas.openxmlformats.org/drawingml/2006/main">
            <a:off x="4600575" y="732472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64-bit cycle and retired-instruction counters; each half writable</a:t>
            </a:r>
          </a:p>
        </p:txBody>
      </p:sp>
      <p:sp>
        <p:nvSpPr>
          <p:cNvPr id="33" name="">
            <a:extLst xmlns:a="http://schemas.openxmlformats.org/drawingml/2006/main">
              <a:ext uri="{FF2B5EF4-FFF2-40B4-BE49-F238E27FC236}">
                <a16:creationId xmlns:a16="http://schemas.microsoft.com/office/drawing/2014/main" id="{32605D25-7D67-401A-A29E-D98B596E6495}"/>
              </a:ext>
            </a:extLst>
          </p:cNvPr>
          <p:cNvSpPr>
            <a:spLocks xmlns:a="http://schemas.openxmlformats.org/drawingml/2006/main" noGrp="1"/>
          </p:cNvSpPr>
          <p:nvPr/>
        </p:nvSpPr>
        <p:spPr>
          <a:xfrm xmlns:a="http://schemas.openxmlformats.org/drawingml/2006/main">
            <a:off x="666750" y="7940675"/>
            <a:ext cx="3727132" cy="835025"/>
          </a:xfrm>
          <a:prstGeom xmlns:a="http://schemas.openxmlformats.org/drawingml/2006/main" prst="rect">
            <a:avLst/>
          </a:prstGeom>
          <a:solidFill xmlns:a="http://schemas.openxmlformats.org/drawingml/2006/main">
            <a:srgbClr val="F5F9F9"/>
          </a:solidFill>
        </p:spPr>
      </p:sp>
      <p:sp>
        <p:nvSpPr>
          <p:cNvPr id="34" name="">
            <a:extLst xmlns:a="http://schemas.openxmlformats.org/drawingml/2006/main">
              <a:ext uri="{FF2B5EF4-FFF2-40B4-BE49-F238E27FC236}">
                <a16:creationId xmlns:a16="http://schemas.microsoft.com/office/drawing/2014/main" id="{1152531C-2A79-451F-909B-75E952D03164}"/>
              </a:ext>
            </a:extLst>
          </p:cNvPr>
          <p:cNvSpPr>
            <a:spLocks xmlns:a="http://schemas.openxmlformats.org/drawingml/2006/main" noGrp="1"/>
          </p:cNvSpPr>
          <p:nvPr/>
        </p:nvSpPr>
        <p:spPr>
          <a:xfrm xmlns:a="http://schemas.openxmlformats.org/drawingml/2006/main">
            <a:off x="876300" y="821055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mhpmcounter3–7</a:t>
            </a:r>
          </a:p>
        </p:txBody>
      </p:sp>
      <p:sp>
        <p:nvSpPr>
          <p:cNvPr id="35" name="">
            <a:extLst xmlns:a="http://schemas.openxmlformats.org/drawingml/2006/main">
              <a:ext uri="{FF2B5EF4-FFF2-40B4-BE49-F238E27FC236}">
                <a16:creationId xmlns:a16="http://schemas.microsoft.com/office/drawing/2014/main" id="{01E67EF2-CA45-408A-800C-521C4AC8BB1F}"/>
              </a:ext>
            </a:extLst>
          </p:cNvPr>
          <p:cNvSpPr>
            <a:spLocks xmlns:a="http://schemas.openxmlformats.org/drawingml/2006/main" noGrp="1"/>
          </p:cNvSpPr>
          <p:nvPr/>
        </p:nvSpPr>
        <p:spPr>
          <a:xfrm xmlns:a="http://schemas.openxmlformats.org/drawingml/2006/main">
            <a:off x="4393883" y="7940675"/>
            <a:ext cx="7740967" cy="835025"/>
          </a:xfrm>
          <a:prstGeom xmlns:a="http://schemas.openxmlformats.org/drawingml/2006/main" prst="rect">
            <a:avLst/>
          </a:prstGeom>
          <a:solidFill xmlns:a="http://schemas.openxmlformats.org/drawingml/2006/main">
            <a:srgbClr val="F5F9F9"/>
          </a:solidFill>
        </p:spPr>
      </p:sp>
      <p:sp>
        <p:nvSpPr>
          <p:cNvPr id="36" name="">
            <a:extLst xmlns:a="http://schemas.openxmlformats.org/drawingml/2006/main">
              <a:ext uri="{FF2B5EF4-FFF2-40B4-BE49-F238E27FC236}">
                <a16:creationId xmlns:a16="http://schemas.microsoft.com/office/drawing/2014/main" id="{F2C7C2AE-3984-4C90-9716-A9ADB91340FF}"/>
              </a:ext>
            </a:extLst>
          </p:cNvPr>
          <p:cNvSpPr>
            <a:spLocks xmlns:a="http://schemas.openxmlformats.org/drawingml/2006/main" noGrp="1"/>
          </p:cNvSpPr>
          <p:nvPr/>
        </p:nvSpPr>
        <p:spPr>
          <a:xfrm xmlns:a="http://schemas.openxmlformats.org/drawingml/2006/main">
            <a:off x="4600575" y="8210550"/>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Event counters: mispredictions, fetch waits, data stalls, traps, WFI sleep</a:t>
            </a:r>
          </a:p>
        </p:txBody>
      </p:sp>
      <p:sp>
        <p:nvSpPr>
          <p:cNvPr id="37" name="">
            <a:extLst xmlns:a="http://schemas.openxmlformats.org/drawingml/2006/main">
              <a:ext uri="{FF2B5EF4-FFF2-40B4-BE49-F238E27FC236}">
                <a16:creationId xmlns:a16="http://schemas.microsoft.com/office/drawing/2014/main" id="{F528512C-99D6-499E-A963-38AA2A0D8954}"/>
              </a:ext>
            </a:extLst>
          </p:cNvPr>
          <p:cNvSpPr>
            <a:spLocks xmlns:a="http://schemas.openxmlformats.org/drawingml/2006/main" noGrp="1"/>
          </p:cNvSpPr>
          <p:nvPr/>
        </p:nvSpPr>
        <p:spPr>
          <a:xfrm xmlns:a="http://schemas.openxmlformats.org/drawingml/2006/main">
            <a:off x="666750" y="8823325"/>
            <a:ext cx="3727132" cy="835025"/>
          </a:xfrm>
          <a:prstGeom xmlns:a="http://schemas.openxmlformats.org/drawingml/2006/main" prst="rect">
            <a:avLst/>
          </a:prstGeom>
          <a:solidFill xmlns:a="http://schemas.openxmlformats.org/drawingml/2006/main">
            <a:srgbClr val="FFFFFF"/>
          </a:solidFill>
        </p:spPr>
      </p:sp>
      <p:sp>
        <p:nvSpPr>
          <p:cNvPr id="38" name="">
            <a:extLst xmlns:a="http://schemas.openxmlformats.org/drawingml/2006/main">
              <a:ext uri="{FF2B5EF4-FFF2-40B4-BE49-F238E27FC236}">
                <a16:creationId xmlns:a16="http://schemas.microsoft.com/office/drawing/2014/main" id="{744CA94E-838E-4BEF-9782-7E331F605E37}"/>
              </a:ext>
            </a:extLst>
          </p:cNvPr>
          <p:cNvSpPr>
            <a:spLocks xmlns:a="http://schemas.openxmlformats.org/drawingml/2006/main" noGrp="1"/>
          </p:cNvSpPr>
          <p:nvPr/>
        </p:nvSpPr>
        <p:spPr>
          <a:xfrm xmlns:a="http://schemas.openxmlformats.org/drawingml/2006/main">
            <a:off x="876300" y="9086850"/>
            <a:ext cx="3343275"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006B75"/>
                </a:solidFill>
              </a:defRPr>
            </a:pPr>
            <a:r>
              <a:rPr sz="2025" b="1">
                <a:solidFill>
                  <a:srgbClr val="006B75"/>
                </a:solidFill>
              </a:rPr>
              <a:t>misa · mhartid · IDs</a:t>
            </a:r>
          </a:p>
        </p:txBody>
      </p:sp>
      <p:sp>
        <p:nvSpPr>
          <p:cNvPr id="39" name="">
            <a:extLst xmlns:a="http://schemas.openxmlformats.org/drawingml/2006/main">
              <a:ext uri="{FF2B5EF4-FFF2-40B4-BE49-F238E27FC236}">
                <a16:creationId xmlns:a16="http://schemas.microsoft.com/office/drawing/2014/main" id="{BB71318C-7D74-4C03-8ECE-3A8F08D4F250}"/>
              </a:ext>
            </a:extLst>
          </p:cNvPr>
          <p:cNvSpPr>
            <a:spLocks xmlns:a="http://schemas.openxmlformats.org/drawingml/2006/main" noGrp="1"/>
          </p:cNvSpPr>
          <p:nvPr/>
        </p:nvSpPr>
        <p:spPr>
          <a:xfrm xmlns:a="http://schemas.openxmlformats.org/drawingml/2006/main">
            <a:off x="4393883" y="8823325"/>
            <a:ext cx="7740967" cy="835025"/>
          </a:xfrm>
          <a:prstGeom xmlns:a="http://schemas.openxmlformats.org/drawingml/2006/main" prst="rect">
            <a:avLst/>
          </a:prstGeom>
          <a:solidFill xmlns:a="http://schemas.openxmlformats.org/drawingml/2006/main">
            <a:srgbClr val="FFFFFF"/>
          </a:solidFill>
        </p:spPr>
      </p:sp>
      <p:sp>
        <p:nvSpPr>
          <p:cNvPr id="40" name="">
            <a:extLst xmlns:a="http://schemas.openxmlformats.org/drawingml/2006/main">
              <a:ext uri="{FF2B5EF4-FFF2-40B4-BE49-F238E27FC236}">
                <a16:creationId xmlns:a16="http://schemas.microsoft.com/office/drawing/2014/main" id="{8F207781-5F3B-40C9-AD46-FC9D2CE22BCD}"/>
              </a:ext>
            </a:extLst>
          </p:cNvPr>
          <p:cNvSpPr>
            <a:spLocks xmlns:a="http://schemas.openxmlformats.org/drawingml/2006/main" noGrp="1"/>
          </p:cNvSpPr>
          <p:nvPr/>
        </p:nvSpPr>
        <p:spPr>
          <a:xfrm xmlns:a="http://schemas.openxmlformats.org/drawingml/2006/main">
            <a:off x="4600575" y="9096375"/>
            <a:ext cx="7362825" cy="2952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173442"/>
                </a:solidFill>
              </a:defRPr>
            </a:pPr>
            <a:r>
              <a:rPr sz="1950" b="0">
                <a:solidFill>
                  <a:srgbClr val="173442"/>
                </a:solidFill>
              </a:rPr>
              <a:t>RV32I in misa; mhartid from HART_ID, tested with two harts</a:t>
            </a:r>
          </a:p>
        </p:txBody>
      </p:sp>
      <p:pic>
        <p:nvPicPr>
          <p:cNvPr id="41" name="asset-presentations/assets/cpu_flow_v3"/>
          <p:cNvPicPr>
            <a:picLocks xmlns:a="http://schemas.openxmlformats.org/drawingml/2006/main" noChangeAspect="1"/>
          </p:cNvPicPr>
          <p:nvPr/>
        </p:nvPicPr>
        <p:blipFill>
          <a:blip xmlns:r="http://schemas.openxmlformats.org/officeDocument/2006/relationships" xmlns:a="http://schemas.openxmlformats.org/drawingml/2006/main" r:embed="Rd9f5c6f569854392">
            <a:extLst>
              <a:ext uri="{96DAC541-7B7A-43D3-8B79-37D633B846F1}">
                <asvg:svgBlip xmlns:asvg="http://schemas.microsoft.com/office/drawing/2016/SVG/main" r:embed="Rfc29482d99644a8e"/>
              </a:ext>
            </a:extLst>
          </a:blip>
          <a:stretch xmlns:a="http://schemas.openxmlformats.org/drawingml/2006/main"/>
        </p:blipFill>
        <p:spPr>
          <a:xfrm xmlns:a="http://schemas.openxmlformats.org/drawingml/2006/main">
            <a:off x="12668250" y="1685925"/>
            <a:ext cx="4953000" cy="7606393"/>
          </a:xfrm>
          <a:prstGeom xmlns:a="http://schemas.openxmlformats.org/drawingml/2006/main" prst="rect">
            <a:avLst/>
          </a:prstGeom>
        </p:spPr>
      </p:pic>
      <p:sp>
        <p:nvSpPr>
          <p:cNvPr id="42" name="footer">
            <a:extLst xmlns:a="http://schemas.openxmlformats.org/drawingml/2006/main">
              <a:ext uri="{FF2B5EF4-FFF2-40B4-BE49-F238E27FC236}">
                <a16:creationId xmlns:a16="http://schemas.microsoft.com/office/drawing/2014/main" id="{EBA1287E-7DF9-479B-90E5-B67782A40ABC}"/>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04 / 07   ·   Registers</a:t>
            </a:r>
          </a:p>
        </p:txBody>
      </p:sp>
    </p:spTree>
    <p:extLst>
      <p:ext uri="{BB962C8B-B14F-4D97-AF65-F5344CB8AC3E}">
        <p14:creationId xmlns:p14="http://schemas.microsoft.com/office/powerpoint/2010/main" val="20897377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12C4D5CE-0C2A-4EF3-80F2-FB2BC3337AC1}"/>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An independent model checks every instruction the core retires</a:t>
            </a:r>
          </a:p>
        </p:txBody>
      </p:sp>
      <p:sp>
        <p:nvSpPr>
          <p:cNvPr id="2" name="">
            <a:extLst xmlns:a="http://schemas.openxmlformats.org/drawingml/2006/main">
              <a:ext uri="{FF2B5EF4-FFF2-40B4-BE49-F238E27FC236}">
                <a16:creationId xmlns:a16="http://schemas.microsoft.com/office/drawing/2014/main" id="{CDCC4B8D-B819-40A1-8050-6D42D56D7ECF}"/>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01419EA1-C9BF-47E9-841E-534E4CA0B273}"/>
              </a:ext>
            </a:extLst>
          </p:cNvPr>
          <p:cNvSpPr>
            <a:spLocks xmlns:a="http://schemas.openxmlformats.org/drawingml/2006/main" noGrp="1"/>
          </p:cNvSpPr>
          <p:nvPr/>
        </p:nvSpPr>
        <p:spPr>
          <a:xfrm xmlns:a="http://schemas.openxmlformats.org/drawingml/2006/main">
            <a:off x="666750" y="1314450"/>
            <a:ext cx="59055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THE CPU ALONE</a:t>
            </a:r>
          </a:p>
        </p:txBody>
      </p:sp>
      <p:sp>
        <p:nvSpPr>
          <p:cNvPr id="4" name="">
            <a:extLst xmlns:a="http://schemas.openxmlformats.org/drawingml/2006/main">
              <a:ext uri="{FF2B5EF4-FFF2-40B4-BE49-F238E27FC236}">
                <a16:creationId xmlns:a16="http://schemas.microsoft.com/office/drawing/2014/main" id="{446C8D6F-9910-417F-B841-5CECFF4DDCD7}"/>
              </a:ext>
            </a:extLst>
          </p:cNvPr>
          <p:cNvSpPr>
            <a:spLocks xmlns:a="http://schemas.openxmlformats.org/drawingml/2006/main" noGrp="1"/>
          </p:cNvSpPr>
          <p:nvPr/>
        </p:nvSpPr>
        <p:spPr>
          <a:xfrm xmlns:a="http://schemas.openxmlformats.org/drawingml/2006/main">
            <a:off x="666750" y="1703070"/>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164F46BE-7227-44CC-9887-D298A3EB3DA3}"/>
              </a:ext>
            </a:extLst>
          </p:cNvPr>
          <p:cNvSpPr>
            <a:spLocks xmlns:a="http://schemas.openxmlformats.org/drawingml/2006/main" noGrp="1"/>
          </p:cNvSpPr>
          <p:nvPr/>
        </p:nvSpPr>
        <p:spPr>
          <a:xfrm xmlns:a="http://schemas.openxmlformats.org/drawingml/2006/main">
            <a:off x="876300" y="20097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11</a:t>
            </a:r>
          </a:p>
        </p:txBody>
      </p:sp>
      <p:sp>
        <p:nvSpPr>
          <p:cNvPr id="6" name="">
            <a:extLst xmlns:a="http://schemas.openxmlformats.org/drawingml/2006/main">
              <a:ext uri="{FF2B5EF4-FFF2-40B4-BE49-F238E27FC236}">
                <a16:creationId xmlns:a16="http://schemas.microsoft.com/office/drawing/2014/main" id="{C6AEDC21-4A79-4315-B38E-C8150C2A7A63}"/>
              </a:ext>
            </a:extLst>
          </p:cNvPr>
          <p:cNvSpPr>
            <a:spLocks xmlns:a="http://schemas.openxmlformats.org/drawingml/2006/main" noGrp="1"/>
          </p:cNvSpPr>
          <p:nvPr/>
        </p:nvSpPr>
        <p:spPr>
          <a:xfrm xmlns:a="http://schemas.openxmlformats.org/drawingml/2006/main">
            <a:off x="2171700" y="19716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programs vs the golden ISA model: 49,149 instructions, each checked at write-back</a:t>
            </a:r>
          </a:p>
        </p:txBody>
      </p:sp>
      <p:sp>
        <p:nvSpPr>
          <p:cNvPr id="7" name="">
            <a:extLst xmlns:a="http://schemas.openxmlformats.org/drawingml/2006/main">
              <a:ext uri="{FF2B5EF4-FFF2-40B4-BE49-F238E27FC236}">
                <a16:creationId xmlns:a16="http://schemas.microsoft.com/office/drawing/2014/main" id="{37B2D418-7015-429D-83BF-AAE7CFF12F72}"/>
              </a:ext>
            </a:extLst>
          </p:cNvPr>
          <p:cNvSpPr>
            <a:spLocks xmlns:a="http://schemas.openxmlformats.org/drawingml/2006/main" noGrp="1"/>
          </p:cNvSpPr>
          <p:nvPr/>
        </p:nvSpPr>
        <p:spPr>
          <a:xfrm xmlns:a="http://schemas.openxmlformats.org/drawingml/2006/main">
            <a:off x="666750" y="2853146"/>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0E0DA92A-34E0-43B8-93B3-BAA5E4FE46CD}"/>
              </a:ext>
            </a:extLst>
          </p:cNvPr>
          <p:cNvSpPr>
            <a:spLocks xmlns:a="http://schemas.openxmlformats.org/drawingml/2006/main" noGrp="1"/>
          </p:cNvSpPr>
          <p:nvPr/>
        </p:nvSpPr>
        <p:spPr>
          <a:xfrm xmlns:a="http://schemas.openxmlformats.org/drawingml/2006/main">
            <a:off x="876300" y="31527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53</a:t>
            </a:r>
          </a:p>
        </p:txBody>
      </p:sp>
      <p:sp>
        <p:nvSpPr>
          <p:cNvPr id="9" name="">
            <a:extLst xmlns:a="http://schemas.openxmlformats.org/drawingml/2006/main">
              <a:ext uri="{FF2B5EF4-FFF2-40B4-BE49-F238E27FC236}">
                <a16:creationId xmlns:a16="http://schemas.microsoft.com/office/drawing/2014/main" id="{E7D34B11-EF5C-4042-A2FE-EEA542158314}"/>
              </a:ext>
            </a:extLst>
          </p:cNvPr>
          <p:cNvSpPr>
            <a:spLocks xmlns:a="http://schemas.openxmlformats.org/drawingml/2006/main" noGrp="1"/>
          </p:cNvSpPr>
          <p:nvPr/>
        </p:nvSpPr>
        <p:spPr>
          <a:xfrm xmlns:a="http://schemas.openxmlformats.org/drawingml/2006/main">
            <a:off x="2171700" y="31146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official riscv-tests pass (rv32ui + rv32mi), nominal and 40% backpressure</a:t>
            </a:r>
          </a:p>
        </p:txBody>
      </p:sp>
      <p:sp>
        <p:nvSpPr>
          <p:cNvPr id="10" name="">
            <a:extLst xmlns:a="http://schemas.openxmlformats.org/drawingml/2006/main">
              <a:ext uri="{FF2B5EF4-FFF2-40B4-BE49-F238E27FC236}">
                <a16:creationId xmlns:a16="http://schemas.microsoft.com/office/drawing/2014/main" id="{64004FEC-1B1E-4935-A731-A6422DEFB56D}"/>
              </a:ext>
            </a:extLst>
          </p:cNvPr>
          <p:cNvSpPr>
            <a:spLocks xmlns:a="http://schemas.openxmlformats.org/drawingml/2006/main" noGrp="1"/>
          </p:cNvSpPr>
          <p:nvPr/>
        </p:nvSpPr>
        <p:spPr>
          <a:xfrm xmlns:a="http://schemas.openxmlformats.org/drawingml/2006/main">
            <a:off x="666750" y="4003221"/>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DB79CE4B-C70A-4C4C-939D-5851C2719E59}"/>
              </a:ext>
            </a:extLst>
          </p:cNvPr>
          <p:cNvSpPr>
            <a:spLocks xmlns:a="http://schemas.openxmlformats.org/drawingml/2006/main" noGrp="1"/>
          </p:cNvSpPr>
          <p:nvPr/>
        </p:nvSpPr>
        <p:spPr>
          <a:xfrm xmlns:a="http://schemas.openxmlformats.org/drawingml/2006/main">
            <a:off x="876300" y="430530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50</a:t>
            </a:r>
          </a:p>
        </p:txBody>
      </p:sp>
      <p:sp>
        <p:nvSpPr>
          <p:cNvPr id="12" name="">
            <a:extLst xmlns:a="http://schemas.openxmlformats.org/drawingml/2006/main">
              <a:ext uri="{FF2B5EF4-FFF2-40B4-BE49-F238E27FC236}">
                <a16:creationId xmlns:a16="http://schemas.microsoft.com/office/drawing/2014/main" id="{2F1EFA3A-196D-4219-8887-6C2172BD7C19}"/>
              </a:ext>
            </a:extLst>
          </p:cNvPr>
          <p:cNvSpPr>
            <a:spLocks xmlns:a="http://schemas.openxmlformats.org/drawingml/2006/main" noGrp="1"/>
          </p:cNvSpPr>
          <p:nvPr/>
        </p:nvSpPr>
        <p:spPr>
          <a:xfrm xmlns:a="http://schemas.openxmlformats.org/drawingml/2006/main">
            <a:off x="2171700" y="426720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instruction kinds · all 32 shift amounts</a:t>
            </a:r>
          </a:p>
          <a:p xmlns:a="http://schemas.openxmlformats.org/drawingml/2006/main">
            <a:pPr>
              <a:defRPr sz="1725" b="0">
                <a:solidFill>
                  <a:srgbClr val="173442"/>
                </a:solidFill>
              </a:defRPr>
            </a:pPr>
            <a:r>
              <a:rPr sz="1725" b="0">
                <a:solidFill>
                  <a:srgbClr val="173442"/>
                </a:solidFill>
              </a:rPr>
              <a:t>every byte lane · 256 memory words</a:t>
            </a:r>
          </a:p>
        </p:txBody>
      </p:sp>
      <p:sp>
        <p:nvSpPr>
          <p:cNvPr id="13" name="">
            <a:extLst xmlns:a="http://schemas.openxmlformats.org/drawingml/2006/main">
              <a:ext uri="{FF2B5EF4-FFF2-40B4-BE49-F238E27FC236}">
                <a16:creationId xmlns:a16="http://schemas.microsoft.com/office/drawing/2014/main" id="{43CA32A6-5BEB-4EA6-B5C8-FBE8719ADFB8}"/>
              </a:ext>
            </a:extLst>
          </p:cNvPr>
          <p:cNvSpPr>
            <a:spLocks xmlns:a="http://schemas.openxmlformats.org/drawingml/2006/main" noGrp="1"/>
          </p:cNvSpPr>
          <p:nvPr/>
        </p:nvSpPr>
        <p:spPr>
          <a:xfrm xmlns:a="http://schemas.openxmlformats.org/drawingml/2006/main">
            <a:off x="666750" y="5153297"/>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14" name="">
            <a:extLst xmlns:a="http://schemas.openxmlformats.org/drawingml/2006/main">
              <a:ext uri="{FF2B5EF4-FFF2-40B4-BE49-F238E27FC236}">
                <a16:creationId xmlns:a16="http://schemas.microsoft.com/office/drawing/2014/main" id="{1071DC61-61A1-4B23-AD9A-300159A3B9D6}"/>
              </a:ext>
            </a:extLst>
          </p:cNvPr>
          <p:cNvSpPr>
            <a:spLocks xmlns:a="http://schemas.openxmlformats.org/drawingml/2006/main" noGrp="1"/>
          </p:cNvSpPr>
          <p:nvPr/>
        </p:nvSpPr>
        <p:spPr>
          <a:xfrm xmlns:a="http://schemas.openxmlformats.org/drawingml/2006/main">
            <a:off x="876300" y="54578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925</a:t>
            </a:r>
          </a:p>
        </p:txBody>
      </p:sp>
      <p:sp>
        <p:nvSpPr>
          <p:cNvPr id="15" name="">
            <a:extLst xmlns:a="http://schemas.openxmlformats.org/drawingml/2006/main">
              <a:ext uri="{FF2B5EF4-FFF2-40B4-BE49-F238E27FC236}">
                <a16:creationId xmlns:a16="http://schemas.microsoft.com/office/drawing/2014/main" id="{D9756BA8-6067-478E-B79F-8C0AA20FAF49}"/>
              </a:ext>
            </a:extLst>
          </p:cNvPr>
          <p:cNvSpPr>
            <a:spLocks xmlns:a="http://schemas.openxmlformats.org/drawingml/2006/main" noGrp="1"/>
          </p:cNvSpPr>
          <p:nvPr/>
        </p:nvSpPr>
        <p:spPr>
          <a:xfrm xmlns:a="http://schemas.openxmlformats.org/drawingml/2006/main">
            <a:off x="2171700" y="5286375"/>
            <a:ext cx="4210050" cy="790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directed checks: CSRs 293 · reset 217</a:t>
            </a:r>
          </a:p>
          <a:p xmlns:a="http://schemas.openxmlformats.org/drawingml/2006/main">
            <a:pPr>
              <a:defRPr sz="1725" b="0">
                <a:solidFill>
                  <a:srgbClr val="173442"/>
                </a:solidFill>
              </a:defRPr>
            </a:pPr>
            <a:r>
              <a:rPr sz="1725" b="0">
                <a:solidFill>
                  <a:srgbClr val="173442"/>
                </a:solidFill>
              </a:rPr>
              <a:t>counters 159 · traps 131</a:t>
            </a:r>
          </a:p>
          <a:p xmlns:a="http://schemas.openxmlformats.org/drawingml/2006/main">
            <a:pPr>
              <a:defRPr sz="1725" b="0">
                <a:solidFill>
                  <a:srgbClr val="173442"/>
                </a:solidFill>
              </a:defRPr>
            </a:pPr>
            <a:r>
              <a:rPr sz="1725" b="0">
                <a:solidFill>
                  <a:srgbClr val="173442"/>
                </a:solidFill>
              </a:rPr>
              <a:t>predictor 68 · ALU 57</a:t>
            </a:r>
          </a:p>
        </p:txBody>
      </p:sp>
      <p:sp>
        <p:nvSpPr>
          <p:cNvPr id="16" name="">
            <a:extLst xmlns:a="http://schemas.openxmlformats.org/drawingml/2006/main">
              <a:ext uri="{FF2B5EF4-FFF2-40B4-BE49-F238E27FC236}">
                <a16:creationId xmlns:a16="http://schemas.microsoft.com/office/drawing/2014/main" id="{62C376CA-94E1-45C6-BADA-69B0644C709A}"/>
              </a:ext>
            </a:extLst>
          </p:cNvPr>
          <p:cNvSpPr>
            <a:spLocks xmlns:a="http://schemas.openxmlformats.org/drawingml/2006/main" noGrp="1"/>
          </p:cNvSpPr>
          <p:nvPr/>
        </p:nvSpPr>
        <p:spPr>
          <a:xfrm xmlns:a="http://schemas.openxmlformats.org/drawingml/2006/main">
            <a:off x="666750" y="6303373"/>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17" name="">
            <a:extLst xmlns:a="http://schemas.openxmlformats.org/drawingml/2006/main">
              <a:ext uri="{FF2B5EF4-FFF2-40B4-BE49-F238E27FC236}">
                <a16:creationId xmlns:a16="http://schemas.microsoft.com/office/drawing/2014/main" id="{A4F86863-FFAF-46FD-B0C7-59B36FB8623A}"/>
              </a:ext>
            </a:extLst>
          </p:cNvPr>
          <p:cNvSpPr>
            <a:spLocks xmlns:a="http://schemas.openxmlformats.org/drawingml/2006/main" noGrp="1"/>
          </p:cNvSpPr>
          <p:nvPr/>
        </p:nvSpPr>
        <p:spPr>
          <a:xfrm xmlns:a="http://schemas.openxmlformats.org/drawingml/2006/main">
            <a:off x="876300" y="66103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37</a:t>
            </a:r>
          </a:p>
        </p:txBody>
      </p:sp>
      <p:sp>
        <p:nvSpPr>
          <p:cNvPr id="18" name="">
            <a:extLst xmlns:a="http://schemas.openxmlformats.org/drawingml/2006/main">
              <a:ext uri="{FF2B5EF4-FFF2-40B4-BE49-F238E27FC236}">
                <a16:creationId xmlns:a16="http://schemas.microsoft.com/office/drawing/2014/main" id="{1C2526AE-CEE5-43E9-8ED4-98DDF547D2E4}"/>
              </a:ext>
            </a:extLst>
          </p:cNvPr>
          <p:cNvSpPr>
            <a:spLocks xmlns:a="http://schemas.openxmlformats.org/drawingml/2006/main" noGrp="1"/>
          </p:cNvSpPr>
          <p:nvPr/>
        </p:nvSpPr>
        <p:spPr>
          <a:xfrm xmlns:a="http://schemas.openxmlformats.org/drawingml/2006/main">
            <a:off x="2171700" y="657225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SVA properties attached with bind: 17 pipeline / trap, 20 AXI protocol</a:t>
            </a:r>
          </a:p>
        </p:txBody>
      </p:sp>
      <p:sp>
        <p:nvSpPr>
          <p:cNvPr id="19" name="">
            <a:extLst xmlns:a="http://schemas.openxmlformats.org/drawingml/2006/main">
              <a:ext uri="{FF2B5EF4-FFF2-40B4-BE49-F238E27FC236}">
                <a16:creationId xmlns:a16="http://schemas.microsoft.com/office/drawing/2014/main" id="{C51A2AFD-2F6A-420C-B552-C545249CD383}"/>
              </a:ext>
            </a:extLst>
          </p:cNvPr>
          <p:cNvSpPr>
            <a:spLocks xmlns:a="http://schemas.openxmlformats.org/drawingml/2006/main" noGrp="1"/>
          </p:cNvSpPr>
          <p:nvPr/>
        </p:nvSpPr>
        <p:spPr>
          <a:xfrm xmlns:a="http://schemas.openxmlformats.org/drawingml/2006/main">
            <a:off x="666750" y="7453449"/>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20" name="">
            <a:extLst xmlns:a="http://schemas.openxmlformats.org/drawingml/2006/main">
              <a:ext uri="{FF2B5EF4-FFF2-40B4-BE49-F238E27FC236}">
                <a16:creationId xmlns:a16="http://schemas.microsoft.com/office/drawing/2014/main" id="{472C66EB-6177-4947-A941-461B4E29DC74}"/>
              </a:ext>
            </a:extLst>
          </p:cNvPr>
          <p:cNvSpPr>
            <a:spLocks xmlns:a="http://schemas.openxmlformats.org/drawingml/2006/main" noGrp="1"/>
          </p:cNvSpPr>
          <p:nvPr/>
        </p:nvSpPr>
        <p:spPr>
          <a:xfrm xmlns:a="http://schemas.openxmlformats.org/drawingml/2006/main">
            <a:off x="876300" y="77533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90</a:t>
            </a:r>
          </a:p>
        </p:txBody>
      </p:sp>
      <p:sp>
        <p:nvSpPr>
          <p:cNvPr id="21" name="">
            <a:extLst xmlns:a="http://schemas.openxmlformats.org/drawingml/2006/main">
              <a:ext uri="{FF2B5EF4-FFF2-40B4-BE49-F238E27FC236}">
                <a16:creationId xmlns:a16="http://schemas.microsoft.com/office/drawing/2014/main" id="{E3B9F2A1-C38E-414E-B5F4-F01D3256FC45}"/>
              </a:ext>
            </a:extLst>
          </p:cNvPr>
          <p:cNvSpPr>
            <a:spLocks xmlns:a="http://schemas.openxmlformats.org/drawingml/2006/main" noGrp="1"/>
          </p:cNvSpPr>
          <p:nvPr/>
        </p:nvSpPr>
        <p:spPr>
          <a:xfrm xmlns:a="http://schemas.openxmlformats.org/drawingml/2006/main">
            <a:off x="2171700" y="7715250"/>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coverage bins, all hit over 28 runs: instructions, traps, predictor, PIC claims</a:t>
            </a:r>
          </a:p>
        </p:txBody>
      </p:sp>
      <p:sp>
        <p:nvSpPr>
          <p:cNvPr id="22" name="">
            <a:extLst xmlns:a="http://schemas.openxmlformats.org/drawingml/2006/main">
              <a:ext uri="{FF2B5EF4-FFF2-40B4-BE49-F238E27FC236}">
                <a16:creationId xmlns:a16="http://schemas.microsoft.com/office/drawing/2014/main" id="{703FB479-4109-4CD6-93BD-A0431203DD5D}"/>
              </a:ext>
            </a:extLst>
          </p:cNvPr>
          <p:cNvSpPr>
            <a:spLocks xmlns:a="http://schemas.openxmlformats.org/drawingml/2006/main" noGrp="1"/>
          </p:cNvSpPr>
          <p:nvPr/>
        </p:nvSpPr>
        <p:spPr>
          <a:xfrm xmlns:a="http://schemas.openxmlformats.org/drawingml/2006/main">
            <a:off x="666750" y="8603524"/>
            <a:ext cx="5905500" cy="1054826"/>
          </a:xfrm>
          <a:prstGeom xmlns:a="http://schemas.openxmlformats.org/drawingml/2006/main" prst="roundRect">
            <a:avLst>
              <a:gd name="adj" fmla="val 10836"/>
            </a:avLst>
          </a:prstGeom>
          <a:solidFill xmlns:a="http://schemas.openxmlformats.org/drawingml/2006/main">
            <a:srgbClr val="EEF5F5"/>
          </a:solidFill>
        </p:spPr>
      </p:sp>
      <p:sp>
        <p:nvSpPr>
          <p:cNvPr id="23" name="">
            <a:extLst xmlns:a="http://schemas.openxmlformats.org/drawingml/2006/main">
              <a:ext uri="{FF2B5EF4-FFF2-40B4-BE49-F238E27FC236}">
                <a16:creationId xmlns:a16="http://schemas.microsoft.com/office/drawing/2014/main" id="{3C37EDC8-1F8F-454B-AB31-3BE3CA73DE87}"/>
              </a:ext>
            </a:extLst>
          </p:cNvPr>
          <p:cNvSpPr>
            <a:spLocks xmlns:a="http://schemas.openxmlformats.org/drawingml/2006/main" noGrp="1"/>
          </p:cNvSpPr>
          <p:nvPr/>
        </p:nvSpPr>
        <p:spPr>
          <a:xfrm xmlns:a="http://schemas.openxmlformats.org/drawingml/2006/main">
            <a:off x="876300" y="89058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9 / 9</a:t>
            </a:r>
          </a:p>
        </p:txBody>
      </p:sp>
      <p:sp>
        <p:nvSpPr>
          <p:cNvPr id="24" name="">
            <a:extLst xmlns:a="http://schemas.openxmlformats.org/drawingml/2006/main">
              <a:ext uri="{FF2B5EF4-FFF2-40B4-BE49-F238E27FC236}">
                <a16:creationId xmlns:a16="http://schemas.microsoft.com/office/drawing/2014/main" id="{8BC7C25B-8AD7-4503-BAF5-1048F12F4FA0}"/>
              </a:ext>
            </a:extLst>
          </p:cNvPr>
          <p:cNvSpPr>
            <a:spLocks xmlns:a="http://schemas.openxmlformats.org/drawingml/2006/main" noGrp="1"/>
          </p:cNvSpPr>
          <p:nvPr/>
        </p:nvSpPr>
        <p:spPr>
          <a:xfrm xmlns:a="http://schemas.openxmlformats.org/drawingml/2006/main">
            <a:off x="2171700" y="8867775"/>
            <a:ext cx="4210050" cy="5238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173442"/>
                </a:solidFill>
              </a:defRPr>
            </a:pPr>
            <a:r>
              <a:rPr sz="1725" b="0">
                <a:solidFill>
                  <a:srgbClr val="173442"/>
                </a:solidFill>
              </a:rPr>
              <a:t>mutation testing: injected ALU, LSU, counter and trap defects, each caught</a:t>
            </a:r>
          </a:p>
        </p:txBody>
      </p:sp>
      <p:pic>
        <p:nvPicPr>
          <p:cNvPr id="25" name="asset-presentations/assets/cpu_e2e_v3"/>
          <p:cNvPicPr>
            <a:picLocks xmlns:a="http://schemas.openxmlformats.org/drawingml/2006/main" noChangeAspect="1"/>
          </p:cNvPicPr>
          <p:nvPr/>
        </p:nvPicPr>
        <p:blipFill>
          <a:blip xmlns:r="http://schemas.openxmlformats.org/officeDocument/2006/relationships" xmlns:a="http://schemas.openxmlformats.org/drawingml/2006/main" r:embed="R28f71126e7ba47fa">
            <a:extLst>
              <a:ext uri="{96DAC541-7B7A-43D3-8B79-37D633B846F1}">
                <asvg:svgBlip xmlns:asvg="http://schemas.microsoft.com/office/drawing/2016/SVG/main" r:embed="Ree9bd77776824e42"/>
              </a:ext>
            </a:extLst>
          </a:blip>
          <a:stretch xmlns:a="http://schemas.openxmlformats.org/drawingml/2006/main"/>
        </p:blipFill>
        <p:spPr>
          <a:xfrm xmlns:a="http://schemas.openxmlformats.org/drawingml/2006/main">
            <a:off x="6953250" y="2047875"/>
            <a:ext cx="10668000" cy="6870915"/>
          </a:xfrm>
          <a:prstGeom xmlns:a="http://schemas.openxmlformats.org/drawingml/2006/main" prst="rect">
            <a:avLst/>
          </a:prstGeom>
        </p:spPr>
      </p:pic>
      <p:sp>
        <p:nvSpPr>
          <p:cNvPr id="26" name="footer">
            <a:extLst xmlns:a="http://schemas.openxmlformats.org/drawingml/2006/main">
              <a:ext uri="{FF2B5EF4-FFF2-40B4-BE49-F238E27FC236}">
                <a16:creationId xmlns:a16="http://schemas.microsoft.com/office/drawing/2014/main" id="{F0263BE2-051D-4FB9-8183-C64ABBE2D946}"/>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05 / 07   ·   Verification · block</a:t>
            </a:r>
          </a:p>
        </p:txBody>
      </p:sp>
    </p:spTree>
    <p:extLst>
      <p:ext uri="{BB962C8B-B14F-4D97-AF65-F5344CB8AC3E}">
        <p14:creationId xmlns:p14="http://schemas.microsoft.com/office/powerpoint/2010/main" val="73798174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6153B87-CE5E-4610-A6F1-968B5E9D06E0}"/>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 nested interrupt opens two levels; each MRET closes one</a:t>
            </a:r>
          </a:p>
        </p:txBody>
      </p:sp>
      <p:sp>
        <p:nvSpPr>
          <p:cNvPr id="2" name="">
            <a:extLst xmlns:a="http://schemas.openxmlformats.org/drawingml/2006/main">
              <a:ext uri="{FF2B5EF4-FFF2-40B4-BE49-F238E27FC236}">
                <a16:creationId xmlns:a16="http://schemas.microsoft.com/office/drawing/2014/main" id="{FD623471-1D5B-4D4B-BB2E-65458775FE8B}"/>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A058F978-1B9E-4687-A1AE-1C4902855299}"/>
              </a:ext>
            </a:extLst>
          </p:cNvPr>
          <p:cNvSpPr>
            <a:spLocks xmlns:a="http://schemas.openxmlformats.org/drawingml/2006/main" noGrp="1"/>
          </p:cNvSpPr>
          <p:nvPr/>
        </p:nvSpPr>
        <p:spPr>
          <a:xfrm xmlns:a="http://schemas.openxmlformats.org/drawingml/2006/main">
            <a:off x="666750" y="1314450"/>
            <a:ext cx="49530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526772"/>
                </a:solidFill>
              </a:defRPr>
            </a:pPr>
            <a:r>
              <a:rPr sz="1800" b="1">
                <a:solidFill>
                  <a:srgbClr val="526772"/>
                </a:solidFill>
              </a:rPr>
              <a:t>THE CPU WITH THE PIC</a:t>
            </a:r>
          </a:p>
        </p:txBody>
      </p:sp>
      <p:sp>
        <p:nvSpPr>
          <p:cNvPr id="4" name="">
            <a:extLst xmlns:a="http://schemas.openxmlformats.org/drawingml/2006/main">
              <a:ext uri="{FF2B5EF4-FFF2-40B4-BE49-F238E27FC236}">
                <a16:creationId xmlns:a16="http://schemas.microsoft.com/office/drawing/2014/main" id="{159ACDCE-CCC4-43B5-9778-BED5C4464576}"/>
              </a:ext>
            </a:extLst>
          </p:cNvPr>
          <p:cNvSpPr>
            <a:spLocks xmlns:a="http://schemas.openxmlformats.org/drawingml/2006/main" noGrp="1"/>
          </p:cNvSpPr>
          <p:nvPr/>
        </p:nvSpPr>
        <p:spPr>
          <a:xfrm xmlns:a="http://schemas.openxmlformats.org/drawingml/2006/main">
            <a:off x="666750" y="1699260"/>
            <a:ext cx="4953000" cy="1515618"/>
          </a:xfrm>
          <a:prstGeom xmlns:a="http://schemas.openxmlformats.org/drawingml/2006/main" prst="roundRect">
            <a:avLst>
              <a:gd name="adj" fmla="val 7541"/>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7A1B4ED5-BB79-4FD4-91C7-4D71C7870522}"/>
              </a:ext>
            </a:extLst>
          </p:cNvPr>
          <p:cNvSpPr>
            <a:spLocks xmlns:a="http://schemas.openxmlformats.org/drawingml/2006/main" noGrp="1"/>
          </p:cNvSpPr>
          <p:nvPr/>
        </p:nvSpPr>
        <p:spPr>
          <a:xfrm xmlns:a="http://schemas.openxmlformats.org/drawingml/2006/main">
            <a:off x="876300" y="22288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382</a:t>
            </a:r>
          </a:p>
        </p:txBody>
      </p:sp>
      <p:sp>
        <p:nvSpPr>
          <p:cNvPr id="6" name="">
            <a:extLst xmlns:a="http://schemas.openxmlformats.org/drawingml/2006/main">
              <a:ext uri="{FF2B5EF4-FFF2-40B4-BE49-F238E27FC236}">
                <a16:creationId xmlns:a16="http://schemas.microsoft.com/office/drawing/2014/main" id="{376828FB-D57B-4AE0-B585-06C25F028242}"/>
              </a:ext>
            </a:extLst>
          </p:cNvPr>
          <p:cNvSpPr>
            <a:spLocks xmlns:a="http://schemas.openxmlformats.org/drawingml/2006/main" noGrp="1"/>
          </p:cNvSpPr>
          <p:nvPr/>
        </p:nvSpPr>
        <p:spPr>
          <a:xfrm xmlns:a="http://schemas.openxmlformats.org/drawingml/2006/main">
            <a:off x="2171700" y="1905000"/>
            <a:ext cx="325755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73442"/>
                </a:solidFill>
              </a:defRPr>
            </a:pPr>
            <a:r>
              <a:rPr sz="1800" b="0">
                <a:solidFill>
                  <a:srgbClr val="173442"/>
                </a:solidFill>
              </a:rPr>
              <a:t>checks, one program on CPU + PIC + mtimer: 9 exception causes, 8 interrupts, WFI wake-up; 4 memory timings</a:t>
            </a:r>
          </a:p>
        </p:txBody>
      </p:sp>
      <p:sp>
        <p:nvSpPr>
          <p:cNvPr id="7" name="">
            <a:extLst xmlns:a="http://schemas.openxmlformats.org/drawingml/2006/main">
              <a:ext uri="{FF2B5EF4-FFF2-40B4-BE49-F238E27FC236}">
                <a16:creationId xmlns:a16="http://schemas.microsoft.com/office/drawing/2014/main" id="{C94450D9-DA2A-4B6F-BA85-EAB51568AA34}"/>
              </a:ext>
            </a:extLst>
          </p:cNvPr>
          <p:cNvSpPr>
            <a:spLocks xmlns:a="http://schemas.openxmlformats.org/drawingml/2006/main" noGrp="1"/>
          </p:cNvSpPr>
          <p:nvPr/>
        </p:nvSpPr>
        <p:spPr>
          <a:xfrm xmlns:a="http://schemas.openxmlformats.org/drawingml/2006/main">
            <a:off x="666750" y="3310128"/>
            <a:ext cx="4953000" cy="1515618"/>
          </a:xfrm>
          <a:prstGeom xmlns:a="http://schemas.openxmlformats.org/drawingml/2006/main" prst="roundRect">
            <a:avLst>
              <a:gd name="adj" fmla="val 7541"/>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45853BE2-2159-4F48-9B1B-6E4B38DF34AA}"/>
              </a:ext>
            </a:extLst>
          </p:cNvPr>
          <p:cNvSpPr>
            <a:spLocks xmlns:a="http://schemas.openxmlformats.org/drawingml/2006/main" noGrp="1"/>
          </p:cNvSpPr>
          <p:nvPr/>
        </p:nvSpPr>
        <p:spPr>
          <a:xfrm xmlns:a="http://schemas.openxmlformats.org/drawingml/2006/main">
            <a:off x="876300" y="383857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34</a:t>
            </a:r>
          </a:p>
        </p:txBody>
      </p:sp>
      <p:sp>
        <p:nvSpPr>
          <p:cNvPr id="9" name="">
            <a:extLst xmlns:a="http://schemas.openxmlformats.org/drawingml/2006/main">
              <a:ext uri="{FF2B5EF4-FFF2-40B4-BE49-F238E27FC236}">
                <a16:creationId xmlns:a16="http://schemas.microsoft.com/office/drawing/2014/main" id="{8F08429F-F25D-4D3D-A9C2-BDD89016E033}"/>
              </a:ext>
            </a:extLst>
          </p:cNvPr>
          <p:cNvSpPr>
            <a:spLocks xmlns:a="http://schemas.openxmlformats.org/drawingml/2006/main" noGrp="1"/>
          </p:cNvSpPr>
          <p:nvPr/>
        </p:nvSpPr>
        <p:spPr>
          <a:xfrm xmlns:a="http://schemas.openxmlformats.org/drawingml/2006/main">
            <a:off x="2171700" y="3657600"/>
            <a:ext cx="325755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73442"/>
                </a:solidFill>
              </a:defRPr>
            </a:pPr>
            <a:r>
              <a:rPr sz="1800" b="0">
                <a:solidFill>
                  <a:srgbClr val="173442"/>
                </a:solidFill>
              </a:rPr>
              <a:t>SoC runs, 767 checks; the CPU runs 16 programs: DMA, timer, PIC, isolation, reset, races</a:t>
            </a:r>
          </a:p>
        </p:txBody>
      </p:sp>
      <p:sp>
        <p:nvSpPr>
          <p:cNvPr id="10" name="">
            <a:extLst xmlns:a="http://schemas.openxmlformats.org/drawingml/2006/main">
              <a:ext uri="{FF2B5EF4-FFF2-40B4-BE49-F238E27FC236}">
                <a16:creationId xmlns:a16="http://schemas.microsoft.com/office/drawing/2014/main" id="{CB2A95BD-6835-46E4-A3C4-DC1560691854}"/>
              </a:ext>
            </a:extLst>
          </p:cNvPr>
          <p:cNvSpPr>
            <a:spLocks xmlns:a="http://schemas.openxmlformats.org/drawingml/2006/main" noGrp="1"/>
          </p:cNvSpPr>
          <p:nvPr/>
        </p:nvSpPr>
        <p:spPr>
          <a:xfrm xmlns:a="http://schemas.openxmlformats.org/drawingml/2006/main">
            <a:off x="666750" y="4920996"/>
            <a:ext cx="4953000" cy="1515618"/>
          </a:xfrm>
          <a:prstGeom xmlns:a="http://schemas.openxmlformats.org/drawingml/2006/main" prst="roundRect">
            <a:avLst>
              <a:gd name="adj" fmla="val 7541"/>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C783431F-CCF4-4FB5-9E9E-D6BAB8AE6A6C}"/>
              </a:ext>
            </a:extLst>
          </p:cNvPr>
          <p:cNvSpPr>
            <a:spLocks xmlns:a="http://schemas.openxmlformats.org/drawingml/2006/main" noGrp="1"/>
          </p:cNvSpPr>
          <p:nvPr/>
        </p:nvSpPr>
        <p:spPr>
          <a:xfrm xmlns:a="http://schemas.openxmlformats.org/drawingml/2006/main">
            <a:off x="876300" y="54578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133</a:t>
            </a:r>
          </a:p>
        </p:txBody>
      </p:sp>
      <p:sp>
        <p:nvSpPr>
          <p:cNvPr id="12" name="">
            <a:extLst xmlns:a="http://schemas.openxmlformats.org/drawingml/2006/main">
              <a:ext uri="{FF2B5EF4-FFF2-40B4-BE49-F238E27FC236}">
                <a16:creationId xmlns:a16="http://schemas.microsoft.com/office/drawing/2014/main" id="{8118A65B-19FD-411E-AA54-E8D7A05ED4F6}"/>
              </a:ext>
            </a:extLst>
          </p:cNvPr>
          <p:cNvSpPr>
            <a:spLocks xmlns:a="http://schemas.openxmlformats.org/drawingml/2006/main" noGrp="1"/>
          </p:cNvSpPr>
          <p:nvPr/>
        </p:nvSpPr>
        <p:spPr>
          <a:xfrm xmlns:a="http://schemas.openxmlformats.org/drawingml/2006/main">
            <a:off x="2171700" y="5133975"/>
            <a:ext cx="3257550" cy="1095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73442"/>
                </a:solidFill>
              </a:defRPr>
            </a:pPr>
            <a:r>
              <a:rPr sz="1800" b="0">
                <a:solidFill>
                  <a:srgbClr val="173442"/>
                </a:solidFill>
              </a:rPr>
              <a:t>interrupt checks through the CPU: SW sources 36 · 16 levels 54 · nesting 16 · spurious 15 · escalation 12</a:t>
            </a:r>
          </a:p>
        </p:txBody>
      </p:sp>
      <p:sp>
        <p:nvSpPr>
          <p:cNvPr id="13" name="">
            <a:extLst xmlns:a="http://schemas.openxmlformats.org/drawingml/2006/main">
              <a:ext uri="{FF2B5EF4-FFF2-40B4-BE49-F238E27FC236}">
                <a16:creationId xmlns:a16="http://schemas.microsoft.com/office/drawing/2014/main" id="{7296FF37-7544-4563-BF94-7EBAF737BF54}"/>
              </a:ext>
            </a:extLst>
          </p:cNvPr>
          <p:cNvSpPr>
            <a:spLocks xmlns:a="http://schemas.openxmlformats.org/drawingml/2006/main" noGrp="1"/>
          </p:cNvSpPr>
          <p:nvPr/>
        </p:nvSpPr>
        <p:spPr>
          <a:xfrm xmlns:a="http://schemas.openxmlformats.org/drawingml/2006/main">
            <a:off x="666750" y="6531864"/>
            <a:ext cx="4953000" cy="1515618"/>
          </a:xfrm>
          <a:prstGeom xmlns:a="http://schemas.openxmlformats.org/drawingml/2006/main" prst="roundRect">
            <a:avLst>
              <a:gd name="adj" fmla="val 7541"/>
            </a:avLst>
          </a:prstGeom>
          <a:solidFill xmlns:a="http://schemas.openxmlformats.org/drawingml/2006/main">
            <a:srgbClr val="EEF5F5"/>
          </a:solidFill>
        </p:spPr>
      </p:sp>
      <p:sp>
        <p:nvSpPr>
          <p:cNvPr id="14" name="">
            <a:extLst xmlns:a="http://schemas.openxmlformats.org/drawingml/2006/main">
              <a:ext uri="{FF2B5EF4-FFF2-40B4-BE49-F238E27FC236}">
                <a16:creationId xmlns:a16="http://schemas.microsoft.com/office/drawing/2014/main" id="{3874B8FF-11AA-4512-9199-985C53C476D9}"/>
              </a:ext>
            </a:extLst>
          </p:cNvPr>
          <p:cNvSpPr>
            <a:spLocks xmlns:a="http://schemas.openxmlformats.org/drawingml/2006/main" noGrp="1"/>
          </p:cNvSpPr>
          <p:nvPr/>
        </p:nvSpPr>
        <p:spPr>
          <a:xfrm xmlns:a="http://schemas.openxmlformats.org/drawingml/2006/main">
            <a:off x="876300" y="7058025"/>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29</a:t>
            </a:r>
          </a:p>
        </p:txBody>
      </p:sp>
      <p:sp>
        <p:nvSpPr>
          <p:cNvPr id="15" name="">
            <a:extLst xmlns:a="http://schemas.openxmlformats.org/drawingml/2006/main">
              <a:ext uri="{FF2B5EF4-FFF2-40B4-BE49-F238E27FC236}">
                <a16:creationId xmlns:a16="http://schemas.microsoft.com/office/drawing/2014/main" id="{126E9198-F255-4316-8800-C437AEC7A008}"/>
              </a:ext>
            </a:extLst>
          </p:cNvPr>
          <p:cNvSpPr>
            <a:spLocks xmlns:a="http://schemas.openxmlformats.org/drawingml/2006/main" noGrp="1"/>
          </p:cNvSpPr>
          <p:nvPr/>
        </p:nvSpPr>
        <p:spPr>
          <a:xfrm xmlns:a="http://schemas.openxmlformats.org/drawingml/2006/main">
            <a:off x="2171700" y="6877050"/>
            <a:ext cx="325755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73442"/>
                </a:solidFill>
              </a:defRPr>
            </a:pPr>
            <a:r>
              <a:rPr sz="1800" b="0">
                <a:solidFill>
                  <a:srgbClr val="173442"/>
                </a:solidFill>
              </a:rPr>
              <a:t>CPU + PIC SVA properties bound in all 23 SoC benches, 51 Verilator runs</a:t>
            </a:r>
          </a:p>
        </p:txBody>
      </p:sp>
      <p:sp>
        <p:nvSpPr>
          <p:cNvPr id="16" name="">
            <a:extLst xmlns:a="http://schemas.openxmlformats.org/drawingml/2006/main">
              <a:ext uri="{FF2B5EF4-FFF2-40B4-BE49-F238E27FC236}">
                <a16:creationId xmlns:a16="http://schemas.microsoft.com/office/drawing/2014/main" id="{BCB9ED03-A8DF-4BC1-B8DE-EFB1C6C0B81F}"/>
              </a:ext>
            </a:extLst>
          </p:cNvPr>
          <p:cNvSpPr>
            <a:spLocks xmlns:a="http://schemas.openxmlformats.org/drawingml/2006/main" noGrp="1"/>
          </p:cNvSpPr>
          <p:nvPr/>
        </p:nvSpPr>
        <p:spPr>
          <a:xfrm xmlns:a="http://schemas.openxmlformats.org/drawingml/2006/main">
            <a:off x="666750" y="8142732"/>
            <a:ext cx="4953000" cy="1515618"/>
          </a:xfrm>
          <a:prstGeom xmlns:a="http://schemas.openxmlformats.org/drawingml/2006/main" prst="roundRect">
            <a:avLst>
              <a:gd name="adj" fmla="val 7541"/>
            </a:avLst>
          </a:prstGeom>
          <a:solidFill xmlns:a="http://schemas.openxmlformats.org/drawingml/2006/main">
            <a:srgbClr val="EEF5F5"/>
          </a:solidFill>
        </p:spPr>
      </p:sp>
      <p:sp>
        <p:nvSpPr>
          <p:cNvPr id="17" name="">
            <a:extLst xmlns:a="http://schemas.openxmlformats.org/drawingml/2006/main">
              <a:ext uri="{FF2B5EF4-FFF2-40B4-BE49-F238E27FC236}">
                <a16:creationId xmlns:a16="http://schemas.microsoft.com/office/drawing/2014/main" id="{8821D3E6-D27F-428C-84AF-9AA18E6C0CD5}"/>
              </a:ext>
            </a:extLst>
          </p:cNvPr>
          <p:cNvSpPr>
            <a:spLocks xmlns:a="http://schemas.openxmlformats.org/drawingml/2006/main" noGrp="1"/>
          </p:cNvSpPr>
          <p:nvPr/>
        </p:nvSpPr>
        <p:spPr>
          <a:xfrm xmlns:a="http://schemas.openxmlformats.org/drawingml/2006/main">
            <a:off x="876300" y="8667750"/>
            <a:ext cx="116205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006B75"/>
                </a:solidFill>
              </a:defRPr>
            </a:pPr>
            <a:r>
              <a:rPr sz="3000" b="1">
                <a:solidFill>
                  <a:srgbClr val="006B75"/>
                </a:solidFill>
              </a:rPr>
              <a:t>CI</a:t>
            </a:r>
          </a:p>
        </p:txBody>
      </p:sp>
      <p:sp>
        <p:nvSpPr>
          <p:cNvPr id="18" name="">
            <a:extLst xmlns:a="http://schemas.openxmlformats.org/drawingml/2006/main">
              <a:ext uri="{FF2B5EF4-FFF2-40B4-BE49-F238E27FC236}">
                <a16:creationId xmlns:a16="http://schemas.microsoft.com/office/drawing/2014/main" id="{E86B9780-4496-4101-8D7F-64F0720C6016}"/>
              </a:ext>
            </a:extLst>
          </p:cNvPr>
          <p:cNvSpPr>
            <a:spLocks xmlns:a="http://schemas.openxmlformats.org/drawingml/2006/main" noGrp="1"/>
          </p:cNvSpPr>
          <p:nvPr/>
        </p:nvSpPr>
        <p:spPr>
          <a:xfrm xmlns:a="http://schemas.openxmlformats.org/drawingml/2006/main">
            <a:off x="2171700" y="8486775"/>
            <a:ext cx="3257550" cy="819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173442"/>
                </a:solidFill>
              </a:defRPr>
            </a:pPr>
            <a:r>
              <a:rPr sz="1800" b="0">
                <a:solidFill>
                  <a:srgbClr val="173442"/>
                </a:solidFill>
              </a:rPr>
              <a:t>every push: lint, all CPU / PIC / SoC benches with SVA, coverage and cover gates</a:t>
            </a:r>
          </a:p>
        </p:txBody>
      </p:sp>
      <p:pic>
        <p:nvPicPr>
          <p:cNvPr id="19" name="asset-presentations/assets/cpu_nesting_v3"/>
          <p:cNvPicPr>
            <a:picLocks xmlns:a="http://schemas.openxmlformats.org/drawingml/2006/main" noChangeAspect="1"/>
          </p:cNvPicPr>
          <p:nvPr/>
        </p:nvPicPr>
        <p:blipFill>
          <a:blip xmlns:r="http://schemas.openxmlformats.org/officeDocument/2006/relationships" xmlns:a="http://schemas.openxmlformats.org/drawingml/2006/main" r:embed="Rb188a969a03d49d8">
            <a:extLst>
              <a:ext uri="{96DAC541-7B7A-43D3-8B79-37D633B846F1}">
                <asvg:svgBlip xmlns:asvg="http://schemas.microsoft.com/office/drawing/2016/SVG/main" r:embed="R6278ced6f3b04d59"/>
              </a:ext>
            </a:extLst>
          </a:blip>
          <a:stretch xmlns:a="http://schemas.openxmlformats.org/drawingml/2006/main"/>
        </p:blipFill>
        <p:spPr>
          <a:xfrm xmlns:a="http://schemas.openxmlformats.org/drawingml/2006/main">
            <a:off x="6434805" y="1314450"/>
            <a:ext cx="10714290" cy="5619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D0A1803-EAC7-47AE-8CB3-EA7C38D5EC90}"/>
              </a:ext>
            </a:extLst>
          </p:cNvPr>
          <p:cNvSpPr>
            <a:spLocks xmlns:a="http://schemas.openxmlformats.org/drawingml/2006/main" noGrp="1"/>
          </p:cNvSpPr>
          <p:nvPr/>
        </p:nvSpPr>
        <p:spPr>
          <a:xfrm xmlns:a="http://schemas.openxmlformats.org/drawingml/2006/main">
            <a:off x="5962650" y="7044690"/>
            <a:ext cx="2800350" cy="2613660"/>
          </a:xfrm>
          <a:prstGeom xmlns:a="http://schemas.openxmlformats.org/drawingml/2006/main" prst="roundRect">
            <a:avLst>
              <a:gd name="adj" fmla="val 4373"/>
            </a:avLst>
          </a:prstGeom>
          <a:solidFill xmlns:a="http://schemas.openxmlformats.org/drawingml/2006/main">
            <a:srgbClr val="EEF5F5"/>
          </a:solidFill>
        </p:spPr>
      </p:sp>
      <p:sp>
        <p:nvSpPr>
          <p:cNvPr id="21" name="">
            <a:extLst xmlns:a="http://schemas.openxmlformats.org/drawingml/2006/main">
              <a:ext uri="{FF2B5EF4-FFF2-40B4-BE49-F238E27FC236}">
                <a16:creationId xmlns:a16="http://schemas.microsoft.com/office/drawing/2014/main" id="{79B2BD5F-9029-4CEC-9F93-AC5446F8BF5E}"/>
              </a:ext>
            </a:extLst>
          </p:cNvPr>
          <p:cNvSpPr>
            <a:spLocks xmlns:a="http://schemas.openxmlformats.org/drawingml/2006/main" noGrp="1"/>
          </p:cNvSpPr>
          <p:nvPr/>
        </p:nvSpPr>
        <p:spPr>
          <a:xfrm xmlns:a="http://schemas.openxmlformats.org/drawingml/2006/main">
            <a:off x="6134100" y="7686675"/>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1 · CPU takes source 9</a:t>
            </a:r>
          </a:p>
        </p:txBody>
      </p:sp>
      <p:sp>
        <p:nvSpPr>
          <p:cNvPr id="22" name="">
            <a:extLst xmlns:a="http://schemas.openxmlformats.org/drawingml/2006/main">
              <a:ext uri="{FF2B5EF4-FFF2-40B4-BE49-F238E27FC236}">
                <a16:creationId xmlns:a16="http://schemas.microsoft.com/office/drawing/2014/main" id="{040CE42B-4F22-4BD0-AED6-4D2DADE4211A}"/>
              </a:ext>
            </a:extLst>
          </p:cNvPr>
          <p:cNvSpPr>
            <a:spLocks xmlns:a="http://schemas.openxmlformats.org/drawingml/2006/main" noGrp="1"/>
          </p:cNvSpPr>
          <p:nvPr/>
        </p:nvSpPr>
        <p:spPr>
          <a:xfrm xmlns:a="http://schemas.openxmlformats.org/drawingml/2006/main">
            <a:off x="6134100" y="8020050"/>
            <a:ext cx="249555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claim pulses, cpu_in_trap rises, MIE drops to 0. Both stacks now hold 1 level; active = 200 (bit 9).</a:t>
            </a:r>
          </a:p>
        </p:txBody>
      </p:sp>
      <p:sp>
        <p:nvSpPr>
          <p:cNvPr id="23" name="">
            <a:extLst xmlns:a="http://schemas.openxmlformats.org/drawingml/2006/main">
              <a:ext uri="{FF2B5EF4-FFF2-40B4-BE49-F238E27FC236}">
                <a16:creationId xmlns:a16="http://schemas.microsoft.com/office/drawing/2014/main" id="{0EE058E9-BEC0-4020-9705-804BDD97AEE9}"/>
              </a:ext>
            </a:extLst>
          </p:cNvPr>
          <p:cNvSpPr>
            <a:spLocks xmlns:a="http://schemas.openxmlformats.org/drawingml/2006/main" noGrp="1"/>
          </p:cNvSpPr>
          <p:nvPr/>
        </p:nvSpPr>
        <p:spPr>
          <a:xfrm xmlns:a="http://schemas.openxmlformats.org/drawingml/2006/main">
            <a:off x="8915400" y="7044690"/>
            <a:ext cx="2800350" cy="2613660"/>
          </a:xfrm>
          <a:prstGeom xmlns:a="http://schemas.openxmlformats.org/drawingml/2006/main" prst="roundRect">
            <a:avLst>
              <a:gd name="adj" fmla="val 4373"/>
            </a:avLst>
          </a:prstGeom>
          <a:solidFill xmlns:a="http://schemas.openxmlformats.org/drawingml/2006/main">
            <a:srgbClr val="EEF5F5"/>
          </a:solidFill>
        </p:spPr>
      </p:sp>
      <p:sp>
        <p:nvSpPr>
          <p:cNvPr id="24" name="">
            <a:extLst xmlns:a="http://schemas.openxmlformats.org/drawingml/2006/main">
              <a:ext uri="{FF2B5EF4-FFF2-40B4-BE49-F238E27FC236}">
                <a16:creationId xmlns:a16="http://schemas.microsoft.com/office/drawing/2014/main" id="{6137A840-FACC-4F35-8281-5CA95D0E4993}"/>
              </a:ext>
            </a:extLst>
          </p:cNvPr>
          <p:cNvSpPr>
            <a:spLocks xmlns:a="http://schemas.openxmlformats.org/drawingml/2006/main" noGrp="1"/>
          </p:cNvSpPr>
          <p:nvPr/>
        </p:nvSpPr>
        <p:spPr>
          <a:xfrm xmlns:a="http://schemas.openxmlformats.org/drawingml/2006/main">
            <a:off x="9086850" y="7686675"/>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2 · Source 8 preempts</a:t>
            </a:r>
          </a:p>
        </p:txBody>
      </p:sp>
      <p:sp>
        <p:nvSpPr>
          <p:cNvPr id="25" name="">
            <a:extLst xmlns:a="http://schemas.openxmlformats.org/drawingml/2006/main">
              <a:ext uri="{FF2B5EF4-FFF2-40B4-BE49-F238E27FC236}">
                <a16:creationId xmlns:a16="http://schemas.microsoft.com/office/drawing/2014/main" id="{12F9473F-4EB8-420F-B5C1-0BDD935FEFBB}"/>
              </a:ext>
            </a:extLst>
          </p:cNvPr>
          <p:cNvSpPr>
            <a:spLocks xmlns:a="http://schemas.openxmlformats.org/drawingml/2006/main" noGrp="1"/>
          </p:cNvSpPr>
          <p:nvPr/>
        </p:nvSpPr>
        <p:spPr>
          <a:xfrm xmlns:a="http://schemas.openxmlformats.org/drawingml/2006/main">
            <a:off x="9086850" y="8020050"/>
            <a:ext cx="249555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Handler 9 sets MIE back to 1. Source 8 is more urgent and gets claimed too: 2 levels, active = 300 (8 and 9).</a:t>
            </a:r>
          </a:p>
        </p:txBody>
      </p:sp>
      <p:sp>
        <p:nvSpPr>
          <p:cNvPr id="26" name="">
            <a:extLst xmlns:a="http://schemas.openxmlformats.org/drawingml/2006/main">
              <a:ext uri="{FF2B5EF4-FFF2-40B4-BE49-F238E27FC236}">
                <a16:creationId xmlns:a16="http://schemas.microsoft.com/office/drawing/2014/main" id="{64ECAD0F-7C03-467A-9F9F-7690AE851F9A}"/>
              </a:ext>
            </a:extLst>
          </p:cNvPr>
          <p:cNvSpPr>
            <a:spLocks xmlns:a="http://schemas.openxmlformats.org/drawingml/2006/main" noGrp="1"/>
          </p:cNvSpPr>
          <p:nvPr/>
        </p:nvSpPr>
        <p:spPr>
          <a:xfrm xmlns:a="http://schemas.openxmlformats.org/drawingml/2006/main">
            <a:off x="11868150" y="7044690"/>
            <a:ext cx="2800350" cy="2613660"/>
          </a:xfrm>
          <a:prstGeom xmlns:a="http://schemas.openxmlformats.org/drawingml/2006/main" prst="roundRect">
            <a:avLst>
              <a:gd name="adj" fmla="val 4373"/>
            </a:avLst>
          </a:prstGeom>
          <a:solidFill xmlns:a="http://schemas.openxmlformats.org/drawingml/2006/main">
            <a:srgbClr val="EEF5F5"/>
          </a:solidFill>
        </p:spPr>
      </p:sp>
      <p:sp>
        <p:nvSpPr>
          <p:cNvPr id="27" name="">
            <a:extLst xmlns:a="http://schemas.openxmlformats.org/drawingml/2006/main">
              <a:ext uri="{FF2B5EF4-FFF2-40B4-BE49-F238E27FC236}">
                <a16:creationId xmlns:a16="http://schemas.microsoft.com/office/drawing/2014/main" id="{4AEAC74C-5140-4475-87C6-FD9B88577FB1}"/>
              </a:ext>
            </a:extLst>
          </p:cNvPr>
          <p:cNvSpPr>
            <a:spLocks xmlns:a="http://schemas.openxmlformats.org/drawingml/2006/main" noGrp="1"/>
          </p:cNvSpPr>
          <p:nvPr/>
        </p:nvSpPr>
        <p:spPr>
          <a:xfrm xmlns:a="http://schemas.openxmlformats.org/drawingml/2006/main">
            <a:off x="12039600" y="7686675"/>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3 · Handler 8 returns</a:t>
            </a:r>
          </a:p>
        </p:txBody>
      </p:sp>
      <p:sp>
        <p:nvSpPr>
          <p:cNvPr id="28" name="">
            <a:extLst xmlns:a="http://schemas.openxmlformats.org/drawingml/2006/main">
              <a:ext uri="{FF2B5EF4-FFF2-40B4-BE49-F238E27FC236}">
                <a16:creationId xmlns:a16="http://schemas.microsoft.com/office/drawing/2014/main" id="{38F028A4-C0DB-4B11-B847-92778BFEFE13}"/>
              </a:ext>
            </a:extLst>
          </p:cNvPr>
          <p:cNvSpPr>
            <a:spLocks xmlns:a="http://schemas.openxmlformats.org/drawingml/2006/main" noGrp="1"/>
          </p:cNvSpPr>
          <p:nvPr/>
        </p:nvSpPr>
        <p:spPr>
          <a:xfrm xmlns:a="http://schemas.openxmlformats.org/drawingml/2006/main">
            <a:off x="12039600" y="8020050"/>
            <a:ext cx="2495550" cy="1009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Its MRET sends one EOI. Both stacks drop to 1 and active is back to 200; the CPU stays in the trap.</a:t>
            </a:r>
          </a:p>
        </p:txBody>
      </p:sp>
      <p:sp>
        <p:nvSpPr>
          <p:cNvPr id="29" name="">
            <a:extLst xmlns:a="http://schemas.openxmlformats.org/drawingml/2006/main">
              <a:ext uri="{FF2B5EF4-FFF2-40B4-BE49-F238E27FC236}">
                <a16:creationId xmlns:a16="http://schemas.microsoft.com/office/drawing/2014/main" id="{35B76B63-FBF8-4407-A356-7564FE7B4B3F}"/>
              </a:ext>
            </a:extLst>
          </p:cNvPr>
          <p:cNvSpPr>
            <a:spLocks xmlns:a="http://schemas.openxmlformats.org/drawingml/2006/main" noGrp="1"/>
          </p:cNvSpPr>
          <p:nvPr/>
        </p:nvSpPr>
        <p:spPr>
          <a:xfrm xmlns:a="http://schemas.openxmlformats.org/drawingml/2006/main">
            <a:off x="14820900" y="7044690"/>
            <a:ext cx="2800350" cy="2613660"/>
          </a:xfrm>
          <a:prstGeom xmlns:a="http://schemas.openxmlformats.org/drawingml/2006/main" prst="roundRect">
            <a:avLst>
              <a:gd name="adj" fmla="val 4373"/>
            </a:avLst>
          </a:prstGeom>
          <a:solidFill xmlns:a="http://schemas.openxmlformats.org/drawingml/2006/main">
            <a:srgbClr val="EEF5F5"/>
          </a:solidFill>
        </p:spPr>
      </p:sp>
      <p:sp>
        <p:nvSpPr>
          <p:cNvPr id="30" name="">
            <a:extLst xmlns:a="http://schemas.openxmlformats.org/drawingml/2006/main">
              <a:ext uri="{FF2B5EF4-FFF2-40B4-BE49-F238E27FC236}">
                <a16:creationId xmlns:a16="http://schemas.microsoft.com/office/drawing/2014/main" id="{46EBB208-0A30-428B-9F9C-4C253024ECCD}"/>
              </a:ext>
            </a:extLst>
          </p:cNvPr>
          <p:cNvSpPr>
            <a:spLocks xmlns:a="http://schemas.openxmlformats.org/drawingml/2006/main" noGrp="1"/>
          </p:cNvSpPr>
          <p:nvPr/>
        </p:nvSpPr>
        <p:spPr>
          <a:xfrm xmlns:a="http://schemas.openxmlformats.org/drawingml/2006/main">
            <a:off x="14992350" y="7810500"/>
            <a:ext cx="249555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A35B17"/>
                </a:solidFill>
              </a:defRPr>
            </a:pPr>
            <a:r>
              <a:rPr sz="1800" b="1">
                <a:solidFill>
                  <a:srgbClr val="A35B17"/>
                </a:solidFill>
              </a:rPr>
              <a:t>4 · Handler 9 returns</a:t>
            </a:r>
          </a:p>
        </p:txBody>
      </p:sp>
      <p:sp>
        <p:nvSpPr>
          <p:cNvPr id="31" name="">
            <a:extLst xmlns:a="http://schemas.openxmlformats.org/drawingml/2006/main">
              <a:ext uri="{FF2B5EF4-FFF2-40B4-BE49-F238E27FC236}">
                <a16:creationId xmlns:a16="http://schemas.microsoft.com/office/drawing/2014/main" id="{79443AB5-3ABE-4C66-AF27-9703710FD220}"/>
              </a:ext>
            </a:extLst>
          </p:cNvPr>
          <p:cNvSpPr>
            <a:spLocks xmlns:a="http://schemas.openxmlformats.org/drawingml/2006/main" noGrp="1"/>
          </p:cNvSpPr>
          <p:nvPr/>
        </p:nvSpPr>
        <p:spPr>
          <a:xfrm xmlns:a="http://schemas.openxmlformats.org/drawingml/2006/main">
            <a:off x="14992350" y="8143875"/>
            <a:ext cx="24955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b="0">
                <a:solidFill>
                  <a:srgbClr val="173442"/>
                </a:solidFill>
              </a:defRPr>
            </a:pPr>
            <a:r>
              <a:rPr sz="1650" b="0">
                <a:solidFill>
                  <a:srgbClr val="173442"/>
                </a:solidFill>
              </a:rPr>
              <a:t>Its MRET sends the last EOI. Both stacks reach 0, active is 0 and cpu_in_trap falls.</a:t>
            </a:r>
          </a:p>
        </p:txBody>
      </p:sp>
      <p:sp>
        <p:nvSpPr>
          <p:cNvPr id="32" name="footer">
            <a:extLst xmlns:a="http://schemas.openxmlformats.org/drawingml/2006/main">
              <a:ext uri="{FF2B5EF4-FFF2-40B4-BE49-F238E27FC236}">
                <a16:creationId xmlns:a16="http://schemas.microsoft.com/office/drawing/2014/main" id="{F423043C-44E9-43D8-A05B-A3AE38906355}"/>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06 / 07   ·   Verification · system</a:t>
            </a:r>
          </a:p>
        </p:txBody>
      </p:sp>
    </p:spTree>
    <p:extLst>
      <p:ext uri="{BB962C8B-B14F-4D97-AF65-F5344CB8AC3E}">
        <p14:creationId xmlns:p14="http://schemas.microsoft.com/office/powerpoint/2010/main" val="9105910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98079E7-ADCD-43B3-B608-B80A4FE743AF}"/>
              </a:ext>
            </a:extLst>
          </p:cNvPr>
          <p:cNvSpPr>
            <a:spLocks xmlns:a="http://schemas.openxmlformats.org/drawingml/2006/main" noGrp="1"/>
          </p:cNvSpPr>
          <p:nvPr/>
        </p:nvSpPr>
        <p:spPr>
          <a:xfrm xmlns:a="http://schemas.openxmlformats.org/drawingml/2006/main">
            <a:off x="666750" y="381000"/>
            <a:ext cx="169545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Result: an integrated core, checked instruction by instruction</a:t>
            </a:r>
          </a:p>
        </p:txBody>
      </p:sp>
      <p:sp>
        <p:nvSpPr>
          <p:cNvPr id="2" name="">
            <a:extLst xmlns:a="http://schemas.openxmlformats.org/drawingml/2006/main">
              <a:ext uri="{FF2B5EF4-FFF2-40B4-BE49-F238E27FC236}">
                <a16:creationId xmlns:a16="http://schemas.microsoft.com/office/drawing/2014/main" id="{445EFCB3-909F-4CA5-8E0F-186A34765A86}"/>
              </a:ext>
            </a:extLst>
          </p:cNvPr>
          <p:cNvSpPr>
            <a:spLocks xmlns:a="http://schemas.openxmlformats.org/drawingml/2006/main" noGrp="1"/>
          </p:cNvSpPr>
          <p:nvPr/>
        </p:nvSpPr>
        <p:spPr>
          <a:xfrm xmlns:a="http://schemas.openxmlformats.org/drawingml/2006/main">
            <a:off x="666750" y="10477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BD2450F4-5D95-47E3-9FFB-D514215DA2E0}"/>
              </a:ext>
            </a:extLst>
          </p:cNvPr>
          <p:cNvSpPr>
            <a:spLocks xmlns:a="http://schemas.openxmlformats.org/drawingml/2006/main" noGrp="1"/>
          </p:cNvSpPr>
          <p:nvPr/>
        </p:nvSpPr>
        <p:spPr>
          <a:xfrm xmlns:a="http://schemas.openxmlformats.org/drawingml/2006/main">
            <a:off x="666750" y="1310640"/>
            <a:ext cx="6841998" cy="7410450"/>
          </a:xfrm>
          <a:prstGeom xmlns:a="http://schemas.openxmlformats.org/drawingml/2006/main" prst="roundRect">
            <a:avLst>
              <a:gd name="adj" fmla="val 1671"/>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A578E1AC-6430-4E0F-B361-0F5359CF7B26}"/>
              </a:ext>
            </a:extLst>
          </p:cNvPr>
          <p:cNvSpPr>
            <a:spLocks xmlns:a="http://schemas.openxmlformats.org/drawingml/2006/main" noGrp="1"/>
          </p:cNvSpPr>
          <p:nvPr/>
        </p:nvSpPr>
        <p:spPr>
          <a:xfrm xmlns:a="http://schemas.openxmlformats.org/drawingml/2006/main">
            <a:off x="1009650" y="1581150"/>
            <a:ext cx="61912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006B75"/>
                </a:solidFill>
              </a:defRPr>
            </a:pPr>
            <a:r>
              <a:rPr sz="2100" b="1">
                <a:solidFill>
                  <a:srgbClr val="006B75"/>
                </a:solidFill>
              </a:rPr>
              <a:t>WHAT I BUILT</a:t>
            </a:r>
          </a:p>
        </p:txBody>
      </p:sp>
      <p:sp>
        <p:nvSpPr>
          <p:cNvPr id="5" name="">
            <a:extLst xmlns:a="http://schemas.openxmlformats.org/drawingml/2006/main">
              <a:ext uri="{FF2B5EF4-FFF2-40B4-BE49-F238E27FC236}">
                <a16:creationId xmlns:a16="http://schemas.microsoft.com/office/drawing/2014/main" id="{F71931E9-F2C4-43A9-8557-129B7074DD75}"/>
              </a:ext>
            </a:extLst>
          </p:cNvPr>
          <p:cNvSpPr>
            <a:spLocks xmlns:a="http://schemas.openxmlformats.org/drawingml/2006/main" noGrp="1"/>
          </p:cNvSpPr>
          <p:nvPr/>
        </p:nvSpPr>
        <p:spPr>
          <a:xfrm xmlns:a="http://schemas.openxmlformats.org/drawingml/2006/main">
            <a:off x="1009650" y="2743200"/>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1.</a:t>
            </a:r>
          </a:p>
        </p:txBody>
      </p:sp>
      <p:sp>
        <p:nvSpPr>
          <p:cNvPr id="6" name="">
            <a:extLst xmlns:a="http://schemas.openxmlformats.org/drawingml/2006/main">
              <a:ext uri="{FF2B5EF4-FFF2-40B4-BE49-F238E27FC236}">
                <a16:creationId xmlns:a16="http://schemas.microsoft.com/office/drawing/2014/main" id="{3C4EDF11-60F2-4FE0-82D3-DCB26188C7FC}"/>
              </a:ext>
            </a:extLst>
          </p:cNvPr>
          <p:cNvSpPr>
            <a:spLocks xmlns:a="http://schemas.openxmlformats.org/drawingml/2006/main" noGrp="1"/>
          </p:cNvSpPr>
          <p:nvPr/>
        </p:nvSpPr>
        <p:spPr>
          <a:xfrm xmlns:a="http://schemas.openxmlformats.org/drawingml/2006/main">
            <a:off x="1562100" y="2743200"/>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3-stage RV32I: S3 → S2 forwarding, direct-mapped predictor, precise traps</a:t>
            </a:r>
          </a:p>
        </p:txBody>
      </p:sp>
      <p:sp>
        <p:nvSpPr>
          <p:cNvPr id="7" name="">
            <a:extLst xmlns:a="http://schemas.openxmlformats.org/drawingml/2006/main">
              <a:ext uri="{FF2B5EF4-FFF2-40B4-BE49-F238E27FC236}">
                <a16:creationId xmlns:a16="http://schemas.microsoft.com/office/drawing/2014/main" id="{FBD9E000-1DDD-405D-974A-956A751C19C5}"/>
              </a:ext>
            </a:extLst>
          </p:cNvPr>
          <p:cNvSpPr>
            <a:spLocks xmlns:a="http://schemas.openxmlformats.org/drawingml/2006/main" noGrp="1"/>
          </p:cNvSpPr>
          <p:nvPr/>
        </p:nvSpPr>
        <p:spPr>
          <a:xfrm xmlns:a="http://schemas.openxmlformats.org/drawingml/2006/main">
            <a:off x="1009650" y="4933950"/>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2.</a:t>
            </a:r>
          </a:p>
        </p:txBody>
      </p:sp>
      <p:sp>
        <p:nvSpPr>
          <p:cNvPr id="8" name="">
            <a:extLst xmlns:a="http://schemas.openxmlformats.org/drawingml/2006/main">
              <a:ext uri="{FF2B5EF4-FFF2-40B4-BE49-F238E27FC236}">
                <a16:creationId xmlns:a16="http://schemas.microsoft.com/office/drawing/2014/main" id="{409FE4EA-014F-4540-94C6-6344B2570C5C}"/>
              </a:ext>
            </a:extLst>
          </p:cNvPr>
          <p:cNvSpPr>
            <a:spLocks xmlns:a="http://schemas.openxmlformats.org/drawingml/2006/main" noGrp="1"/>
          </p:cNvSpPr>
          <p:nvPr/>
        </p:nvSpPr>
        <p:spPr>
          <a:xfrm xmlns:a="http://schemas.openxmlformats.org/drawingml/2006/main">
            <a:off x="1562100" y="4933950"/>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CSR file, 64-bit counters, CPU–PIC link: mask, pending, claim, EOI</a:t>
            </a:r>
          </a:p>
        </p:txBody>
      </p:sp>
      <p:sp>
        <p:nvSpPr>
          <p:cNvPr id="9" name="">
            <a:extLst xmlns:a="http://schemas.openxmlformats.org/drawingml/2006/main">
              <a:ext uri="{FF2B5EF4-FFF2-40B4-BE49-F238E27FC236}">
                <a16:creationId xmlns:a16="http://schemas.microsoft.com/office/drawing/2014/main" id="{64E4D62C-FFD0-4A6E-9ECA-67B9283946C3}"/>
              </a:ext>
            </a:extLst>
          </p:cNvPr>
          <p:cNvSpPr>
            <a:spLocks xmlns:a="http://schemas.openxmlformats.org/drawingml/2006/main" noGrp="1"/>
          </p:cNvSpPr>
          <p:nvPr/>
        </p:nvSpPr>
        <p:spPr>
          <a:xfrm xmlns:a="http://schemas.openxmlformats.org/drawingml/2006/main">
            <a:off x="1009650" y="7134225"/>
            <a:ext cx="381000"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1">
                <a:solidFill>
                  <a:srgbClr val="006B75"/>
                </a:solidFill>
              </a:defRPr>
            </a:pPr>
            <a:r>
              <a:rPr sz="2325" b="1">
                <a:solidFill>
                  <a:srgbClr val="006B75"/>
                </a:solidFill>
              </a:rPr>
              <a:t>3.</a:t>
            </a:r>
          </a:p>
        </p:txBody>
      </p:sp>
      <p:sp>
        <p:nvSpPr>
          <p:cNvPr id="10" name="">
            <a:extLst xmlns:a="http://schemas.openxmlformats.org/drawingml/2006/main">
              <a:ext uri="{FF2B5EF4-FFF2-40B4-BE49-F238E27FC236}">
                <a16:creationId xmlns:a16="http://schemas.microsoft.com/office/drawing/2014/main" id="{9F4954D9-920A-4151-BC9E-43FBBC62ED4D}"/>
              </a:ext>
            </a:extLst>
          </p:cNvPr>
          <p:cNvSpPr>
            <a:spLocks xmlns:a="http://schemas.openxmlformats.org/drawingml/2006/main" noGrp="1"/>
          </p:cNvSpPr>
          <p:nvPr/>
        </p:nvSpPr>
        <p:spPr>
          <a:xfrm xmlns:a="http://schemas.openxmlformats.org/drawingml/2006/main">
            <a:off x="1562100" y="7134225"/>
            <a:ext cx="5638800" cy="714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Golden ISA model with random programs, riscv-tests, SVA, mutation testing</a:t>
            </a:r>
          </a:p>
        </p:txBody>
      </p:sp>
      <p:sp>
        <p:nvSpPr>
          <p:cNvPr id="11" name="">
            <a:extLst xmlns:a="http://schemas.openxmlformats.org/drawingml/2006/main">
              <a:ext uri="{FF2B5EF4-FFF2-40B4-BE49-F238E27FC236}">
                <a16:creationId xmlns:a16="http://schemas.microsoft.com/office/drawing/2014/main" id="{2AFE392F-78B3-41FD-8AA7-580462EF9CEA}"/>
              </a:ext>
            </a:extLst>
          </p:cNvPr>
          <p:cNvSpPr>
            <a:spLocks xmlns:a="http://schemas.openxmlformats.org/drawingml/2006/main" noGrp="1"/>
          </p:cNvSpPr>
          <p:nvPr/>
        </p:nvSpPr>
        <p:spPr>
          <a:xfrm xmlns:a="http://schemas.openxmlformats.org/drawingml/2006/main">
            <a:off x="7775448" y="1310640"/>
            <a:ext cx="9845802" cy="7410450"/>
          </a:xfrm>
          <a:prstGeom xmlns:a="http://schemas.openxmlformats.org/drawingml/2006/main" prst="roundRect">
            <a:avLst>
              <a:gd name="adj" fmla="val 1542"/>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16B6EC89-03C1-47D0-8CCF-A97288E27E09}"/>
              </a:ext>
            </a:extLst>
          </p:cNvPr>
          <p:cNvSpPr>
            <a:spLocks xmlns:a="http://schemas.openxmlformats.org/drawingml/2006/main" noGrp="1"/>
          </p:cNvSpPr>
          <p:nvPr/>
        </p:nvSpPr>
        <p:spPr>
          <a:xfrm xmlns:a="http://schemas.openxmlformats.org/drawingml/2006/main">
            <a:off x="8115300" y="1581150"/>
            <a:ext cx="9201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006B75"/>
                </a:solidFill>
              </a:defRPr>
            </a:pPr>
            <a:r>
              <a:rPr sz="2100" b="1">
                <a:solidFill>
                  <a:srgbClr val="006B75"/>
                </a:solidFill>
              </a:rPr>
              <a:t>WHAT I LEARNED</a:t>
            </a:r>
          </a:p>
        </p:txBody>
      </p:sp>
      <p:sp>
        <p:nvSpPr>
          <p:cNvPr id="13" name="">
            <a:extLst xmlns:a="http://schemas.openxmlformats.org/drawingml/2006/main">
              <a:ext uri="{FF2B5EF4-FFF2-40B4-BE49-F238E27FC236}">
                <a16:creationId xmlns:a16="http://schemas.microsoft.com/office/drawing/2014/main" id="{EA8C0933-1DFE-40BA-A189-8B71507E9A62}"/>
              </a:ext>
            </a:extLst>
          </p:cNvPr>
          <p:cNvSpPr>
            <a:spLocks xmlns:a="http://schemas.openxmlformats.org/drawingml/2006/main" noGrp="1"/>
          </p:cNvSpPr>
          <p:nvPr/>
        </p:nvSpPr>
        <p:spPr>
          <a:xfrm xmlns:a="http://schemas.openxmlformats.org/drawingml/2006/main">
            <a:off x="8115300" y="235267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4" name="">
            <a:extLst xmlns:a="http://schemas.openxmlformats.org/drawingml/2006/main">
              <a:ext uri="{FF2B5EF4-FFF2-40B4-BE49-F238E27FC236}">
                <a16:creationId xmlns:a16="http://schemas.microsoft.com/office/drawing/2014/main" id="{5B4051BE-FEB4-4047-8760-FE2552954B0A}"/>
              </a:ext>
            </a:extLst>
          </p:cNvPr>
          <p:cNvSpPr>
            <a:spLocks xmlns:a="http://schemas.openxmlformats.org/drawingml/2006/main" noGrp="1"/>
          </p:cNvSpPr>
          <p:nvPr/>
        </p:nvSpPr>
        <p:spPr>
          <a:xfrm xmlns:a="http://schemas.openxmlformats.org/drawingml/2006/main">
            <a:off x="8515350" y="2352675"/>
            <a:ext cx="880110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Most of the thinking went into the moments when several things happen in one cycle: an interrupt, a stall and a wrong branch together. Writing their order down before the RTL made everything after it easier.</a:t>
            </a:r>
          </a:p>
        </p:txBody>
      </p:sp>
      <p:sp>
        <p:nvSpPr>
          <p:cNvPr id="15" name="">
            <a:extLst xmlns:a="http://schemas.openxmlformats.org/drawingml/2006/main">
              <a:ext uri="{FF2B5EF4-FFF2-40B4-BE49-F238E27FC236}">
                <a16:creationId xmlns:a16="http://schemas.microsoft.com/office/drawing/2014/main" id="{6FE7B135-A5D9-4529-A605-6936EB824E09}"/>
              </a:ext>
            </a:extLst>
          </p:cNvPr>
          <p:cNvSpPr>
            <a:spLocks xmlns:a="http://schemas.openxmlformats.org/drawingml/2006/main" noGrp="1"/>
          </p:cNvSpPr>
          <p:nvPr/>
        </p:nvSpPr>
        <p:spPr>
          <a:xfrm xmlns:a="http://schemas.openxmlformats.org/drawingml/2006/main">
            <a:off x="8115300" y="4000500"/>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6" name="">
            <a:extLst xmlns:a="http://schemas.openxmlformats.org/drawingml/2006/main">
              <a:ext uri="{FF2B5EF4-FFF2-40B4-BE49-F238E27FC236}">
                <a16:creationId xmlns:a16="http://schemas.microsoft.com/office/drawing/2014/main" id="{6CC23ED4-F789-4E82-AA59-DA76F5D22573}"/>
              </a:ext>
            </a:extLst>
          </p:cNvPr>
          <p:cNvSpPr>
            <a:spLocks xmlns:a="http://schemas.openxmlformats.org/drawingml/2006/main" noGrp="1"/>
          </p:cNvSpPr>
          <p:nvPr/>
        </p:nvSpPr>
        <p:spPr>
          <a:xfrm xmlns:a="http://schemas.openxmlformats.org/drawingml/2006/main">
            <a:off x="8515350" y="4000500"/>
            <a:ext cx="8801100" cy="933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Interrupts made me think about two blocks at once. The CPU and the PIC each keep their own stack, and nesting works because the two move in step, one level at a time.</a:t>
            </a:r>
          </a:p>
        </p:txBody>
      </p:sp>
      <p:sp>
        <p:nvSpPr>
          <p:cNvPr id="17" name="">
            <a:extLst xmlns:a="http://schemas.openxmlformats.org/drawingml/2006/main">
              <a:ext uri="{FF2B5EF4-FFF2-40B4-BE49-F238E27FC236}">
                <a16:creationId xmlns:a16="http://schemas.microsoft.com/office/drawing/2014/main" id="{3A0FCA53-9C17-414E-B767-7454D613CDAA}"/>
              </a:ext>
            </a:extLst>
          </p:cNvPr>
          <p:cNvSpPr>
            <a:spLocks xmlns:a="http://schemas.openxmlformats.org/drawingml/2006/main" noGrp="1"/>
          </p:cNvSpPr>
          <p:nvPr/>
        </p:nvSpPr>
        <p:spPr>
          <a:xfrm xmlns:a="http://schemas.openxmlformats.org/drawingml/2006/main">
            <a:off x="8115300" y="580072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18" name="">
            <a:extLst xmlns:a="http://schemas.openxmlformats.org/drawingml/2006/main">
              <a:ext uri="{FF2B5EF4-FFF2-40B4-BE49-F238E27FC236}">
                <a16:creationId xmlns:a16="http://schemas.microsoft.com/office/drawing/2014/main" id="{336B5F3B-2C06-48CC-A8EF-DB40E01614A5}"/>
              </a:ext>
            </a:extLst>
          </p:cNvPr>
          <p:cNvSpPr>
            <a:spLocks xmlns:a="http://schemas.openxmlformats.org/drawingml/2006/main" noGrp="1"/>
          </p:cNvSpPr>
          <p:nvPr/>
        </p:nvSpPr>
        <p:spPr>
          <a:xfrm xmlns:a="http://schemas.openxmlformats.org/drawingml/2006/main">
            <a:off x="8515350" y="5800725"/>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Writing the golden model in Python, apart from the Verilog, meant understanding every instruction twice: once for the model, once for the hardware.</a:t>
            </a:r>
          </a:p>
        </p:txBody>
      </p:sp>
      <p:sp>
        <p:nvSpPr>
          <p:cNvPr id="19" name="">
            <a:extLst xmlns:a="http://schemas.openxmlformats.org/drawingml/2006/main">
              <a:ext uri="{FF2B5EF4-FFF2-40B4-BE49-F238E27FC236}">
                <a16:creationId xmlns:a16="http://schemas.microsoft.com/office/drawing/2014/main" id="{6FC36BD0-D5AE-4E86-A803-FCD30D934417}"/>
              </a:ext>
            </a:extLst>
          </p:cNvPr>
          <p:cNvSpPr>
            <a:spLocks xmlns:a="http://schemas.openxmlformats.org/drawingml/2006/main" noGrp="1"/>
          </p:cNvSpPr>
          <p:nvPr/>
        </p:nvSpPr>
        <p:spPr>
          <a:xfrm xmlns:a="http://schemas.openxmlformats.org/drawingml/2006/main">
            <a:off x="8115300" y="7458075"/>
            <a:ext cx="2476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006B75"/>
                </a:solidFill>
              </a:defRPr>
            </a:pPr>
            <a:r>
              <a:rPr sz="2100" b="0">
                <a:solidFill>
                  <a:srgbClr val="006B75"/>
                </a:solidFill>
              </a:rPr>
              <a:t>–</a:t>
            </a:r>
          </a:p>
        </p:txBody>
      </p:sp>
      <p:sp>
        <p:nvSpPr>
          <p:cNvPr id="20" name="">
            <a:extLst xmlns:a="http://schemas.openxmlformats.org/drawingml/2006/main">
              <a:ext uri="{FF2B5EF4-FFF2-40B4-BE49-F238E27FC236}">
                <a16:creationId xmlns:a16="http://schemas.microsoft.com/office/drawing/2014/main" id="{F67F3693-0185-4A94-BC0B-0B08F16F2579}"/>
              </a:ext>
            </a:extLst>
          </p:cNvPr>
          <p:cNvSpPr>
            <a:spLocks xmlns:a="http://schemas.openxmlformats.org/drawingml/2006/main" noGrp="1"/>
          </p:cNvSpPr>
          <p:nvPr/>
        </p:nvSpPr>
        <p:spPr>
          <a:xfrm xmlns:a="http://schemas.openxmlformats.org/drawingml/2006/main">
            <a:off x="8515350" y="7458075"/>
            <a:ext cx="8801100" cy="6191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0">
                <a:solidFill>
                  <a:srgbClr val="173442"/>
                </a:solidFill>
              </a:defRPr>
            </a:pPr>
            <a:r>
              <a:rPr sz="2025" b="0">
                <a:solidFill>
                  <a:srgbClr val="173442"/>
                </a:solidFill>
              </a:rPr>
              <a:t>I stopped trusting a passing test by default. Injecting a defect into the RTL and watching the right test go red is what gave me confidence in the rest.</a:t>
            </a:r>
          </a:p>
        </p:txBody>
      </p:sp>
      <p:sp>
        <p:nvSpPr>
          <p:cNvPr id="21" name="">
            <a:extLst xmlns:a="http://schemas.openxmlformats.org/drawingml/2006/main">
              <a:ext uri="{FF2B5EF4-FFF2-40B4-BE49-F238E27FC236}">
                <a16:creationId xmlns:a16="http://schemas.microsoft.com/office/drawing/2014/main" id="{97F952D0-D35A-4C0B-AE2D-C945F979C98B}"/>
              </a:ext>
            </a:extLst>
          </p:cNvPr>
          <p:cNvSpPr>
            <a:spLocks xmlns:a="http://schemas.openxmlformats.org/drawingml/2006/main" noGrp="1"/>
          </p:cNvSpPr>
          <p:nvPr/>
        </p:nvSpPr>
        <p:spPr>
          <a:xfrm xmlns:a="http://schemas.openxmlformats.org/drawingml/2006/main">
            <a:off x="666750" y="8911590"/>
            <a:ext cx="16954500" cy="746760"/>
          </a:xfrm>
          <a:prstGeom xmlns:a="http://schemas.openxmlformats.org/drawingml/2006/main" prst="roundRect">
            <a:avLst>
              <a:gd name="adj" fmla="val 15306"/>
            </a:avLst>
          </a:prstGeom>
          <a:solidFill xmlns:a="http://schemas.openxmlformats.org/drawingml/2006/main">
            <a:srgbClr val="006B75"/>
          </a:solidFill>
        </p:spPr>
      </p:sp>
      <p:sp>
        <p:nvSpPr>
          <p:cNvPr id="22" name="">
            <a:extLst xmlns:a="http://schemas.openxmlformats.org/drawingml/2006/main">
              <a:ext uri="{FF2B5EF4-FFF2-40B4-BE49-F238E27FC236}">
                <a16:creationId xmlns:a16="http://schemas.microsoft.com/office/drawing/2014/main" id="{61414EC3-E4CB-4C04-A022-262B2A1B346D}"/>
              </a:ext>
            </a:extLst>
          </p:cNvPr>
          <p:cNvSpPr>
            <a:spLocks xmlns:a="http://schemas.openxmlformats.org/drawingml/2006/main" noGrp="1"/>
          </p:cNvSpPr>
          <p:nvPr/>
        </p:nvSpPr>
        <p:spPr>
          <a:xfrm xmlns:a="http://schemas.openxmlformats.org/drawingml/2006/main">
            <a:off x="1047750" y="9105900"/>
            <a:ext cx="16192500" cy="3714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gn="ctr">
              <a:defRPr sz="2400" b="1">
                <a:solidFill>
                  <a:srgbClr val="FFFFFF"/>
                </a:solidFill>
              </a:defRPr>
            </a:pPr>
            <a:r>
              <a:rPr sz="2400" b="1">
                <a:solidFill>
                  <a:srgbClr val="FFFFFF"/>
                </a:solidFill>
              </a:rPr>
              <a:t>Thank you! Questions are welcome.</a:t>
            </a:r>
          </a:p>
        </p:txBody>
      </p:sp>
      <p:sp>
        <p:nvSpPr>
          <p:cNvPr id="23" name="footer">
            <a:extLst xmlns:a="http://schemas.openxmlformats.org/drawingml/2006/main">
              <a:ext uri="{FF2B5EF4-FFF2-40B4-BE49-F238E27FC236}">
                <a16:creationId xmlns:a16="http://schemas.microsoft.com/office/drawing/2014/main" id="{6A8F3D3C-3829-4DD5-83BC-01C357E39F85}"/>
              </a:ext>
            </a:extLst>
          </p:cNvPr>
          <p:cNvSpPr>
            <a:spLocks xmlns:a="http://schemas.openxmlformats.org/drawingml/2006/main" noGrp="1"/>
          </p:cNvSpPr>
          <p:nvPr/>
        </p:nvSpPr>
        <p:spPr>
          <a:xfrm xmlns:a="http://schemas.openxmlformats.org/drawingml/2006/main">
            <a:off x="666750" y="979170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07 / 07   ·   Conclusions</a:t>
            </a:r>
          </a:p>
        </p:txBody>
      </p:sp>
    </p:spTree>
    <p:extLst>
      <p:ext uri="{BB962C8B-B14F-4D97-AF65-F5344CB8AC3E}">
        <p14:creationId xmlns:p14="http://schemas.microsoft.com/office/powerpoint/2010/main" val="13476871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2026-09-23T19:50:54.6820000Z</dcterms:created>
  <dcterms:modified xsi:type="dcterms:W3CDTF">2026-09-23T19:50:54.6820000Z</dcterms:modified>
</coreProperties>
</file>